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2.xml" ContentType="application/vnd.openxmlformats-officedocument.presentationml.notesSlide+xml"/>
  <Override PartName="/ppt/tags/tag16.xml" ContentType="application/vnd.openxmlformats-officedocument.presentationml.tags+xml"/>
  <Override PartName="/ppt/notesSlides/notesSlide3.xml" ContentType="application/vnd.openxmlformats-officedocument.presentationml.notesSlide+xml"/>
  <Override PartName="/ppt/tags/tag17.xml" ContentType="application/vnd.openxmlformats-officedocument.presentationml.tags+xml"/>
  <Override PartName="/ppt/notesSlides/notesSlide4.xml" ContentType="application/vnd.openxmlformats-officedocument.presentationml.notesSlide+xml"/>
  <Override PartName="/ppt/tags/tag18.xml" ContentType="application/vnd.openxmlformats-officedocument.presentationml.tags+xml"/>
  <Override PartName="/ppt/notesSlides/notesSlide5.xml" ContentType="application/vnd.openxmlformats-officedocument.presentationml.notesSlide+xml"/>
  <Override PartName="/ppt/tags/tag19.xml" ContentType="application/vnd.openxmlformats-officedocument.presentationml.tags+xml"/>
  <Override PartName="/ppt/notesSlides/notesSlide6.xml" ContentType="application/vnd.openxmlformats-officedocument.presentationml.notesSlide+xml"/>
  <Override PartName="/ppt/tags/tag20.xml" ContentType="application/vnd.openxmlformats-officedocument.presentationml.tags+xml"/>
  <Override PartName="/ppt/notesSlides/notesSlide7.xml" ContentType="application/vnd.openxmlformats-officedocument.presentationml.notesSlide+xml"/>
  <Override PartName="/ppt/tags/tag21.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41"/>
  </p:notesMasterIdLst>
  <p:handoutMasterIdLst>
    <p:handoutMasterId r:id="rId42"/>
  </p:handoutMasterIdLst>
  <p:sldIdLst>
    <p:sldId id="321" r:id="rId3"/>
    <p:sldId id="407" r:id="rId4"/>
    <p:sldId id="410" r:id="rId5"/>
    <p:sldId id="411" r:id="rId6"/>
    <p:sldId id="412" r:id="rId7"/>
    <p:sldId id="413" r:id="rId8"/>
    <p:sldId id="414" r:id="rId9"/>
    <p:sldId id="415" r:id="rId10"/>
    <p:sldId id="416" r:id="rId11"/>
    <p:sldId id="417" r:id="rId12"/>
    <p:sldId id="418" r:id="rId13"/>
    <p:sldId id="419" r:id="rId14"/>
    <p:sldId id="420" r:id="rId15"/>
    <p:sldId id="322" r:id="rId16"/>
    <p:sldId id="323" r:id="rId17"/>
    <p:sldId id="324" r:id="rId18"/>
    <p:sldId id="325" r:id="rId19"/>
    <p:sldId id="328" r:id="rId20"/>
    <p:sldId id="329" r:id="rId21"/>
    <p:sldId id="363" r:id="rId22"/>
    <p:sldId id="402" r:id="rId23"/>
    <p:sldId id="262" r:id="rId24"/>
    <p:sldId id="263" r:id="rId25"/>
    <p:sldId id="305" r:id="rId26"/>
    <p:sldId id="290" r:id="rId27"/>
    <p:sldId id="309" r:id="rId28"/>
    <p:sldId id="330" r:id="rId29"/>
    <p:sldId id="404" r:id="rId30"/>
    <p:sldId id="310" r:id="rId31"/>
    <p:sldId id="331" r:id="rId32"/>
    <p:sldId id="314" r:id="rId33"/>
    <p:sldId id="405" r:id="rId34"/>
    <p:sldId id="273" r:id="rId35"/>
    <p:sldId id="335" r:id="rId36"/>
    <p:sldId id="364" r:id="rId37"/>
    <p:sldId id="389" r:id="rId38"/>
    <p:sldId id="390" r:id="rId39"/>
    <p:sldId id="391" r:id="rId40"/>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84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990000"/>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17"/>
    <p:restoredTop sz="89902"/>
  </p:normalViewPr>
  <p:slideViewPr>
    <p:cSldViewPr showGuides="1">
      <p:cViewPr varScale="1">
        <p:scale>
          <a:sx n="57" d="100"/>
          <a:sy n="57" d="100"/>
        </p:scale>
        <p:origin x="1344" y="32"/>
      </p:cViewPr>
      <p:guideLst>
        <p:guide orient="horz" pos="2840"/>
        <p:guide pos="216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handoutMaster" Target="handoutMasters/handoutMaster1.xml"/><Relationship Id="rId47"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chen An" userId="e5107b5f60a82c26" providerId="LiveId" clId="{7FE050E8-2BAE-4E5E-83B2-FD32DBB9BCF4}"/>
    <pc:docChg chg="delSld">
      <pc:chgData name="Yuchen An" userId="e5107b5f60a82c26" providerId="LiveId" clId="{7FE050E8-2BAE-4E5E-83B2-FD32DBB9BCF4}" dt="2026-03-09T11:53:14.298" v="3" actId="47"/>
      <pc:docMkLst>
        <pc:docMk/>
      </pc:docMkLst>
      <pc:sldChg chg="del">
        <pc:chgData name="Yuchen An" userId="e5107b5f60a82c26" providerId="LiveId" clId="{7FE050E8-2BAE-4E5E-83B2-FD32DBB9BCF4}" dt="2026-03-09T11:52:36.771" v="1" actId="47"/>
        <pc:sldMkLst>
          <pc:docMk/>
          <pc:sldMk cId="0" sldId="361"/>
        </pc:sldMkLst>
      </pc:sldChg>
      <pc:sldChg chg="del">
        <pc:chgData name="Yuchen An" userId="e5107b5f60a82c26" providerId="LiveId" clId="{7FE050E8-2BAE-4E5E-83B2-FD32DBB9BCF4}" dt="2026-03-09T11:52:32.714" v="0" actId="47"/>
        <pc:sldMkLst>
          <pc:docMk/>
          <pc:sldMk cId="0" sldId="406"/>
        </pc:sldMkLst>
      </pc:sldChg>
      <pc:sldChg chg="del">
        <pc:chgData name="Yuchen An" userId="e5107b5f60a82c26" providerId="LiveId" clId="{7FE050E8-2BAE-4E5E-83B2-FD32DBB9BCF4}" dt="2026-03-09T11:53:02.433" v="2" actId="47"/>
        <pc:sldMkLst>
          <pc:docMk/>
          <pc:sldMk cId="0" sldId="408"/>
        </pc:sldMkLst>
      </pc:sldChg>
      <pc:sldChg chg="del">
        <pc:chgData name="Yuchen An" userId="e5107b5f60a82c26" providerId="LiveId" clId="{7FE050E8-2BAE-4E5E-83B2-FD32DBB9BCF4}" dt="2026-03-09T11:53:14.298" v="3" actId="47"/>
        <pc:sldMkLst>
          <pc:docMk/>
          <pc:sldMk cId="0" sldId="40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dt" sz="quarter"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Grp="1" noChangeArrowheads="1"/>
          </p:cNvSpPr>
          <p:nvPr>
            <p:ph type="ftr" sz="quarter" idx="2"/>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lstStyle>
            <a:lvl1pPr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09564656-93D6-48FC-B955-24B758D45694}" type="slidenum">
              <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1"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2" name="Rectangle 4"/>
          <p:cNvSpPr>
            <a:spLocks noGrp="1" noRot="1" noChangeAspec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053"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单击以编辑母版文本样式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lstStyle>
            <a:lvl1pPr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C929F558-7343-40EB-BF9A-3890F4F5AB6C}" type="slidenum">
              <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xfrm>
            <a:off x="685800" y="1143000"/>
            <a:ext cx="54864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2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dirty="0"/>
          </a:p>
        </p:txBody>
      </p:sp>
      <p:sp>
        <p:nvSpPr>
          <p:cNvPr id="112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微软雅黑 Light" panose="020B0502040204020203" pitchFamily="34" charset="-122"/>
              </a:defRPr>
            </a:lvl1pPr>
            <a:lvl2pPr marL="742950" indent="-285750">
              <a:defRPr>
                <a:solidFill>
                  <a:schemeClr val="tx1"/>
                </a:solidFill>
                <a:latin typeface="Arial" panose="020B0604020202020204" pitchFamily="34" charset="0"/>
                <a:ea typeface="微软雅黑 Light" panose="020B0502040204020203" pitchFamily="34" charset="-122"/>
              </a:defRPr>
            </a:lvl2pPr>
            <a:lvl3pPr marL="1143000" indent="-228600">
              <a:defRPr>
                <a:solidFill>
                  <a:schemeClr val="tx1"/>
                </a:solidFill>
                <a:latin typeface="Arial" panose="020B0604020202020204" pitchFamily="34" charset="0"/>
                <a:ea typeface="微软雅黑 Light" panose="020B0502040204020203" pitchFamily="34" charset="-122"/>
              </a:defRPr>
            </a:lvl3pPr>
            <a:lvl4pPr marL="1600200" indent="-228600">
              <a:defRPr>
                <a:solidFill>
                  <a:schemeClr val="tx1"/>
                </a:solidFill>
                <a:latin typeface="Arial" panose="020B0604020202020204" pitchFamily="34" charset="0"/>
                <a:ea typeface="微软雅黑 Light" panose="020B0502040204020203" pitchFamily="34" charset="-122"/>
              </a:defRPr>
            </a:lvl4pPr>
            <a:lvl5pPr marL="2057400" indent="-228600">
              <a:defRPr>
                <a:solidFill>
                  <a:schemeClr val="tx1"/>
                </a:solidFill>
                <a:latin typeface="Arial" panose="020B0604020202020204" pitchFamily="34" charset="0"/>
                <a:ea typeface="微软雅黑 Light" panose="020B0502040204020203" pitchFamily="34" charset="-122"/>
              </a:defRPr>
            </a:lvl5pPr>
            <a:lvl6pPr marL="25146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6pPr>
            <a:lvl7pPr marL="29718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7pPr>
            <a:lvl8pPr marL="34290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8pPr>
            <a:lvl9pPr marL="38862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9pPr>
          </a:lstStyle>
          <a:p>
            <a:pPr fontAlgn="base">
              <a:spcBef>
                <a:spcPct val="0"/>
              </a:spcBef>
              <a:spcAft>
                <a:spcPct val="0"/>
              </a:spcAft>
            </a:pPr>
            <a:fld id="{39F54AE3-D18C-4100-AC8E-7C2991C64D22}" type="slidenum">
              <a:rPr lang="zh-CN" altLang="en-US">
                <a:latin typeface="Calibri" panose="020F0502020204030204" charset="0"/>
                <a:ea typeface="宋体" panose="02010600030101010101" pitchFamily="2" charset="-122"/>
              </a:rPr>
              <a:t>7</a:t>
            </a:fld>
            <a:endParaRPr lang="zh-CN" altLang="en-US">
              <a:latin typeface="Calibri" panose="020F050202020403020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xfrm>
            <a:off x="685800" y="1143000"/>
            <a:ext cx="54864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2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dirty="0"/>
          </a:p>
        </p:txBody>
      </p:sp>
      <p:sp>
        <p:nvSpPr>
          <p:cNvPr id="112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微软雅黑 Light" panose="020B0502040204020203" pitchFamily="34" charset="-122"/>
              </a:defRPr>
            </a:lvl1pPr>
            <a:lvl2pPr marL="742950" indent="-285750">
              <a:defRPr>
                <a:solidFill>
                  <a:schemeClr val="tx1"/>
                </a:solidFill>
                <a:latin typeface="Arial" panose="020B0604020202020204" pitchFamily="34" charset="0"/>
                <a:ea typeface="微软雅黑 Light" panose="020B0502040204020203" pitchFamily="34" charset="-122"/>
              </a:defRPr>
            </a:lvl2pPr>
            <a:lvl3pPr marL="1143000" indent="-228600">
              <a:defRPr>
                <a:solidFill>
                  <a:schemeClr val="tx1"/>
                </a:solidFill>
                <a:latin typeface="Arial" panose="020B0604020202020204" pitchFamily="34" charset="0"/>
                <a:ea typeface="微软雅黑 Light" panose="020B0502040204020203" pitchFamily="34" charset="-122"/>
              </a:defRPr>
            </a:lvl3pPr>
            <a:lvl4pPr marL="1600200" indent="-228600">
              <a:defRPr>
                <a:solidFill>
                  <a:schemeClr val="tx1"/>
                </a:solidFill>
                <a:latin typeface="Arial" panose="020B0604020202020204" pitchFamily="34" charset="0"/>
                <a:ea typeface="微软雅黑 Light" panose="020B0502040204020203" pitchFamily="34" charset="-122"/>
              </a:defRPr>
            </a:lvl4pPr>
            <a:lvl5pPr marL="2057400" indent="-228600">
              <a:defRPr>
                <a:solidFill>
                  <a:schemeClr val="tx1"/>
                </a:solidFill>
                <a:latin typeface="Arial" panose="020B0604020202020204" pitchFamily="34" charset="0"/>
                <a:ea typeface="微软雅黑 Light" panose="020B0502040204020203" pitchFamily="34" charset="-122"/>
              </a:defRPr>
            </a:lvl5pPr>
            <a:lvl6pPr marL="25146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6pPr>
            <a:lvl7pPr marL="29718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7pPr>
            <a:lvl8pPr marL="34290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8pPr>
            <a:lvl9pPr marL="38862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9pPr>
          </a:lstStyle>
          <a:p>
            <a:pPr fontAlgn="base">
              <a:spcBef>
                <a:spcPct val="0"/>
              </a:spcBef>
              <a:spcAft>
                <a:spcPct val="0"/>
              </a:spcAft>
            </a:pPr>
            <a:fld id="{39F54AE3-D18C-4100-AC8E-7C2991C64D22}" type="slidenum">
              <a:rPr lang="zh-CN" altLang="en-US">
                <a:latin typeface="Calibri" panose="020F0502020204030204" charset="0"/>
                <a:ea typeface="宋体" panose="02010600030101010101" pitchFamily="2" charset="-122"/>
              </a:rPr>
              <a:t>8</a:t>
            </a:fld>
            <a:endParaRPr lang="zh-CN" altLang="en-US">
              <a:latin typeface="Calibri" panose="020F050202020403020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xfrm>
            <a:off x="685800" y="1143000"/>
            <a:ext cx="54864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2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dirty="0"/>
          </a:p>
        </p:txBody>
      </p:sp>
      <p:sp>
        <p:nvSpPr>
          <p:cNvPr id="112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微软雅黑 Light" panose="020B0502040204020203" pitchFamily="34" charset="-122"/>
              </a:defRPr>
            </a:lvl1pPr>
            <a:lvl2pPr marL="742950" indent="-285750">
              <a:defRPr>
                <a:solidFill>
                  <a:schemeClr val="tx1"/>
                </a:solidFill>
                <a:latin typeface="Arial" panose="020B0604020202020204" pitchFamily="34" charset="0"/>
                <a:ea typeface="微软雅黑 Light" panose="020B0502040204020203" pitchFamily="34" charset="-122"/>
              </a:defRPr>
            </a:lvl2pPr>
            <a:lvl3pPr marL="1143000" indent="-228600">
              <a:defRPr>
                <a:solidFill>
                  <a:schemeClr val="tx1"/>
                </a:solidFill>
                <a:latin typeface="Arial" panose="020B0604020202020204" pitchFamily="34" charset="0"/>
                <a:ea typeface="微软雅黑 Light" panose="020B0502040204020203" pitchFamily="34" charset="-122"/>
              </a:defRPr>
            </a:lvl3pPr>
            <a:lvl4pPr marL="1600200" indent="-228600">
              <a:defRPr>
                <a:solidFill>
                  <a:schemeClr val="tx1"/>
                </a:solidFill>
                <a:latin typeface="Arial" panose="020B0604020202020204" pitchFamily="34" charset="0"/>
                <a:ea typeface="微软雅黑 Light" panose="020B0502040204020203" pitchFamily="34" charset="-122"/>
              </a:defRPr>
            </a:lvl4pPr>
            <a:lvl5pPr marL="2057400" indent="-228600">
              <a:defRPr>
                <a:solidFill>
                  <a:schemeClr val="tx1"/>
                </a:solidFill>
                <a:latin typeface="Arial" panose="020B0604020202020204" pitchFamily="34" charset="0"/>
                <a:ea typeface="微软雅黑 Light" panose="020B0502040204020203" pitchFamily="34" charset="-122"/>
              </a:defRPr>
            </a:lvl5pPr>
            <a:lvl6pPr marL="25146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6pPr>
            <a:lvl7pPr marL="29718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7pPr>
            <a:lvl8pPr marL="34290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8pPr>
            <a:lvl9pPr marL="38862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9pPr>
          </a:lstStyle>
          <a:p>
            <a:pPr fontAlgn="base">
              <a:spcBef>
                <a:spcPct val="0"/>
              </a:spcBef>
              <a:spcAft>
                <a:spcPct val="0"/>
              </a:spcAft>
            </a:pPr>
            <a:fld id="{39F54AE3-D18C-4100-AC8E-7C2991C64D22}" type="slidenum">
              <a:rPr lang="zh-CN" altLang="en-US">
                <a:latin typeface="Calibri" panose="020F0502020204030204" charset="0"/>
                <a:ea typeface="宋体" panose="02010600030101010101" pitchFamily="2" charset="-122"/>
              </a:rPr>
              <a:t>9</a:t>
            </a:fld>
            <a:endParaRPr lang="zh-CN" altLang="en-US">
              <a:latin typeface="Calibri" panose="020F0502020204030204"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xfrm>
            <a:off x="685800" y="1143000"/>
            <a:ext cx="54864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2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dirty="0"/>
          </a:p>
        </p:txBody>
      </p:sp>
      <p:sp>
        <p:nvSpPr>
          <p:cNvPr id="112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微软雅黑 Light" panose="020B0502040204020203" pitchFamily="34" charset="-122"/>
              </a:defRPr>
            </a:lvl1pPr>
            <a:lvl2pPr marL="742950" indent="-285750">
              <a:defRPr>
                <a:solidFill>
                  <a:schemeClr val="tx1"/>
                </a:solidFill>
                <a:latin typeface="Arial" panose="020B0604020202020204" pitchFamily="34" charset="0"/>
                <a:ea typeface="微软雅黑 Light" panose="020B0502040204020203" pitchFamily="34" charset="-122"/>
              </a:defRPr>
            </a:lvl2pPr>
            <a:lvl3pPr marL="1143000" indent="-228600">
              <a:defRPr>
                <a:solidFill>
                  <a:schemeClr val="tx1"/>
                </a:solidFill>
                <a:latin typeface="Arial" panose="020B0604020202020204" pitchFamily="34" charset="0"/>
                <a:ea typeface="微软雅黑 Light" panose="020B0502040204020203" pitchFamily="34" charset="-122"/>
              </a:defRPr>
            </a:lvl3pPr>
            <a:lvl4pPr marL="1600200" indent="-228600">
              <a:defRPr>
                <a:solidFill>
                  <a:schemeClr val="tx1"/>
                </a:solidFill>
                <a:latin typeface="Arial" panose="020B0604020202020204" pitchFamily="34" charset="0"/>
                <a:ea typeface="微软雅黑 Light" panose="020B0502040204020203" pitchFamily="34" charset="-122"/>
              </a:defRPr>
            </a:lvl4pPr>
            <a:lvl5pPr marL="2057400" indent="-228600">
              <a:defRPr>
                <a:solidFill>
                  <a:schemeClr val="tx1"/>
                </a:solidFill>
                <a:latin typeface="Arial" panose="020B0604020202020204" pitchFamily="34" charset="0"/>
                <a:ea typeface="微软雅黑 Light" panose="020B0502040204020203" pitchFamily="34" charset="-122"/>
              </a:defRPr>
            </a:lvl5pPr>
            <a:lvl6pPr marL="25146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6pPr>
            <a:lvl7pPr marL="29718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7pPr>
            <a:lvl8pPr marL="34290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8pPr>
            <a:lvl9pPr marL="38862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9pPr>
          </a:lstStyle>
          <a:p>
            <a:pPr fontAlgn="base">
              <a:spcBef>
                <a:spcPct val="0"/>
              </a:spcBef>
              <a:spcAft>
                <a:spcPct val="0"/>
              </a:spcAft>
            </a:pPr>
            <a:fld id="{39F54AE3-D18C-4100-AC8E-7C2991C64D22}" type="slidenum">
              <a:rPr lang="zh-CN" altLang="en-US">
                <a:latin typeface="Calibri" panose="020F0502020204030204" charset="0"/>
                <a:ea typeface="宋体" panose="02010600030101010101" pitchFamily="2" charset="-122"/>
              </a:rPr>
              <a:t>10</a:t>
            </a:fld>
            <a:endParaRPr lang="zh-CN" altLang="en-US">
              <a:latin typeface="Calibri" panose="020F0502020204030204"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xfrm>
            <a:off x="685800" y="1143000"/>
            <a:ext cx="54864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2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dirty="0"/>
          </a:p>
        </p:txBody>
      </p:sp>
      <p:sp>
        <p:nvSpPr>
          <p:cNvPr id="112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微软雅黑 Light" panose="020B0502040204020203" pitchFamily="34" charset="-122"/>
              </a:defRPr>
            </a:lvl1pPr>
            <a:lvl2pPr marL="742950" indent="-285750">
              <a:defRPr>
                <a:solidFill>
                  <a:schemeClr val="tx1"/>
                </a:solidFill>
                <a:latin typeface="Arial" panose="020B0604020202020204" pitchFamily="34" charset="0"/>
                <a:ea typeface="微软雅黑 Light" panose="020B0502040204020203" pitchFamily="34" charset="-122"/>
              </a:defRPr>
            </a:lvl2pPr>
            <a:lvl3pPr marL="1143000" indent="-228600">
              <a:defRPr>
                <a:solidFill>
                  <a:schemeClr val="tx1"/>
                </a:solidFill>
                <a:latin typeface="Arial" panose="020B0604020202020204" pitchFamily="34" charset="0"/>
                <a:ea typeface="微软雅黑 Light" panose="020B0502040204020203" pitchFamily="34" charset="-122"/>
              </a:defRPr>
            </a:lvl3pPr>
            <a:lvl4pPr marL="1600200" indent="-228600">
              <a:defRPr>
                <a:solidFill>
                  <a:schemeClr val="tx1"/>
                </a:solidFill>
                <a:latin typeface="Arial" panose="020B0604020202020204" pitchFamily="34" charset="0"/>
                <a:ea typeface="微软雅黑 Light" panose="020B0502040204020203" pitchFamily="34" charset="-122"/>
              </a:defRPr>
            </a:lvl4pPr>
            <a:lvl5pPr marL="2057400" indent="-228600">
              <a:defRPr>
                <a:solidFill>
                  <a:schemeClr val="tx1"/>
                </a:solidFill>
                <a:latin typeface="Arial" panose="020B0604020202020204" pitchFamily="34" charset="0"/>
                <a:ea typeface="微软雅黑 Light" panose="020B0502040204020203" pitchFamily="34" charset="-122"/>
              </a:defRPr>
            </a:lvl5pPr>
            <a:lvl6pPr marL="25146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6pPr>
            <a:lvl7pPr marL="29718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7pPr>
            <a:lvl8pPr marL="34290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8pPr>
            <a:lvl9pPr marL="38862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9pPr>
          </a:lstStyle>
          <a:p>
            <a:pPr fontAlgn="base">
              <a:spcBef>
                <a:spcPct val="0"/>
              </a:spcBef>
              <a:spcAft>
                <a:spcPct val="0"/>
              </a:spcAft>
            </a:pPr>
            <a:fld id="{39F54AE3-D18C-4100-AC8E-7C2991C64D22}" type="slidenum">
              <a:rPr lang="zh-CN" altLang="en-US">
                <a:latin typeface="Calibri" panose="020F0502020204030204" charset="0"/>
                <a:ea typeface="宋体" panose="02010600030101010101" pitchFamily="2" charset="-122"/>
              </a:rPr>
              <a:t>11</a:t>
            </a:fld>
            <a:endParaRPr lang="zh-CN" altLang="en-US">
              <a:latin typeface="Calibri" panose="020F0502020204030204"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xfrm>
            <a:off x="685800" y="1143000"/>
            <a:ext cx="54864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2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dirty="0"/>
          </a:p>
        </p:txBody>
      </p:sp>
      <p:sp>
        <p:nvSpPr>
          <p:cNvPr id="112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微软雅黑 Light" panose="020B0502040204020203" pitchFamily="34" charset="-122"/>
              </a:defRPr>
            </a:lvl1pPr>
            <a:lvl2pPr marL="742950" indent="-285750">
              <a:defRPr>
                <a:solidFill>
                  <a:schemeClr val="tx1"/>
                </a:solidFill>
                <a:latin typeface="Arial" panose="020B0604020202020204" pitchFamily="34" charset="0"/>
                <a:ea typeface="微软雅黑 Light" panose="020B0502040204020203" pitchFamily="34" charset="-122"/>
              </a:defRPr>
            </a:lvl2pPr>
            <a:lvl3pPr marL="1143000" indent="-228600">
              <a:defRPr>
                <a:solidFill>
                  <a:schemeClr val="tx1"/>
                </a:solidFill>
                <a:latin typeface="Arial" panose="020B0604020202020204" pitchFamily="34" charset="0"/>
                <a:ea typeface="微软雅黑 Light" panose="020B0502040204020203" pitchFamily="34" charset="-122"/>
              </a:defRPr>
            </a:lvl3pPr>
            <a:lvl4pPr marL="1600200" indent="-228600">
              <a:defRPr>
                <a:solidFill>
                  <a:schemeClr val="tx1"/>
                </a:solidFill>
                <a:latin typeface="Arial" panose="020B0604020202020204" pitchFamily="34" charset="0"/>
                <a:ea typeface="微软雅黑 Light" panose="020B0502040204020203" pitchFamily="34" charset="-122"/>
              </a:defRPr>
            </a:lvl4pPr>
            <a:lvl5pPr marL="2057400" indent="-228600">
              <a:defRPr>
                <a:solidFill>
                  <a:schemeClr val="tx1"/>
                </a:solidFill>
                <a:latin typeface="Arial" panose="020B0604020202020204" pitchFamily="34" charset="0"/>
                <a:ea typeface="微软雅黑 Light" panose="020B0502040204020203" pitchFamily="34" charset="-122"/>
              </a:defRPr>
            </a:lvl5pPr>
            <a:lvl6pPr marL="25146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6pPr>
            <a:lvl7pPr marL="29718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7pPr>
            <a:lvl8pPr marL="34290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8pPr>
            <a:lvl9pPr marL="38862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9pPr>
          </a:lstStyle>
          <a:p>
            <a:pPr fontAlgn="base">
              <a:spcBef>
                <a:spcPct val="0"/>
              </a:spcBef>
              <a:spcAft>
                <a:spcPct val="0"/>
              </a:spcAft>
            </a:pPr>
            <a:fld id="{39F54AE3-D18C-4100-AC8E-7C2991C64D22}" type="slidenum">
              <a:rPr lang="zh-CN" altLang="en-US">
                <a:latin typeface="Calibri" panose="020F0502020204030204" charset="0"/>
                <a:ea typeface="宋体" panose="02010600030101010101" pitchFamily="2" charset="-122"/>
              </a:rPr>
              <a:t>12</a:t>
            </a:fld>
            <a:endParaRPr lang="zh-CN" altLang="en-US">
              <a:latin typeface="Calibri" panose="020F0502020204030204"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xfrm>
            <a:off x="685800" y="1143000"/>
            <a:ext cx="54864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2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dirty="0"/>
          </a:p>
        </p:txBody>
      </p:sp>
      <p:sp>
        <p:nvSpPr>
          <p:cNvPr id="112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微软雅黑 Light" panose="020B0502040204020203" pitchFamily="34" charset="-122"/>
              </a:defRPr>
            </a:lvl1pPr>
            <a:lvl2pPr marL="742950" indent="-285750">
              <a:defRPr>
                <a:solidFill>
                  <a:schemeClr val="tx1"/>
                </a:solidFill>
                <a:latin typeface="Arial" panose="020B0604020202020204" pitchFamily="34" charset="0"/>
                <a:ea typeface="微软雅黑 Light" panose="020B0502040204020203" pitchFamily="34" charset="-122"/>
              </a:defRPr>
            </a:lvl2pPr>
            <a:lvl3pPr marL="1143000" indent="-228600">
              <a:defRPr>
                <a:solidFill>
                  <a:schemeClr val="tx1"/>
                </a:solidFill>
                <a:latin typeface="Arial" panose="020B0604020202020204" pitchFamily="34" charset="0"/>
                <a:ea typeface="微软雅黑 Light" panose="020B0502040204020203" pitchFamily="34" charset="-122"/>
              </a:defRPr>
            </a:lvl3pPr>
            <a:lvl4pPr marL="1600200" indent="-228600">
              <a:defRPr>
                <a:solidFill>
                  <a:schemeClr val="tx1"/>
                </a:solidFill>
                <a:latin typeface="Arial" panose="020B0604020202020204" pitchFamily="34" charset="0"/>
                <a:ea typeface="微软雅黑 Light" panose="020B0502040204020203" pitchFamily="34" charset="-122"/>
              </a:defRPr>
            </a:lvl4pPr>
            <a:lvl5pPr marL="2057400" indent="-228600">
              <a:defRPr>
                <a:solidFill>
                  <a:schemeClr val="tx1"/>
                </a:solidFill>
                <a:latin typeface="Arial" panose="020B0604020202020204" pitchFamily="34" charset="0"/>
                <a:ea typeface="微软雅黑 Light" panose="020B0502040204020203" pitchFamily="34" charset="-122"/>
              </a:defRPr>
            </a:lvl5pPr>
            <a:lvl6pPr marL="25146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6pPr>
            <a:lvl7pPr marL="29718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7pPr>
            <a:lvl8pPr marL="34290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8pPr>
            <a:lvl9pPr marL="38862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9pPr>
          </a:lstStyle>
          <a:p>
            <a:pPr fontAlgn="base">
              <a:spcBef>
                <a:spcPct val="0"/>
              </a:spcBef>
              <a:spcAft>
                <a:spcPct val="0"/>
              </a:spcAft>
            </a:pPr>
            <a:fld id="{39F54AE3-D18C-4100-AC8E-7C2991C64D22}" type="slidenum">
              <a:rPr lang="zh-CN" altLang="en-US">
                <a:latin typeface="Calibri" panose="020F0502020204030204" charset="0"/>
                <a:ea typeface="宋体" panose="02010600030101010101" pitchFamily="2" charset="-122"/>
              </a:rPr>
              <a:t>13</a:t>
            </a:fld>
            <a:endParaRPr lang="zh-CN" altLang="en-US">
              <a:latin typeface="Calibri" panose="020F0502020204030204" charset="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a:xfrm>
            <a:off x="1143000" y="685800"/>
            <a:ext cx="4572000" cy="3429000"/>
          </a:xfrm>
        </p:spPr>
      </p:sp>
      <p:sp>
        <p:nvSpPr>
          <p:cNvPr id="26627"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26628"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t>33</a:t>
            </a:fld>
            <a:endParaRPr lang="en-US" altLang="zh-CN"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pPr>
              <a:defRPr/>
            </a:pPr>
            <a:endParaRPr kumimoji="1" lang="en-US" altLang="zh-CN"/>
          </a:p>
        </p:txBody>
      </p:sp>
      <p:sp>
        <p:nvSpPr>
          <p:cNvPr id="5" name="页脚占位符 4"/>
          <p:cNvSpPr>
            <a:spLocks noGrp="1"/>
          </p:cNvSpPr>
          <p:nvPr>
            <p:ph type="ftr" sz="quarter" idx="11"/>
          </p:nvPr>
        </p:nvSpPr>
        <p:spPr/>
        <p:txBody>
          <a:bodyPr/>
          <a:lstStyle/>
          <a:p>
            <a:pPr>
              <a:defRPr/>
            </a:pPr>
            <a:endParaRPr kumimoji="1" lang="en-US" altLang="zh-CN"/>
          </a:p>
        </p:txBody>
      </p:sp>
      <p:sp>
        <p:nvSpPr>
          <p:cNvPr id="6" name="灯片编号占位符 5"/>
          <p:cNvSpPr>
            <a:spLocks noGrp="1"/>
          </p:cNvSpPr>
          <p:nvPr>
            <p:ph type="sldNum" sz="quarter" idx="12"/>
          </p:nvPr>
        </p:nvSpPr>
        <p:spPr/>
        <p:txBody>
          <a:bodyPr/>
          <a:lstStyle/>
          <a:p>
            <a:pPr>
              <a:defRPr/>
            </a:pPr>
            <a:fld id="{16B4977D-0AA0-419E-BF11-4B9AB99B8145}" type="slidenum">
              <a:rPr kumimoji="1" lang="en-US" altLang="zh-CN" smtClean="0"/>
              <a:t>‹#›</a:t>
            </a:fld>
            <a:endParaRPr kumimoji="1"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a:defRPr/>
            </a:pPr>
            <a:endParaRPr kumimoji="1" lang="en-US" altLang="zh-CN"/>
          </a:p>
        </p:txBody>
      </p:sp>
      <p:sp>
        <p:nvSpPr>
          <p:cNvPr id="5" name="页脚占位符 4"/>
          <p:cNvSpPr>
            <a:spLocks noGrp="1"/>
          </p:cNvSpPr>
          <p:nvPr>
            <p:ph type="ftr" sz="quarter" idx="11"/>
          </p:nvPr>
        </p:nvSpPr>
        <p:spPr/>
        <p:txBody>
          <a:bodyPr/>
          <a:lstStyle/>
          <a:p>
            <a:pPr>
              <a:defRPr/>
            </a:pPr>
            <a:endParaRPr kumimoji="1" lang="en-US" altLang="zh-CN"/>
          </a:p>
        </p:txBody>
      </p:sp>
      <p:sp>
        <p:nvSpPr>
          <p:cNvPr id="6" name="灯片编号占位符 5"/>
          <p:cNvSpPr>
            <a:spLocks noGrp="1"/>
          </p:cNvSpPr>
          <p:nvPr>
            <p:ph type="sldNum" sz="quarter" idx="12"/>
          </p:nvPr>
        </p:nvSpPr>
        <p:spPr/>
        <p:txBody>
          <a:bodyPr/>
          <a:lstStyle/>
          <a:p>
            <a:pPr>
              <a:defRPr/>
            </a:pPr>
            <a:fld id="{16B4977D-0AA0-419E-BF11-4B9AB99B8145}" type="slidenum">
              <a:rPr kumimoji="1" lang="en-US" altLang="zh-CN" smtClean="0"/>
              <a:t>‹#›</a:t>
            </a:fld>
            <a:endParaRPr kumimoji="1"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42"/>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4589467"/>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日期占位符 3"/>
          <p:cNvSpPr>
            <a:spLocks noGrp="1"/>
          </p:cNvSpPr>
          <p:nvPr>
            <p:ph type="dt" sz="half" idx="10"/>
          </p:nvPr>
        </p:nvSpPr>
        <p:spPr/>
        <p:txBody>
          <a:bodyPr/>
          <a:lstStyle/>
          <a:p>
            <a:pPr>
              <a:defRPr/>
            </a:pPr>
            <a:endParaRPr kumimoji="1" lang="en-US" altLang="zh-CN"/>
          </a:p>
        </p:txBody>
      </p:sp>
      <p:sp>
        <p:nvSpPr>
          <p:cNvPr id="5" name="页脚占位符 4"/>
          <p:cNvSpPr>
            <a:spLocks noGrp="1"/>
          </p:cNvSpPr>
          <p:nvPr>
            <p:ph type="ftr" sz="quarter" idx="11"/>
          </p:nvPr>
        </p:nvSpPr>
        <p:spPr/>
        <p:txBody>
          <a:bodyPr/>
          <a:lstStyle/>
          <a:p>
            <a:pPr>
              <a:defRPr/>
            </a:pPr>
            <a:endParaRPr kumimoji="1" lang="en-US" altLang="zh-CN"/>
          </a:p>
        </p:txBody>
      </p:sp>
      <p:sp>
        <p:nvSpPr>
          <p:cNvPr id="6" name="灯片编号占位符 5"/>
          <p:cNvSpPr>
            <a:spLocks noGrp="1"/>
          </p:cNvSpPr>
          <p:nvPr>
            <p:ph type="sldNum" sz="quarter" idx="12"/>
          </p:nvPr>
        </p:nvSpPr>
        <p:spPr/>
        <p:txBody>
          <a:bodyPr/>
          <a:lstStyle/>
          <a:p>
            <a:pPr>
              <a:defRPr/>
            </a:pPr>
            <a:fld id="{16B4977D-0AA0-419E-BF11-4B9AB99B8145}" type="slidenum">
              <a:rPr kumimoji="1" lang="en-US" altLang="zh-CN" smtClean="0"/>
              <a:t>‹#›</a:t>
            </a:fld>
            <a:endParaRPr kumimoji="1"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685800" y="1981200"/>
            <a:ext cx="3810000" cy="4114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981200"/>
            <a:ext cx="3810000" cy="4114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a:defRPr/>
            </a:pPr>
            <a:endParaRPr kumimoji="1" lang="en-US" altLang="zh-CN"/>
          </a:p>
        </p:txBody>
      </p:sp>
      <p:sp>
        <p:nvSpPr>
          <p:cNvPr id="6" name="页脚占位符 5"/>
          <p:cNvSpPr>
            <a:spLocks noGrp="1"/>
          </p:cNvSpPr>
          <p:nvPr>
            <p:ph type="ftr" sz="quarter" idx="11"/>
          </p:nvPr>
        </p:nvSpPr>
        <p:spPr/>
        <p:txBody>
          <a:bodyPr/>
          <a:lstStyle/>
          <a:p>
            <a:pPr>
              <a:defRPr/>
            </a:pPr>
            <a:endParaRPr kumimoji="1" lang="en-US" altLang="zh-CN"/>
          </a:p>
        </p:txBody>
      </p:sp>
      <p:sp>
        <p:nvSpPr>
          <p:cNvPr id="7" name="灯片编号占位符 6"/>
          <p:cNvSpPr>
            <a:spLocks noGrp="1"/>
          </p:cNvSpPr>
          <p:nvPr>
            <p:ph type="sldNum" sz="quarter" idx="12"/>
          </p:nvPr>
        </p:nvSpPr>
        <p:spPr/>
        <p:txBody>
          <a:bodyPr/>
          <a:lstStyle/>
          <a:p>
            <a:pPr>
              <a:defRPr/>
            </a:pPr>
            <a:fld id="{16B4977D-0AA0-419E-BF11-4B9AB99B8145}" type="slidenum">
              <a:rPr kumimoji="1" lang="en-US" altLang="zh-CN" smtClean="0"/>
              <a:t>‹#›</a:t>
            </a:fld>
            <a:endParaRPr kumimoji="1"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9"/>
            <a:ext cx="78867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9"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9"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a:defRPr/>
            </a:pPr>
            <a:endParaRPr kumimoji="1" lang="en-US" altLang="zh-CN"/>
          </a:p>
        </p:txBody>
      </p:sp>
      <p:sp>
        <p:nvSpPr>
          <p:cNvPr id="8" name="页脚占位符 7"/>
          <p:cNvSpPr>
            <a:spLocks noGrp="1"/>
          </p:cNvSpPr>
          <p:nvPr>
            <p:ph type="ftr" sz="quarter" idx="11"/>
          </p:nvPr>
        </p:nvSpPr>
        <p:spPr/>
        <p:txBody>
          <a:bodyPr/>
          <a:lstStyle/>
          <a:p>
            <a:pPr>
              <a:defRPr/>
            </a:pPr>
            <a:endParaRPr kumimoji="1" lang="en-US" altLang="zh-CN"/>
          </a:p>
        </p:txBody>
      </p:sp>
      <p:sp>
        <p:nvSpPr>
          <p:cNvPr id="9" name="灯片编号占位符 8"/>
          <p:cNvSpPr>
            <a:spLocks noGrp="1"/>
          </p:cNvSpPr>
          <p:nvPr>
            <p:ph type="sldNum" sz="quarter" idx="12"/>
          </p:nvPr>
        </p:nvSpPr>
        <p:spPr/>
        <p:txBody>
          <a:bodyPr/>
          <a:lstStyle/>
          <a:p>
            <a:pPr>
              <a:defRPr/>
            </a:pPr>
            <a:fld id="{16B4977D-0AA0-419E-BF11-4B9AB99B8145}" type="slidenum">
              <a:rPr kumimoji="1" lang="en-US" altLang="zh-CN" smtClean="0"/>
              <a:t>‹#›</a:t>
            </a:fld>
            <a:endParaRPr kumimoji="1"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a:defRPr/>
            </a:pPr>
            <a:endParaRPr kumimoji="1" lang="en-US" altLang="zh-CN"/>
          </a:p>
        </p:txBody>
      </p:sp>
      <p:sp>
        <p:nvSpPr>
          <p:cNvPr id="4" name="页脚占位符 3"/>
          <p:cNvSpPr>
            <a:spLocks noGrp="1"/>
          </p:cNvSpPr>
          <p:nvPr>
            <p:ph type="ftr" sz="quarter" idx="11"/>
          </p:nvPr>
        </p:nvSpPr>
        <p:spPr/>
        <p:txBody>
          <a:bodyPr/>
          <a:lstStyle/>
          <a:p>
            <a:pPr>
              <a:defRPr/>
            </a:pPr>
            <a:endParaRPr kumimoji="1" lang="en-US" altLang="zh-CN"/>
          </a:p>
        </p:txBody>
      </p:sp>
      <p:sp>
        <p:nvSpPr>
          <p:cNvPr id="5" name="灯片编号占位符 4"/>
          <p:cNvSpPr>
            <a:spLocks noGrp="1"/>
          </p:cNvSpPr>
          <p:nvPr>
            <p:ph type="sldNum" sz="quarter" idx="12"/>
          </p:nvPr>
        </p:nvSpPr>
        <p:spPr/>
        <p:txBody>
          <a:bodyPr/>
          <a:lstStyle/>
          <a:p>
            <a:pPr>
              <a:defRPr/>
            </a:pPr>
            <a:fld id="{16B4977D-0AA0-419E-BF11-4B9AB99B8145}" type="slidenum">
              <a:rPr kumimoji="1" lang="en-US" altLang="zh-CN" smtClean="0"/>
              <a:t>‹#›</a:t>
            </a:fld>
            <a:endParaRPr kumimoji="1"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endParaRPr kumimoji="1" lang="en-US" altLang="zh-CN"/>
          </a:p>
        </p:txBody>
      </p:sp>
      <p:sp>
        <p:nvSpPr>
          <p:cNvPr id="3" name="页脚占位符 2"/>
          <p:cNvSpPr>
            <a:spLocks noGrp="1"/>
          </p:cNvSpPr>
          <p:nvPr>
            <p:ph type="ftr" sz="quarter" idx="11"/>
          </p:nvPr>
        </p:nvSpPr>
        <p:spPr/>
        <p:txBody>
          <a:bodyPr/>
          <a:lstStyle/>
          <a:p>
            <a:pPr>
              <a:defRPr/>
            </a:pPr>
            <a:endParaRPr kumimoji="1" lang="en-US" altLang="zh-CN"/>
          </a:p>
        </p:txBody>
      </p:sp>
      <p:sp>
        <p:nvSpPr>
          <p:cNvPr id="4" name="灯片编号占位符 3"/>
          <p:cNvSpPr>
            <a:spLocks noGrp="1"/>
          </p:cNvSpPr>
          <p:nvPr>
            <p:ph type="sldNum" sz="quarter" idx="12"/>
          </p:nvPr>
        </p:nvSpPr>
        <p:spPr/>
        <p:txBody>
          <a:bodyPr/>
          <a:lstStyle/>
          <a:p>
            <a:pPr>
              <a:defRPr/>
            </a:pPr>
            <a:fld id="{16B4977D-0AA0-419E-BF11-4B9AB99B8145}" type="slidenum">
              <a:rPr kumimoji="1" lang="en-US" altLang="zh-CN" smtClean="0"/>
              <a:t>‹#›</a:t>
            </a:fld>
            <a:endParaRPr kumimoji="1"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40"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987429"/>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40"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pPr>
              <a:defRPr/>
            </a:pPr>
            <a:endParaRPr kumimoji="1" lang="en-US" altLang="zh-CN"/>
          </a:p>
        </p:txBody>
      </p:sp>
      <p:sp>
        <p:nvSpPr>
          <p:cNvPr id="6" name="页脚占位符 5"/>
          <p:cNvSpPr>
            <a:spLocks noGrp="1"/>
          </p:cNvSpPr>
          <p:nvPr>
            <p:ph type="ftr" sz="quarter" idx="11"/>
          </p:nvPr>
        </p:nvSpPr>
        <p:spPr/>
        <p:txBody>
          <a:bodyPr/>
          <a:lstStyle/>
          <a:p>
            <a:pPr>
              <a:defRPr/>
            </a:pPr>
            <a:endParaRPr kumimoji="1" lang="en-US" altLang="zh-CN"/>
          </a:p>
        </p:txBody>
      </p:sp>
      <p:sp>
        <p:nvSpPr>
          <p:cNvPr id="7" name="灯片编号占位符 6"/>
          <p:cNvSpPr>
            <a:spLocks noGrp="1"/>
          </p:cNvSpPr>
          <p:nvPr>
            <p:ph type="sldNum" sz="quarter" idx="12"/>
          </p:nvPr>
        </p:nvSpPr>
        <p:spPr/>
        <p:txBody>
          <a:bodyPr/>
          <a:lstStyle/>
          <a:p>
            <a:pPr>
              <a:defRPr/>
            </a:pPr>
            <a:fld id="{16B4977D-0AA0-419E-BF11-4B9AB99B8145}" type="slidenum">
              <a:rPr kumimoji="1" lang="en-US" altLang="zh-CN" smtClean="0"/>
              <a:t>‹#›</a:t>
            </a:fld>
            <a:endParaRPr kumimoji="1"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40"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9"/>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40"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pPr>
              <a:defRPr/>
            </a:pPr>
            <a:endParaRPr kumimoji="1" lang="en-US" altLang="zh-CN"/>
          </a:p>
        </p:txBody>
      </p:sp>
      <p:sp>
        <p:nvSpPr>
          <p:cNvPr id="6" name="页脚占位符 5"/>
          <p:cNvSpPr>
            <a:spLocks noGrp="1"/>
          </p:cNvSpPr>
          <p:nvPr>
            <p:ph type="ftr" sz="quarter" idx="11"/>
          </p:nvPr>
        </p:nvSpPr>
        <p:spPr/>
        <p:txBody>
          <a:bodyPr/>
          <a:lstStyle/>
          <a:p>
            <a:pPr>
              <a:defRPr/>
            </a:pPr>
            <a:endParaRPr kumimoji="1" lang="en-US" altLang="zh-CN"/>
          </a:p>
        </p:txBody>
      </p:sp>
      <p:sp>
        <p:nvSpPr>
          <p:cNvPr id="7" name="灯片编号占位符 6"/>
          <p:cNvSpPr>
            <a:spLocks noGrp="1"/>
          </p:cNvSpPr>
          <p:nvPr>
            <p:ph type="sldNum" sz="quarter" idx="12"/>
          </p:nvPr>
        </p:nvSpPr>
        <p:spPr/>
        <p:txBody>
          <a:bodyPr/>
          <a:lstStyle/>
          <a:p>
            <a:pPr>
              <a:defRPr/>
            </a:pPr>
            <a:fld id="{16B4977D-0AA0-419E-BF11-4B9AB99B8145}" type="slidenum">
              <a:rPr kumimoji="1" lang="en-US" altLang="zh-CN" smtClean="0"/>
              <a:t>‹#›</a:t>
            </a:fld>
            <a:endParaRPr kumimoji="1"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a:defRPr/>
            </a:pPr>
            <a:endParaRPr kumimoji="1" lang="en-US" altLang="zh-CN"/>
          </a:p>
        </p:txBody>
      </p:sp>
      <p:sp>
        <p:nvSpPr>
          <p:cNvPr id="5" name="页脚占位符 4"/>
          <p:cNvSpPr>
            <a:spLocks noGrp="1"/>
          </p:cNvSpPr>
          <p:nvPr>
            <p:ph type="ftr" sz="quarter" idx="11"/>
          </p:nvPr>
        </p:nvSpPr>
        <p:spPr/>
        <p:txBody>
          <a:bodyPr/>
          <a:lstStyle/>
          <a:p>
            <a:pPr>
              <a:defRPr/>
            </a:pPr>
            <a:endParaRPr kumimoji="1" lang="en-US" altLang="zh-CN"/>
          </a:p>
        </p:txBody>
      </p:sp>
      <p:sp>
        <p:nvSpPr>
          <p:cNvPr id="6" name="灯片编号占位符 5"/>
          <p:cNvSpPr>
            <a:spLocks noGrp="1"/>
          </p:cNvSpPr>
          <p:nvPr>
            <p:ph type="sldNum" sz="quarter" idx="12"/>
          </p:nvPr>
        </p:nvSpPr>
        <p:spPr/>
        <p:txBody>
          <a:bodyPr/>
          <a:lstStyle/>
          <a:p>
            <a:pPr>
              <a:defRPr/>
            </a:pPr>
            <a:fld id="{16B4977D-0AA0-419E-BF11-4B9AB99B8145}" type="slidenum">
              <a:rPr kumimoji="1" lang="en-US" altLang="zh-CN" smtClean="0"/>
              <a:t>‹#›</a:t>
            </a:fld>
            <a:endParaRPr kumimoji="1"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85800" y="609600"/>
            <a:ext cx="5676900" cy="5486400"/>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a:defRPr/>
            </a:pPr>
            <a:endParaRPr kumimoji="1" lang="en-US" altLang="zh-CN"/>
          </a:p>
        </p:txBody>
      </p:sp>
      <p:sp>
        <p:nvSpPr>
          <p:cNvPr id="5" name="页脚占位符 4"/>
          <p:cNvSpPr>
            <a:spLocks noGrp="1"/>
          </p:cNvSpPr>
          <p:nvPr>
            <p:ph type="ftr" sz="quarter" idx="11"/>
          </p:nvPr>
        </p:nvSpPr>
        <p:spPr/>
        <p:txBody>
          <a:bodyPr/>
          <a:lstStyle/>
          <a:p>
            <a:pPr>
              <a:defRPr/>
            </a:pPr>
            <a:endParaRPr kumimoji="1" lang="en-US" altLang="zh-CN"/>
          </a:p>
        </p:txBody>
      </p:sp>
      <p:sp>
        <p:nvSpPr>
          <p:cNvPr id="6" name="灯片编号占位符 5"/>
          <p:cNvSpPr>
            <a:spLocks noGrp="1"/>
          </p:cNvSpPr>
          <p:nvPr>
            <p:ph type="sldNum" sz="quarter" idx="12"/>
          </p:nvPr>
        </p:nvSpPr>
        <p:spPr/>
        <p:txBody>
          <a:bodyPr/>
          <a:lstStyle/>
          <a:p>
            <a:pPr>
              <a:defRPr/>
            </a:pPr>
            <a:fld id="{16B4977D-0AA0-419E-BF11-4B9AB99B8145}" type="slidenum">
              <a:rPr kumimoji="1" lang="en-US" altLang="zh-CN" smtClean="0"/>
              <a:t>‹#›</a:t>
            </a:fld>
            <a:endParaRPr kumimoji="1"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63DB197-84B0-484E-9C0F-88358ECCB797}" type="datetimeFigureOut">
              <a:rPr lang="zh-CN" altLang="en-US" smtClean="0"/>
              <a:t>2026/3/9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pPr>
              <a:defRPr/>
            </a:pPr>
            <a:endParaRPr kumimoji="1" lang="en-US" altLang="zh-CN"/>
          </a:p>
        </p:txBody>
      </p:sp>
      <p:sp>
        <p:nvSpPr>
          <p:cNvPr id="5" name="页脚占位符 4"/>
          <p:cNvSpPr>
            <a:spLocks noGrp="1"/>
          </p:cNvSpPr>
          <p:nvPr>
            <p:ph type="ftr" sz="quarter" idx="11"/>
          </p:nvPr>
        </p:nvSpPr>
        <p:spPr/>
        <p:txBody>
          <a:bodyPr/>
          <a:lstStyle/>
          <a:p>
            <a:pPr>
              <a:defRPr/>
            </a:pPr>
            <a:endParaRPr kumimoji="1" lang="en-US" altLang="zh-CN"/>
          </a:p>
        </p:txBody>
      </p:sp>
      <p:sp>
        <p:nvSpPr>
          <p:cNvPr id="6" name="灯片编号占位符 5"/>
          <p:cNvSpPr>
            <a:spLocks noGrp="1"/>
          </p:cNvSpPr>
          <p:nvPr>
            <p:ph type="sldNum" sz="quarter" idx="12"/>
          </p:nvPr>
        </p:nvSpPr>
        <p:spPr/>
        <p:txBody>
          <a:bodyPr/>
          <a:lstStyle/>
          <a:p>
            <a:pPr>
              <a:defRPr/>
            </a:pPr>
            <a:fld id="{16B4977D-0AA0-419E-BF11-4B9AB99B8145}" type="slidenum">
              <a:rPr kumimoji="1" lang="en-US" altLang="zh-CN" smtClean="0"/>
              <a:t>‹#›</a:t>
            </a:fld>
            <a:endParaRPr kumimoji="1"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a:defRPr/>
            </a:pPr>
            <a:endParaRPr kumimoji="1" lang="en-US" altLang="zh-CN"/>
          </a:p>
        </p:txBody>
      </p:sp>
      <p:sp>
        <p:nvSpPr>
          <p:cNvPr id="5" name="页脚占位符 4"/>
          <p:cNvSpPr>
            <a:spLocks noGrp="1"/>
          </p:cNvSpPr>
          <p:nvPr>
            <p:ph type="ftr" sz="quarter" idx="11"/>
          </p:nvPr>
        </p:nvSpPr>
        <p:spPr/>
        <p:txBody>
          <a:bodyPr/>
          <a:lstStyle/>
          <a:p>
            <a:pPr>
              <a:defRPr/>
            </a:pPr>
            <a:endParaRPr kumimoji="1" lang="en-US" altLang="zh-CN"/>
          </a:p>
        </p:txBody>
      </p:sp>
      <p:sp>
        <p:nvSpPr>
          <p:cNvPr id="6" name="灯片编号占位符 5"/>
          <p:cNvSpPr>
            <a:spLocks noGrp="1"/>
          </p:cNvSpPr>
          <p:nvPr>
            <p:ph type="sldNum" sz="quarter" idx="12"/>
          </p:nvPr>
        </p:nvSpPr>
        <p:spPr/>
        <p:txBody>
          <a:bodyPr/>
          <a:lstStyle/>
          <a:p>
            <a:pPr>
              <a:defRPr/>
            </a:pPr>
            <a:fld id="{16B4977D-0AA0-419E-BF11-4B9AB99B8145}" type="slidenum">
              <a:rPr kumimoji="1" lang="en-US" altLang="zh-CN" smtClean="0"/>
              <a:t>‹#›</a:t>
            </a:fld>
            <a:endParaRPr kumimoji="1"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42"/>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4589467"/>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日期占位符 3"/>
          <p:cNvSpPr>
            <a:spLocks noGrp="1"/>
          </p:cNvSpPr>
          <p:nvPr>
            <p:ph type="dt" sz="half" idx="10"/>
          </p:nvPr>
        </p:nvSpPr>
        <p:spPr/>
        <p:txBody>
          <a:bodyPr/>
          <a:lstStyle/>
          <a:p>
            <a:pPr>
              <a:defRPr/>
            </a:pPr>
            <a:endParaRPr kumimoji="1" lang="en-US" altLang="zh-CN"/>
          </a:p>
        </p:txBody>
      </p:sp>
      <p:sp>
        <p:nvSpPr>
          <p:cNvPr id="5" name="页脚占位符 4"/>
          <p:cNvSpPr>
            <a:spLocks noGrp="1"/>
          </p:cNvSpPr>
          <p:nvPr>
            <p:ph type="ftr" sz="quarter" idx="11"/>
          </p:nvPr>
        </p:nvSpPr>
        <p:spPr/>
        <p:txBody>
          <a:bodyPr/>
          <a:lstStyle/>
          <a:p>
            <a:pPr>
              <a:defRPr/>
            </a:pPr>
            <a:endParaRPr kumimoji="1" lang="en-US" altLang="zh-CN"/>
          </a:p>
        </p:txBody>
      </p:sp>
      <p:sp>
        <p:nvSpPr>
          <p:cNvPr id="6" name="灯片编号占位符 5"/>
          <p:cNvSpPr>
            <a:spLocks noGrp="1"/>
          </p:cNvSpPr>
          <p:nvPr>
            <p:ph type="sldNum" sz="quarter" idx="12"/>
          </p:nvPr>
        </p:nvSpPr>
        <p:spPr/>
        <p:txBody>
          <a:bodyPr/>
          <a:lstStyle/>
          <a:p>
            <a:pPr>
              <a:defRPr/>
            </a:pPr>
            <a:fld id="{16B4977D-0AA0-419E-BF11-4B9AB99B8145}" type="slidenum">
              <a:rPr kumimoji="1" lang="en-US" altLang="zh-CN" smtClean="0"/>
              <a:t>‹#›</a:t>
            </a:fld>
            <a:endParaRPr kumimoji="1"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685800" y="1981200"/>
            <a:ext cx="3810000" cy="4114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981200"/>
            <a:ext cx="3810000" cy="4114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a:defRPr/>
            </a:pPr>
            <a:endParaRPr kumimoji="1" lang="en-US" altLang="zh-CN"/>
          </a:p>
        </p:txBody>
      </p:sp>
      <p:sp>
        <p:nvSpPr>
          <p:cNvPr id="6" name="页脚占位符 5"/>
          <p:cNvSpPr>
            <a:spLocks noGrp="1"/>
          </p:cNvSpPr>
          <p:nvPr>
            <p:ph type="ftr" sz="quarter" idx="11"/>
          </p:nvPr>
        </p:nvSpPr>
        <p:spPr/>
        <p:txBody>
          <a:bodyPr/>
          <a:lstStyle/>
          <a:p>
            <a:pPr>
              <a:defRPr/>
            </a:pPr>
            <a:endParaRPr kumimoji="1" lang="en-US" altLang="zh-CN"/>
          </a:p>
        </p:txBody>
      </p:sp>
      <p:sp>
        <p:nvSpPr>
          <p:cNvPr id="7" name="灯片编号占位符 6"/>
          <p:cNvSpPr>
            <a:spLocks noGrp="1"/>
          </p:cNvSpPr>
          <p:nvPr>
            <p:ph type="sldNum" sz="quarter" idx="12"/>
          </p:nvPr>
        </p:nvSpPr>
        <p:spPr/>
        <p:txBody>
          <a:bodyPr/>
          <a:lstStyle/>
          <a:p>
            <a:pPr>
              <a:defRPr/>
            </a:pPr>
            <a:fld id="{16B4977D-0AA0-419E-BF11-4B9AB99B8145}" type="slidenum">
              <a:rPr kumimoji="1" lang="en-US" altLang="zh-CN" smtClean="0"/>
              <a:t>‹#›</a:t>
            </a:fld>
            <a:endParaRPr kumimoji="1"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9"/>
            <a:ext cx="78867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9"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9"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a:defRPr/>
            </a:pPr>
            <a:endParaRPr kumimoji="1" lang="en-US" altLang="zh-CN"/>
          </a:p>
        </p:txBody>
      </p:sp>
      <p:sp>
        <p:nvSpPr>
          <p:cNvPr id="8" name="页脚占位符 7"/>
          <p:cNvSpPr>
            <a:spLocks noGrp="1"/>
          </p:cNvSpPr>
          <p:nvPr>
            <p:ph type="ftr" sz="quarter" idx="11"/>
          </p:nvPr>
        </p:nvSpPr>
        <p:spPr/>
        <p:txBody>
          <a:bodyPr/>
          <a:lstStyle/>
          <a:p>
            <a:pPr>
              <a:defRPr/>
            </a:pPr>
            <a:endParaRPr kumimoji="1" lang="en-US" altLang="zh-CN"/>
          </a:p>
        </p:txBody>
      </p:sp>
      <p:sp>
        <p:nvSpPr>
          <p:cNvPr id="9" name="灯片编号占位符 8"/>
          <p:cNvSpPr>
            <a:spLocks noGrp="1"/>
          </p:cNvSpPr>
          <p:nvPr>
            <p:ph type="sldNum" sz="quarter" idx="12"/>
          </p:nvPr>
        </p:nvSpPr>
        <p:spPr/>
        <p:txBody>
          <a:bodyPr/>
          <a:lstStyle/>
          <a:p>
            <a:pPr>
              <a:defRPr/>
            </a:pPr>
            <a:fld id="{16B4977D-0AA0-419E-BF11-4B9AB99B8145}" type="slidenum">
              <a:rPr kumimoji="1" lang="en-US" altLang="zh-CN" smtClean="0"/>
              <a:t>‹#›</a:t>
            </a:fld>
            <a:endParaRPr kumimoji="1"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a:defRPr/>
            </a:pPr>
            <a:endParaRPr kumimoji="1" lang="en-US" altLang="zh-CN"/>
          </a:p>
        </p:txBody>
      </p:sp>
      <p:sp>
        <p:nvSpPr>
          <p:cNvPr id="4" name="页脚占位符 3"/>
          <p:cNvSpPr>
            <a:spLocks noGrp="1"/>
          </p:cNvSpPr>
          <p:nvPr>
            <p:ph type="ftr" sz="quarter" idx="11"/>
          </p:nvPr>
        </p:nvSpPr>
        <p:spPr/>
        <p:txBody>
          <a:bodyPr/>
          <a:lstStyle/>
          <a:p>
            <a:pPr>
              <a:defRPr/>
            </a:pPr>
            <a:endParaRPr kumimoji="1" lang="en-US" altLang="zh-CN"/>
          </a:p>
        </p:txBody>
      </p:sp>
      <p:sp>
        <p:nvSpPr>
          <p:cNvPr id="5" name="灯片编号占位符 4"/>
          <p:cNvSpPr>
            <a:spLocks noGrp="1"/>
          </p:cNvSpPr>
          <p:nvPr>
            <p:ph type="sldNum" sz="quarter" idx="12"/>
          </p:nvPr>
        </p:nvSpPr>
        <p:spPr/>
        <p:txBody>
          <a:bodyPr/>
          <a:lstStyle/>
          <a:p>
            <a:pPr>
              <a:defRPr/>
            </a:pPr>
            <a:fld id="{16B4977D-0AA0-419E-BF11-4B9AB99B8145}" type="slidenum">
              <a:rPr kumimoji="1" lang="en-US" altLang="zh-CN" smtClean="0"/>
              <a:t>‹#›</a:t>
            </a:fld>
            <a:endParaRPr kumimoji="1"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endParaRPr kumimoji="1" lang="en-US" altLang="zh-CN"/>
          </a:p>
        </p:txBody>
      </p:sp>
      <p:sp>
        <p:nvSpPr>
          <p:cNvPr id="3" name="页脚占位符 2"/>
          <p:cNvSpPr>
            <a:spLocks noGrp="1"/>
          </p:cNvSpPr>
          <p:nvPr>
            <p:ph type="ftr" sz="quarter" idx="11"/>
          </p:nvPr>
        </p:nvSpPr>
        <p:spPr/>
        <p:txBody>
          <a:bodyPr/>
          <a:lstStyle/>
          <a:p>
            <a:pPr>
              <a:defRPr/>
            </a:pPr>
            <a:endParaRPr kumimoji="1" lang="en-US" altLang="zh-CN"/>
          </a:p>
        </p:txBody>
      </p:sp>
      <p:sp>
        <p:nvSpPr>
          <p:cNvPr id="4" name="灯片编号占位符 3"/>
          <p:cNvSpPr>
            <a:spLocks noGrp="1"/>
          </p:cNvSpPr>
          <p:nvPr>
            <p:ph type="sldNum" sz="quarter" idx="12"/>
          </p:nvPr>
        </p:nvSpPr>
        <p:spPr/>
        <p:txBody>
          <a:bodyPr/>
          <a:lstStyle/>
          <a:p>
            <a:pPr>
              <a:defRPr/>
            </a:pPr>
            <a:fld id="{16B4977D-0AA0-419E-BF11-4B9AB99B8145}" type="slidenum">
              <a:rPr kumimoji="1" lang="en-US" altLang="zh-CN" smtClean="0"/>
              <a:t>‹#›</a:t>
            </a:fld>
            <a:endParaRPr kumimoji="1"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40"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987429"/>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40"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pPr>
              <a:defRPr/>
            </a:pPr>
            <a:endParaRPr kumimoji="1" lang="en-US" altLang="zh-CN"/>
          </a:p>
        </p:txBody>
      </p:sp>
      <p:sp>
        <p:nvSpPr>
          <p:cNvPr id="6" name="页脚占位符 5"/>
          <p:cNvSpPr>
            <a:spLocks noGrp="1"/>
          </p:cNvSpPr>
          <p:nvPr>
            <p:ph type="ftr" sz="quarter" idx="11"/>
          </p:nvPr>
        </p:nvSpPr>
        <p:spPr/>
        <p:txBody>
          <a:bodyPr/>
          <a:lstStyle/>
          <a:p>
            <a:pPr>
              <a:defRPr/>
            </a:pPr>
            <a:endParaRPr kumimoji="1" lang="en-US" altLang="zh-CN"/>
          </a:p>
        </p:txBody>
      </p:sp>
      <p:sp>
        <p:nvSpPr>
          <p:cNvPr id="7" name="灯片编号占位符 6"/>
          <p:cNvSpPr>
            <a:spLocks noGrp="1"/>
          </p:cNvSpPr>
          <p:nvPr>
            <p:ph type="sldNum" sz="quarter" idx="12"/>
          </p:nvPr>
        </p:nvSpPr>
        <p:spPr/>
        <p:txBody>
          <a:bodyPr/>
          <a:lstStyle/>
          <a:p>
            <a:pPr>
              <a:defRPr/>
            </a:pPr>
            <a:fld id="{16B4977D-0AA0-419E-BF11-4B9AB99B8145}" type="slidenum">
              <a:rPr kumimoji="1" lang="en-US" altLang="zh-CN" smtClean="0"/>
              <a:t>‹#›</a:t>
            </a:fld>
            <a:endParaRPr kumimoji="1"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40"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9"/>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40"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pPr>
              <a:defRPr/>
            </a:pPr>
            <a:endParaRPr kumimoji="1" lang="en-US" altLang="zh-CN"/>
          </a:p>
        </p:txBody>
      </p:sp>
      <p:sp>
        <p:nvSpPr>
          <p:cNvPr id="6" name="页脚占位符 5"/>
          <p:cNvSpPr>
            <a:spLocks noGrp="1"/>
          </p:cNvSpPr>
          <p:nvPr>
            <p:ph type="ftr" sz="quarter" idx="11"/>
          </p:nvPr>
        </p:nvSpPr>
        <p:spPr/>
        <p:txBody>
          <a:bodyPr/>
          <a:lstStyle/>
          <a:p>
            <a:pPr>
              <a:defRPr/>
            </a:pPr>
            <a:endParaRPr kumimoji="1" lang="en-US" altLang="zh-CN"/>
          </a:p>
        </p:txBody>
      </p:sp>
      <p:sp>
        <p:nvSpPr>
          <p:cNvPr id="7" name="灯片编号占位符 6"/>
          <p:cNvSpPr>
            <a:spLocks noGrp="1"/>
          </p:cNvSpPr>
          <p:nvPr>
            <p:ph type="sldNum" sz="quarter" idx="12"/>
          </p:nvPr>
        </p:nvSpPr>
        <p:spPr/>
        <p:txBody>
          <a:bodyPr/>
          <a:lstStyle/>
          <a:p>
            <a:pPr>
              <a:defRPr/>
            </a:pPr>
            <a:fld id="{16B4977D-0AA0-419E-BF11-4B9AB99B8145}" type="slidenum">
              <a:rPr kumimoji="1" lang="en-US" altLang="zh-CN" smtClean="0"/>
              <a:t>‹#›</a:t>
            </a:fld>
            <a:endParaRPr kumimoji="1"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a:defRPr/>
            </a:pPr>
            <a:endParaRPr kumimoji="1" lang="en-US" altLang="zh-CN"/>
          </a:p>
        </p:txBody>
      </p:sp>
      <p:sp>
        <p:nvSpPr>
          <p:cNvPr id="5" name="页脚占位符 4"/>
          <p:cNvSpPr>
            <a:spLocks noGrp="1"/>
          </p:cNvSpPr>
          <p:nvPr>
            <p:ph type="ftr" sz="quarter" idx="11"/>
          </p:nvPr>
        </p:nvSpPr>
        <p:spPr/>
        <p:txBody>
          <a:bodyPr/>
          <a:lstStyle/>
          <a:p>
            <a:pPr>
              <a:defRPr/>
            </a:pPr>
            <a:endParaRPr kumimoji="1" lang="en-US" altLang="zh-CN"/>
          </a:p>
        </p:txBody>
      </p:sp>
      <p:sp>
        <p:nvSpPr>
          <p:cNvPr id="6" name="灯片编号占位符 5"/>
          <p:cNvSpPr>
            <a:spLocks noGrp="1"/>
          </p:cNvSpPr>
          <p:nvPr>
            <p:ph type="sldNum" sz="quarter" idx="12"/>
          </p:nvPr>
        </p:nvSpPr>
        <p:spPr/>
        <p:txBody>
          <a:bodyPr/>
          <a:lstStyle/>
          <a:p>
            <a:pPr>
              <a:defRPr/>
            </a:pPr>
            <a:fld id="{16B4977D-0AA0-419E-BF11-4B9AB99B8145}" type="slidenum">
              <a:rPr kumimoji="1" lang="en-US" altLang="zh-CN" smtClean="0"/>
              <a:t>‹#›</a:t>
            </a:fld>
            <a:endParaRPr kumimoji="1"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85800" y="609600"/>
            <a:ext cx="5676900" cy="5486400"/>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a:defRPr/>
            </a:pPr>
            <a:endParaRPr kumimoji="1" lang="en-US" altLang="zh-CN"/>
          </a:p>
        </p:txBody>
      </p:sp>
      <p:sp>
        <p:nvSpPr>
          <p:cNvPr id="5" name="页脚占位符 4"/>
          <p:cNvSpPr>
            <a:spLocks noGrp="1"/>
          </p:cNvSpPr>
          <p:nvPr>
            <p:ph type="ftr" sz="quarter" idx="11"/>
          </p:nvPr>
        </p:nvSpPr>
        <p:spPr/>
        <p:txBody>
          <a:bodyPr/>
          <a:lstStyle/>
          <a:p>
            <a:pPr>
              <a:defRPr/>
            </a:pPr>
            <a:endParaRPr kumimoji="1" lang="en-US" altLang="zh-CN"/>
          </a:p>
        </p:txBody>
      </p:sp>
      <p:sp>
        <p:nvSpPr>
          <p:cNvPr id="6" name="灯片编号占位符 5"/>
          <p:cNvSpPr>
            <a:spLocks noGrp="1"/>
          </p:cNvSpPr>
          <p:nvPr>
            <p:ph type="sldNum" sz="quarter" idx="12"/>
          </p:nvPr>
        </p:nvSpPr>
        <p:spPr/>
        <p:txBody>
          <a:bodyPr/>
          <a:lstStyle/>
          <a:p>
            <a:pPr>
              <a:defRPr/>
            </a:pPr>
            <a:fld id="{16B4977D-0AA0-419E-BF11-4B9AB99B8145}" type="slidenum">
              <a:rPr kumimoji="1" lang="en-US" altLang="zh-CN" smtClean="0"/>
              <a:t>‹#›</a:t>
            </a:fld>
            <a:endParaRPr kumimoji="1"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685800" y="609600"/>
            <a:ext cx="7772400" cy="1143000"/>
          </a:xfrm>
          <a:prstGeom prst="rect">
            <a:avLst/>
          </a:prstGeom>
          <a:noFill/>
          <a:ln w="9525">
            <a:noFill/>
          </a:ln>
        </p:spPr>
        <p:txBody>
          <a:bodyPr anchor="ctr" anchorCtr="0"/>
          <a:lstStyle/>
          <a:p>
            <a:pPr lvl="0"/>
            <a:r>
              <a:rPr lang="zh-CN" altLang="zh-CN" dirty="0"/>
              <a:t>单击以编辑</a:t>
            </a:r>
            <a:r>
              <a:rPr lang="zh-CN" altLang="en-US" dirty="0"/>
              <a:t>母版标题样式</a:t>
            </a:r>
          </a:p>
        </p:txBody>
      </p:sp>
      <p:sp>
        <p:nvSpPr>
          <p:cNvPr id="1027" name="Rectangle 3"/>
          <p:cNvSpPr>
            <a:spLocks noGrp="1"/>
          </p:cNvSpPr>
          <p:nvPr>
            <p:ph type="body" idx="1"/>
          </p:nvPr>
        </p:nvSpPr>
        <p:spPr>
          <a:xfrm>
            <a:off x="685800" y="1981200"/>
            <a:ext cx="7772400" cy="4114800"/>
          </a:xfrm>
          <a:prstGeom prst="rect">
            <a:avLst/>
          </a:prstGeom>
          <a:noFill/>
          <a:ln w="9525">
            <a:noFill/>
          </a:ln>
        </p:spPr>
        <p:txBody>
          <a:bodyPr/>
          <a:lstStyle/>
          <a:p>
            <a:pPr lvl="0"/>
            <a:r>
              <a:rPr lang="zh-CN" altLang="en-US" dirty="0"/>
              <a:t>单击以编辑母版文本样式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eaLnBrk="1" hangingPunct="1">
              <a:spcBef>
                <a:spcPct val="50000"/>
              </a:spcBef>
              <a:defRPr sz="1400"/>
            </a:lvl1pPr>
          </a:lstStyle>
          <a:p>
            <a:pPr>
              <a:defRPr/>
            </a:pPr>
            <a:endParaRPr kumimoji="1"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algn="ctr" eaLnBrk="1" hangingPunct="1">
              <a:spcBef>
                <a:spcPct val="50000"/>
              </a:spcBef>
              <a:defRPr sz="1400"/>
            </a:lvl1pPr>
          </a:lstStyle>
          <a:p>
            <a:pPr>
              <a:defRPr/>
            </a:pPr>
            <a:endParaRPr kumimoji="1"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algn="r" eaLnBrk="1" hangingPunct="1">
              <a:spcBef>
                <a:spcPct val="50000"/>
              </a:spcBef>
              <a:defRPr sz="1400"/>
            </a:lvl1pPr>
          </a:lstStyle>
          <a:p>
            <a:pPr>
              <a:defRPr/>
            </a:pPr>
            <a:fld id="{16B4977D-0AA0-419E-BF11-4B9AB99B8145}" type="slidenum">
              <a:rPr kumimoji="1" lang="en-US" altLang="zh-CN" smtClean="0"/>
              <a:t>‹#›</a:t>
            </a:fld>
            <a:endParaRPr kumimoji="1"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685800" y="609600"/>
            <a:ext cx="7772400" cy="1143000"/>
          </a:xfrm>
          <a:prstGeom prst="rect">
            <a:avLst/>
          </a:prstGeom>
          <a:noFill/>
          <a:ln w="9525">
            <a:noFill/>
          </a:ln>
        </p:spPr>
        <p:txBody>
          <a:bodyPr anchor="ctr" anchorCtr="0"/>
          <a:lstStyle/>
          <a:p>
            <a:pPr lvl="0"/>
            <a:r>
              <a:rPr lang="zh-CN" altLang="zh-CN" dirty="0"/>
              <a:t>单击以编辑</a:t>
            </a:r>
            <a:r>
              <a:rPr lang="zh-CN" altLang="en-US" dirty="0"/>
              <a:t>母版标题样式</a:t>
            </a:r>
          </a:p>
        </p:txBody>
      </p:sp>
      <p:sp>
        <p:nvSpPr>
          <p:cNvPr id="1027" name="Rectangle 3"/>
          <p:cNvSpPr>
            <a:spLocks noGrp="1"/>
          </p:cNvSpPr>
          <p:nvPr>
            <p:ph type="body" idx="1"/>
          </p:nvPr>
        </p:nvSpPr>
        <p:spPr>
          <a:xfrm>
            <a:off x="685800" y="1981200"/>
            <a:ext cx="7772400" cy="4114800"/>
          </a:xfrm>
          <a:prstGeom prst="rect">
            <a:avLst/>
          </a:prstGeom>
          <a:noFill/>
          <a:ln w="9525">
            <a:noFill/>
          </a:ln>
        </p:spPr>
        <p:txBody>
          <a:bodyPr/>
          <a:lstStyle/>
          <a:p>
            <a:pPr lvl="0"/>
            <a:r>
              <a:rPr lang="zh-CN" altLang="en-US" dirty="0"/>
              <a:t>单击以编辑母版文本样式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eaLnBrk="1" hangingPunct="1">
              <a:spcBef>
                <a:spcPct val="50000"/>
              </a:spcBef>
              <a:defRPr sz="1400"/>
            </a:lvl1pPr>
          </a:lstStyle>
          <a:p>
            <a:pPr>
              <a:defRPr/>
            </a:pPr>
            <a:endParaRPr kumimoji="1"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algn="ctr" eaLnBrk="1" hangingPunct="1">
              <a:spcBef>
                <a:spcPct val="50000"/>
              </a:spcBef>
              <a:defRPr sz="1400"/>
            </a:lvl1pPr>
          </a:lstStyle>
          <a:p>
            <a:pPr>
              <a:defRPr/>
            </a:pPr>
            <a:endParaRPr kumimoji="1"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lstStyle>
            <a:lvl1pPr algn="r" eaLnBrk="1" hangingPunct="1">
              <a:spcBef>
                <a:spcPct val="50000"/>
              </a:spcBef>
              <a:defRPr sz="1400"/>
            </a:lvl1pPr>
          </a:lstStyle>
          <a:p>
            <a:pPr>
              <a:defRPr/>
            </a:pPr>
            <a:fld id="{16B4977D-0AA0-419E-BF11-4B9AB99B8145}" type="slidenum">
              <a:rPr kumimoji="1" lang="en-US" altLang="zh-CN" smtClean="0"/>
              <a:t>‹#›</a:t>
            </a:fld>
            <a:endParaRPr kumimoji="1" lang="en-US" altLang="zh-CN"/>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1.xml"/><Relationship Id="rId13" Type="http://schemas.openxmlformats.org/officeDocument/2006/relationships/image" Target="../media/image5.png"/><Relationship Id="rId3" Type="http://schemas.openxmlformats.org/officeDocument/2006/relationships/tags" Target="../tags/tag3.xml"/><Relationship Id="rId7" Type="http://schemas.openxmlformats.org/officeDocument/2006/relationships/slideLayout" Target="../slideLayouts/slideLayout12.xml"/><Relationship Id="rId12" Type="http://schemas.openxmlformats.org/officeDocument/2006/relationships/image" Target="../media/image4.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3.png"/><Relationship Id="rId5" Type="http://schemas.openxmlformats.org/officeDocument/2006/relationships/tags" Target="../tags/tag5.xml"/><Relationship Id="rId10" Type="http://schemas.openxmlformats.org/officeDocument/2006/relationships/image" Target="../media/image2.png"/><Relationship Id="rId4" Type="http://schemas.openxmlformats.org/officeDocument/2006/relationships/tags" Target="../tags/tag4.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0.xml"/><Relationship Id="rId1" Type="http://schemas.openxmlformats.org/officeDocument/2006/relationships/tags" Target="../tags/tag9.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2.xml"/><Relationship Id="rId1" Type="http://schemas.openxmlformats.org/officeDocument/2006/relationships/tags" Target="../tags/tag1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4.xml"/><Relationship Id="rId1" Type="http://schemas.openxmlformats.org/officeDocument/2006/relationships/tags" Target="../tags/tag13.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tags" Target="../tags/tag1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tags" Target="../tags/tag16.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tags" Target="../tags/tag1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tags" Target="../tags/tag18.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tags" Target="../tags/tag19.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tags" Target="../tags/tag20.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tags" Target="../tags/tag2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docs.qq.com/sheet/DUWx3bnFMdkNtZ2Ro?tab=000001"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074"/>
          <p:cNvSpPr>
            <a:spLocks noGrp="1"/>
          </p:cNvSpPr>
          <p:nvPr>
            <p:ph type="ctrTitle"/>
          </p:nvPr>
        </p:nvSpPr>
        <p:spPr>
          <a:xfrm>
            <a:off x="857620" y="1052738"/>
            <a:ext cx="7560840" cy="1800225"/>
          </a:xfrm>
        </p:spPr>
        <p:txBody>
          <a:bodyPr vert="horz" wrap="square" lIns="91440" tIns="45720" rIns="91440" bIns="45720" anchor="ctr" anchorCtr="0"/>
          <a:lstStyle/>
          <a:p>
            <a:pPr eaLnBrk="1" hangingPunct="1">
              <a:lnSpc>
                <a:spcPct val="150000"/>
              </a:lnSpc>
              <a:buClrTx/>
              <a:buSzTx/>
              <a:buFontTx/>
            </a:pPr>
            <a:r>
              <a:rPr lang="zh-CN" altLang="en-US" sz="4400" b="1" dirty="0">
                <a:solidFill>
                  <a:srgbClr val="FF0000"/>
                </a:solidFill>
                <a:ea typeface="楷体_GB2312" pitchFamily="49" charset="-122"/>
              </a:rPr>
              <a:t>数据结构课程设计</a:t>
            </a:r>
            <a:br>
              <a:rPr lang="en-US" altLang="zh-CN" sz="4400" b="1" dirty="0">
                <a:solidFill>
                  <a:srgbClr val="FF0000"/>
                </a:solidFill>
                <a:ea typeface="楷体_GB2312" pitchFamily="49" charset="-122"/>
              </a:rPr>
            </a:br>
            <a:r>
              <a:rPr lang="zh-CN" altLang="en-US" sz="2800" b="1" dirty="0">
                <a:solidFill>
                  <a:schemeClr val="accent2"/>
                </a:solidFill>
                <a:ea typeface="楷体_GB2312" pitchFamily="49" charset="-122"/>
              </a:rPr>
              <a:t>基于智能体的个性化旅游系统的设计和开发</a:t>
            </a:r>
            <a:br>
              <a:rPr lang="en-US" altLang="zh-CN" sz="5400" b="1" dirty="0">
                <a:solidFill>
                  <a:srgbClr val="FF0000"/>
                </a:solidFill>
                <a:ea typeface="楷体_GB2312" pitchFamily="49" charset="-122"/>
              </a:rPr>
            </a:br>
            <a:endParaRPr lang="zh-CN" altLang="en-US" sz="3600" b="1" dirty="0">
              <a:solidFill>
                <a:srgbClr val="FF0000"/>
              </a:solidFill>
              <a:ea typeface="楷体_GB2312" pitchFamily="49" charset="-122"/>
            </a:endParaRPr>
          </a:p>
        </p:txBody>
      </p:sp>
      <p:sp>
        <p:nvSpPr>
          <p:cNvPr id="4099" name="Rectangle 3075"/>
          <p:cNvSpPr>
            <a:spLocks noGrp="1"/>
          </p:cNvSpPr>
          <p:nvPr>
            <p:ph type="subTitle" idx="1" hasCustomPrompt="1"/>
          </p:nvPr>
        </p:nvSpPr>
        <p:spPr>
          <a:xfrm>
            <a:off x="1040130" y="2710184"/>
            <a:ext cx="7195820" cy="1223645"/>
          </a:xfrm>
        </p:spPr>
        <p:txBody>
          <a:bodyPr vert="horz" wrap="square" lIns="91440" tIns="45720" rIns="91440" bIns="45720" anchor="t" anchorCtr="0"/>
          <a:lstStyle/>
          <a:p>
            <a:pPr eaLnBrk="1" hangingPunct="1">
              <a:buClrTx/>
              <a:buSzTx/>
              <a:buFontTx/>
            </a:pPr>
            <a:r>
              <a:rPr lang="zh-CN" altLang="en-US" sz="3200" dirty="0"/>
              <a:t>时间：</a:t>
            </a:r>
            <a:r>
              <a:rPr lang="en-US" altLang="zh-CN" sz="3200" dirty="0"/>
              <a:t>2026.2——2026.6</a:t>
            </a:r>
          </a:p>
          <a:p>
            <a:pPr eaLnBrk="1" hangingPunct="1">
              <a:buClrTx/>
              <a:buSzTx/>
              <a:buFontTx/>
            </a:pPr>
            <a:endParaRPr lang="en-US" altLang="zh-CN" sz="3200" dirty="0"/>
          </a:p>
        </p:txBody>
      </p:sp>
      <p:sp>
        <p:nvSpPr>
          <p:cNvPr id="7" name="Text Box 3076"/>
          <p:cNvSpPr txBox="1">
            <a:spLocks noChangeArrowheads="1"/>
          </p:cNvSpPr>
          <p:nvPr/>
        </p:nvSpPr>
        <p:spPr bwMode="auto">
          <a:xfrm>
            <a:off x="2627630" y="4005580"/>
            <a:ext cx="5173980" cy="2245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zh-CN" altLang="en-US" sz="2800" b="1" dirty="0">
                <a:solidFill>
                  <a:srgbClr val="0033CC"/>
                </a:solidFill>
                <a:latin typeface="Garamond" panose="02020404030301010803" pitchFamily="18" charset="0"/>
              </a:rPr>
              <a:t>计算机学院：杨震</a:t>
            </a:r>
            <a:endParaRPr lang="en-US" altLang="zh-CN" sz="2800" b="1" dirty="0">
              <a:solidFill>
                <a:srgbClr val="0033CC"/>
              </a:solidFill>
              <a:latin typeface="Garamond" panose="02020404030301010803" pitchFamily="18" charset="0"/>
            </a:endParaRPr>
          </a:p>
          <a:p>
            <a:pPr>
              <a:spcBef>
                <a:spcPct val="50000"/>
              </a:spcBef>
              <a:buFontTx/>
              <a:buNone/>
            </a:pPr>
            <a:r>
              <a:rPr lang="en-US" altLang="zh-CN" sz="2800" b="1" dirty="0">
                <a:solidFill>
                  <a:srgbClr val="0033CC"/>
                </a:solidFill>
                <a:latin typeface="Garamond" panose="02020404030301010803" pitchFamily="18" charset="0"/>
              </a:rPr>
              <a:t>Email</a:t>
            </a:r>
            <a:r>
              <a:rPr lang="zh-CN" altLang="en-US" sz="2800" b="1" dirty="0">
                <a:solidFill>
                  <a:srgbClr val="0033CC"/>
                </a:solidFill>
                <a:latin typeface="Garamond" panose="02020404030301010803" pitchFamily="18" charset="0"/>
              </a:rPr>
              <a:t>：</a:t>
            </a:r>
            <a:r>
              <a:rPr lang="en-US" altLang="zh-CN" sz="2800" b="1" dirty="0">
                <a:solidFill>
                  <a:srgbClr val="0033CC"/>
                </a:solidFill>
                <a:latin typeface="Garamond" panose="02020404030301010803" pitchFamily="18" charset="0"/>
              </a:rPr>
              <a:t> yangzhen@bupt.edu.cn </a:t>
            </a:r>
          </a:p>
          <a:p>
            <a:pPr>
              <a:spcBef>
                <a:spcPct val="50000"/>
              </a:spcBef>
              <a:buFontTx/>
              <a:buNone/>
            </a:pPr>
            <a:r>
              <a:rPr lang="en-US" altLang="zh-CN" sz="2800" b="1" dirty="0">
                <a:solidFill>
                  <a:srgbClr val="0033CC"/>
                </a:solidFill>
                <a:latin typeface="Garamond" panose="02020404030301010803" pitchFamily="18" charset="0"/>
              </a:rPr>
              <a:t>                </a:t>
            </a:r>
            <a:br>
              <a:rPr lang="en-US" altLang="zh-CN" sz="2800" b="1" dirty="0">
                <a:solidFill>
                  <a:srgbClr val="0033CC"/>
                </a:solidFill>
                <a:latin typeface="Garamond" panose="02020404030301010803" pitchFamily="18" charset="0"/>
              </a:rPr>
            </a:br>
            <a:endParaRPr lang="en-US" altLang="zh-CN" sz="2800" b="1" dirty="0">
              <a:solidFill>
                <a:srgbClr val="0033CC"/>
              </a:solidFill>
              <a:latin typeface="Garamond" panose="02020404030301010803"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89" name="关于我们"/>
          <p:cNvSpPr/>
          <p:nvPr>
            <p:custDataLst>
              <p:tags r:id="rId1"/>
            </p:custDataLst>
          </p:nvPr>
        </p:nvSpPr>
        <p:spPr>
          <a:xfrm>
            <a:off x="971391" y="765334"/>
            <a:ext cx="5925026" cy="706755"/>
          </a:xfrm>
          <a:prstGeom prst="rect">
            <a:avLst/>
          </a:prstGeom>
        </p:spPr>
        <p:txBody>
          <a:bodyPr wrap="square">
            <a:spAutoFit/>
          </a:bodyPr>
          <a:lstStyle/>
          <a:p>
            <a:pPr eaLnBrk="1" fontAlgn="auto" hangingPunct="1">
              <a:spcBef>
                <a:spcPts val="0"/>
              </a:spcBef>
              <a:spcAft>
                <a:spcPts val="0"/>
              </a:spcAft>
              <a:defRPr/>
            </a:pPr>
            <a:r>
              <a:rPr kumimoji="1" lang="zh-CN" altLang="en-US" sz="4000" b="1" dirty="0">
                <a:solidFill>
                  <a:schemeClr val="accent2"/>
                </a:solidFill>
                <a:latin typeface="+mj-lt"/>
                <a:ea typeface="楷体_GB2312" pitchFamily="49" charset="-122"/>
                <a:cs typeface="+mj-cs"/>
              </a:rPr>
              <a:t>AI编程平台与工具</a:t>
            </a:r>
            <a:endParaRPr lang="zh-CN" altLang="en-US" b="1" dirty="0">
              <a:solidFill>
                <a:schemeClr val="tx1">
                  <a:lumMod val="85000"/>
                  <a:lumOff val="15000"/>
                </a:schemeClr>
              </a:solidFill>
              <a:latin typeface="+mn-ea"/>
              <a:ea typeface="+mn-ea"/>
            </a:endParaRPr>
          </a:p>
        </p:txBody>
      </p:sp>
      <p:sp>
        <p:nvSpPr>
          <p:cNvPr id="6" name="文本框 5"/>
          <p:cNvSpPr txBox="1"/>
          <p:nvPr/>
        </p:nvSpPr>
        <p:spPr>
          <a:xfrm>
            <a:off x="236220" y="1813084"/>
            <a:ext cx="4406265" cy="4015105"/>
          </a:xfrm>
          <a:prstGeom prst="rect">
            <a:avLst/>
          </a:prstGeom>
          <a:noFill/>
        </p:spPr>
        <p:txBody>
          <a:bodyPr wrap="square" rtlCol="0" anchor="t">
            <a:spAutoFit/>
          </a:bodyPr>
          <a:lstStyle/>
          <a:p>
            <a:pPr>
              <a:lnSpc>
                <a:spcPct val="150000"/>
              </a:lnSpc>
            </a:pPr>
            <a:r>
              <a:rPr lang="zh-CN" altLang="en-US" sz="1500" b="1"/>
              <a:t>通用大模型：</a:t>
            </a:r>
          </a:p>
          <a:p>
            <a:pPr marL="800100" lvl="1" indent="-342900">
              <a:lnSpc>
                <a:spcPct val="150000"/>
              </a:lnSpc>
              <a:buFont typeface="Arial" panose="020B0604020202020204" pitchFamily="34" charset="0"/>
              <a:buChar char="•"/>
            </a:pPr>
            <a:r>
              <a:rPr lang="zh-CN" altLang="en-US" sz="1500"/>
              <a:t>Gemini 3 Pro、</a:t>
            </a:r>
            <a:r>
              <a:rPr lang="en-US" altLang="zh-CN" sz="1500"/>
              <a:t>Gemini 3 Flash</a:t>
            </a:r>
          </a:p>
          <a:p>
            <a:pPr marL="800100" lvl="1" indent="-342900">
              <a:lnSpc>
                <a:spcPct val="150000"/>
              </a:lnSpc>
              <a:buFont typeface="Arial" panose="020B0604020202020204" pitchFamily="34" charset="0"/>
              <a:buChar char="•"/>
            </a:pPr>
            <a:r>
              <a:rPr lang="en-US" altLang="zh-CN" sz="1500"/>
              <a:t>ChatGPT‑5.2</a:t>
            </a:r>
          </a:p>
          <a:p>
            <a:pPr marL="800100" lvl="1" indent="-342900">
              <a:lnSpc>
                <a:spcPct val="150000"/>
              </a:lnSpc>
              <a:buFont typeface="Arial" panose="020B0604020202020204" pitchFamily="34" charset="0"/>
              <a:buChar char="•"/>
            </a:pPr>
            <a:r>
              <a:rPr lang="en-US" altLang="zh-CN" sz="1500"/>
              <a:t>Claude Sonnet 4.6</a:t>
            </a:r>
          </a:p>
          <a:p>
            <a:pPr marL="800100" lvl="1" indent="-342900">
              <a:lnSpc>
                <a:spcPct val="150000"/>
              </a:lnSpc>
              <a:buFont typeface="Arial" panose="020B0604020202020204" pitchFamily="34" charset="0"/>
              <a:buChar char="•"/>
            </a:pPr>
            <a:r>
              <a:rPr lang="zh-CN" altLang="en-US" sz="1500"/>
              <a:t>千</a:t>
            </a:r>
            <a:r>
              <a:rPr lang="en-US" altLang="zh-CN" sz="1500"/>
              <a:t>问Qwen3.5-Plus</a:t>
            </a:r>
            <a:r>
              <a:rPr lang="zh-CN" altLang="en-US" sz="1500"/>
              <a:t>、</a:t>
            </a:r>
            <a:r>
              <a:rPr lang="en-US" altLang="zh-CN" sz="1500">
                <a:sym typeface="+mn-ea"/>
              </a:rPr>
              <a:t>Qwen3.5-Flash</a:t>
            </a:r>
          </a:p>
          <a:p>
            <a:pPr marL="800100" lvl="1" indent="-342900">
              <a:lnSpc>
                <a:spcPct val="150000"/>
              </a:lnSpc>
              <a:buFont typeface="Arial" panose="020B0604020202020204" pitchFamily="34" charset="0"/>
              <a:buChar char="•"/>
            </a:pPr>
            <a:r>
              <a:rPr lang="en-US" altLang="zh-CN" sz="1500"/>
              <a:t>DeepSeek V3.2</a:t>
            </a:r>
            <a:r>
              <a:rPr lang="zh-CN" altLang="en-US" sz="1500"/>
              <a:t>、</a:t>
            </a:r>
            <a:r>
              <a:rPr lang="en-US" altLang="zh-CN" sz="1500"/>
              <a:t>DeepSeek R1</a:t>
            </a:r>
          </a:p>
          <a:p>
            <a:pPr marL="800100" lvl="1" indent="-342900">
              <a:lnSpc>
                <a:spcPct val="150000"/>
              </a:lnSpc>
              <a:buFont typeface="Arial" panose="020B0604020202020204" pitchFamily="34" charset="0"/>
              <a:buChar char="•"/>
            </a:pPr>
            <a:r>
              <a:rPr lang="zh-CN" altLang="en-US" sz="1500"/>
              <a:t>豆包</a:t>
            </a:r>
          </a:p>
          <a:p>
            <a:endParaRPr lang="zh-CN" altLang="en-US" sz="1500"/>
          </a:p>
          <a:p>
            <a:r>
              <a:rPr lang="zh-CN" altLang="en-US" sz="1500" b="1"/>
              <a:t>编程大模型：</a:t>
            </a:r>
          </a:p>
          <a:p>
            <a:pPr marL="800100" lvl="1" indent="-342900">
              <a:lnSpc>
                <a:spcPct val="150000"/>
              </a:lnSpc>
              <a:buFont typeface="Arial" panose="020B0604020202020204" pitchFamily="34" charset="0"/>
              <a:buChar char="•"/>
            </a:pPr>
            <a:r>
              <a:rPr lang="en-US" altLang="zh-CN" sz="1500">
                <a:sym typeface="+mn-ea"/>
              </a:rPr>
              <a:t>Gemini3</a:t>
            </a:r>
            <a:r>
              <a:rPr lang="zh-CN" altLang="en-US" sz="1500">
                <a:sym typeface="+mn-ea"/>
              </a:rPr>
              <a:t>、</a:t>
            </a:r>
            <a:r>
              <a:rPr lang="en-US" altLang="zh-CN" sz="1500">
                <a:sym typeface="+mn-ea"/>
              </a:rPr>
              <a:t>Claude</a:t>
            </a:r>
            <a:r>
              <a:rPr lang="zh-CN" altLang="en-US" sz="1500">
                <a:sym typeface="+mn-ea"/>
              </a:rPr>
              <a:t>、 GPT‑5.2-Codex</a:t>
            </a:r>
          </a:p>
          <a:p>
            <a:pPr marL="800100" lvl="1" indent="-342900">
              <a:lnSpc>
                <a:spcPct val="150000"/>
              </a:lnSpc>
              <a:buFont typeface="Arial" panose="020B0604020202020204" pitchFamily="34" charset="0"/>
              <a:buChar char="•"/>
            </a:pPr>
            <a:r>
              <a:rPr lang="zh-CN" altLang="en-US" sz="1500"/>
              <a:t>DeepSeek Coder、</a:t>
            </a:r>
            <a:r>
              <a:rPr lang="en-US" altLang="zh-CN" sz="1500"/>
              <a:t>Qwen-Coder</a:t>
            </a:r>
          </a:p>
          <a:p>
            <a:pPr marL="800100" lvl="1" indent="-342900">
              <a:lnSpc>
                <a:spcPct val="150000"/>
              </a:lnSpc>
              <a:buFont typeface="Arial" panose="020B0604020202020204" pitchFamily="34" charset="0"/>
              <a:buChar char="•"/>
            </a:pPr>
            <a:r>
              <a:rPr lang="en-US" altLang="zh-CN" sz="1500"/>
              <a:t>智谱GLM 5</a:t>
            </a:r>
            <a:r>
              <a:rPr lang="zh-CN" altLang="en-US" sz="1500"/>
              <a:t>、</a:t>
            </a:r>
            <a:r>
              <a:rPr lang="en-US" altLang="zh-CN" sz="1500"/>
              <a:t>MiniMax M2.5</a:t>
            </a:r>
          </a:p>
        </p:txBody>
      </p:sp>
      <p:pic>
        <p:nvPicPr>
          <p:cNvPr id="7" name="图片 6"/>
          <p:cNvPicPr>
            <a:picLocks noChangeAspect="1"/>
          </p:cNvPicPr>
          <p:nvPr>
            <p:custDataLst>
              <p:tags r:id="rId2"/>
            </p:custDataLst>
          </p:nvPr>
        </p:nvPicPr>
        <p:blipFill>
          <a:blip r:embed="rId9"/>
          <a:stretch>
            <a:fillRect/>
          </a:stretch>
        </p:blipFill>
        <p:spPr>
          <a:xfrm>
            <a:off x="4210050" y="1734503"/>
            <a:ext cx="1609249" cy="845344"/>
          </a:xfrm>
          <a:prstGeom prst="rect">
            <a:avLst/>
          </a:prstGeom>
        </p:spPr>
      </p:pic>
      <p:pic>
        <p:nvPicPr>
          <p:cNvPr id="8" name="图片 7"/>
          <p:cNvPicPr>
            <a:picLocks noChangeAspect="1"/>
          </p:cNvPicPr>
          <p:nvPr>
            <p:custDataLst>
              <p:tags r:id="rId3"/>
            </p:custDataLst>
          </p:nvPr>
        </p:nvPicPr>
        <p:blipFill>
          <a:blip r:embed="rId10"/>
          <a:stretch>
            <a:fillRect/>
          </a:stretch>
        </p:blipFill>
        <p:spPr>
          <a:xfrm>
            <a:off x="4210050" y="2635568"/>
            <a:ext cx="2693670" cy="568166"/>
          </a:xfrm>
          <a:prstGeom prst="rect">
            <a:avLst/>
          </a:prstGeom>
        </p:spPr>
      </p:pic>
      <p:pic>
        <p:nvPicPr>
          <p:cNvPr id="9" name="图片 8"/>
          <p:cNvPicPr>
            <a:picLocks noChangeAspect="1"/>
          </p:cNvPicPr>
          <p:nvPr>
            <p:custDataLst>
              <p:tags r:id="rId4"/>
            </p:custDataLst>
          </p:nvPr>
        </p:nvPicPr>
        <p:blipFill>
          <a:blip r:embed="rId11"/>
          <a:stretch>
            <a:fillRect/>
          </a:stretch>
        </p:blipFill>
        <p:spPr>
          <a:xfrm>
            <a:off x="6711315" y="1813084"/>
            <a:ext cx="717709" cy="717709"/>
          </a:xfrm>
          <a:prstGeom prst="rect">
            <a:avLst/>
          </a:prstGeom>
        </p:spPr>
      </p:pic>
      <p:pic>
        <p:nvPicPr>
          <p:cNvPr id="11" name="图片 10"/>
          <p:cNvPicPr>
            <a:picLocks noChangeAspect="1"/>
          </p:cNvPicPr>
          <p:nvPr>
            <p:custDataLst>
              <p:tags r:id="rId5"/>
            </p:custDataLst>
          </p:nvPr>
        </p:nvPicPr>
        <p:blipFill>
          <a:blip r:embed="rId12"/>
          <a:stretch>
            <a:fillRect/>
          </a:stretch>
        </p:blipFill>
        <p:spPr>
          <a:xfrm>
            <a:off x="5893118" y="1800701"/>
            <a:ext cx="762476" cy="762476"/>
          </a:xfrm>
          <a:prstGeom prst="rect">
            <a:avLst/>
          </a:prstGeom>
        </p:spPr>
      </p:pic>
      <p:pic>
        <p:nvPicPr>
          <p:cNvPr id="12" name="图片 11"/>
          <p:cNvPicPr>
            <a:picLocks noChangeAspect="1"/>
          </p:cNvPicPr>
          <p:nvPr>
            <p:custDataLst>
              <p:tags r:id="rId6"/>
            </p:custDataLst>
          </p:nvPr>
        </p:nvPicPr>
        <p:blipFill>
          <a:blip r:embed="rId13"/>
          <a:stretch>
            <a:fillRect/>
          </a:stretch>
        </p:blipFill>
        <p:spPr>
          <a:xfrm>
            <a:off x="4090988" y="3259455"/>
            <a:ext cx="4822508" cy="269224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endParaRPr lang="zh-CN" altLang="en-US"/>
          </a:p>
        </p:txBody>
      </p:sp>
      <p:sp>
        <p:nvSpPr>
          <p:cNvPr id="89" name="关于我们"/>
          <p:cNvSpPr/>
          <p:nvPr>
            <p:custDataLst>
              <p:tags r:id="rId1"/>
            </p:custDataLst>
          </p:nvPr>
        </p:nvSpPr>
        <p:spPr>
          <a:xfrm>
            <a:off x="107156" y="1192054"/>
            <a:ext cx="5925026" cy="706755"/>
          </a:xfrm>
          <a:prstGeom prst="rect">
            <a:avLst/>
          </a:prstGeom>
        </p:spPr>
        <p:txBody>
          <a:bodyPr wrap="square">
            <a:spAutoFit/>
          </a:bodyPr>
          <a:lstStyle/>
          <a:p>
            <a:pPr algn="l" eaLnBrk="1" fontAlgn="auto" hangingPunct="1">
              <a:spcBef>
                <a:spcPts val="0"/>
              </a:spcBef>
              <a:spcAft>
                <a:spcPts val="0"/>
              </a:spcAft>
              <a:buClrTx/>
              <a:buSzTx/>
              <a:buFontTx/>
              <a:defRPr/>
            </a:pPr>
            <a:r>
              <a:rPr kumimoji="1" lang="zh-CN" altLang="en-US" sz="4000" b="1" dirty="0">
                <a:solidFill>
                  <a:schemeClr val="accent2"/>
                </a:solidFill>
                <a:latin typeface="+mj-lt"/>
                <a:ea typeface="楷体_GB2312" pitchFamily="49" charset="-122"/>
                <a:cs typeface="+mj-cs"/>
                <a:sym typeface="+mn-ea"/>
              </a:rPr>
              <a:t>AI编程平台与工具</a:t>
            </a:r>
            <a:endParaRPr kumimoji="1" lang="zh-CN" altLang="en-US" sz="4000" b="1" dirty="0">
              <a:solidFill>
                <a:schemeClr val="accent2"/>
              </a:solidFill>
              <a:latin typeface="+mj-lt"/>
              <a:ea typeface="楷体_GB2312" pitchFamily="49" charset="-122"/>
              <a:cs typeface="+mj-cs"/>
            </a:endParaRPr>
          </a:p>
        </p:txBody>
      </p:sp>
      <p:pic>
        <p:nvPicPr>
          <p:cNvPr id="2" name="图片 1"/>
          <p:cNvPicPr>
            <a:picLocks noChangeAspect="1"/>
          </p:cNvPicPr>
          <p:nvPr>
            <p:custDataLst>
              <p:tags r:id="rId2"/>
            </p:custDataLst>
          </p:nvPr>
        </p:nvPicPr>
        <p:blipFill>
          <a:blip r:embed="rId4"/>
          <a:stretch>
            <a:fillRect/>
          </a:stretch>
        </p:blipFill>
        <p:spPr>
          <a:xfrm>
            <a:off x="307658" y="2055019"/>
            <a:ext cx="8101965" cy="3852386"/>
          </a:xfrm>
          <a:prstGeom prst="rect">
            <a:avLst/>
          </a:prstGeom>
        </p:spPr>
      </p:pic>
      <p:sp>
        <p:nvSpPr>
          <p:cNvPr id="3" name="文本框 2"/>
          <p:cNvSpPr txBox="1"/>
          <p:nvPr/>
        </p:nvSpPr>
        <p:spPr>
          <a:xfrm>
            <a:off x="298609" y="1734979"/>
            <a:ext cx="4572000" cy="368300"/>
          </a:xfrm>
          <a:prstGeom prst="rect">
            <a:avLst/>
          </a:prstGeom>
          <a:noFill/>
        </p:spPr>
        <p:txBody>
          <a:bodyPr wrap="square" rtlCol="0" anchor="t">
            <a:spAutoFit/>
          </a:bodyPr>
          <a:lstStyle/>
          <a:p>
            <a:r>
              <a:rPr lang="zh-CN" altLang="en-US" sz="1800"/>
              <a:t>https://www.trae.ai/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框 2"/>
          <p:cNvSpPr txBox="1"/>
          <p:nvPr/>
        </p:nvSpPr>
        <p:spPr>
          <a:xfrm>
            <a:off x="298609" y="1734979"/>
            <a:ext cx="4572000" cy="368300"/>
          </a:xfrm>
          <a:prstGeom prst="rect">
            <a:avLst/>
          </a:prstGeom>
          <a:noFill/>
        </p:spPr>
        <p:txBody>
          <a:bodyPr wrap="square" rtlCol="0" anchor="t">
            <a:spAutoFit/>
          </a:bodyPr>
          <a:lstStyle/>
          <a:p>
            <a:r>
              <a:rPr lang="zh-CN" altLang="en-US" sz="1800"/>
              <a:t>https://www.codebuddy.ai/</a:t>
            </a:r>
          </a:p>
        </p:txBody>
      </p:sp>
      <p:pic>
        <p:nvPicPr>
          <p:cNvPr id="4" name="图片 3"/>
          <p:cNvPicPr>
            <a:picLocks noChangeAspect="1"/>
          </p:cNvPicPr>
          <p:nvPr>
            <p:custDataLst>
              <p:tags r:id="rId1"/>
            </p:custDataLst>
          </p:nvPr>
        </p:nvPicPr>
        <p:blipFill>
          <a:blip r:embed="rId4"/>
          <a:stretch>
            <a:fillRect/>
          </a:stretch>
        </p:blipFill>
        <p:spPr>
          <a:xfrm>
            <a:off x="631031" y="2075974"/>
            <a:ext cx="7390924" cy="3739991"/>
          </a:xfrm>
          <a:prstGeom prst="rect">
            <a:avLst/>
          </a:prstGeom>
        </p:spPr>
      </p:pic>
      <p:sp>
        <p:nvSpPr>
          <p:cNvPr id="5" name="关于我们"/>
          <p:cNvSpPr/>
          <p:nvPr>
            <p:custDataLst>
              <p:tags r:id="rId2"/>
            </p:custDataLst>
          </p:nvPr>
        </p:nvSpPr>
        <p:spPr>
          <a:xfrm>
            <a:off x="755491" y="837089"/>
            <a:ext cx="5925026" cy="706755"/>
          </a:xfrm>
          <a:prstGeom prst="rect">
            <a:avLst/>
          </a:prstGeom>
        </p:spPr>
        <p:txBody>
          <a:bodyPr wrap="square">
            <a:spAutoFit/>
          </a:bodyPr>
          <a:lstStyle/>
          <a:p>
            <a:pPr eaLnBrk="1" fontAlgn="auto" hangingPunct="1">
              <a:spcBef>
                <a:spcPts val="0"/>
              </a:spcBef>
              <a:spcAft>
                <a:spcPts val="0"/>
              </a:spcAft>
              <a:defRPr/>
            </a:pPr>
            <a:r>
              <a:rPr kumimoji="1" lang="zh-CN" altLang="en-US" sz="4000" b="1" dirty="0">
                <a:solidFill>
                  <a:schemeClr val="accent2"/>
                </a:solidFill>
                <a:latin typeface="+mj-lt"/>
                <a:ea typeface="楷体_GB2312" pitchFamily="49" charset="-122"/>
                <a:cs typeface="+mj-cs"/>
              </a:rPr>
              <a:t>AI编程平台与工具</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endParaRPr lang="zh-CN" altLang="en-US"/>
          </a:p>
        </p:txBody>
      </p:sp>
      <p:sp>
        <p:nvSpPr>
          <p:cNvPr id="3" name="文本框 2"/>
          <p:cNvSpPr txBox="1"/>
          <p:nvPr/>
        </p:nvSpPr>
        <p:spPr>
          <a:xfrm>
            <a:off x="298609" y="1734979"/>
            <a:ext cx="4572000" cy="368300"/>
          </a:xfrm>
          <a:prstGeom prst="rect">
            <a:avLst/>
          </a:prstGeom>
          <a:noFill/>
        </p:spPr>
        <p:txBody>
          <a:bodyPr wrap="square" rtlCol="0" anchor="t">
            <a:spAutoFit/>
          </a:bodyPr>
          <a:lstStyle/>
          <a:p>
            <a:r>
              <a:rPr lang="zh-CN" altLang="en-US" sz="1800"/>
              <a:t>https://claude.com/product/claude-code/</a:t>
            </a:r>
          </a:p>
        </p:txBody>
      </p:sp>
      <p:pic>
        <p:nvPicPr>
          <p:cNvPr id="2" name="图片 1"/>
          <p:cNvPicPr>
            <a:picLocks noChangeAspect="1"/>
          </p:cNvPicPr>
          <p:nvPr>
            <p:custDataLst>
              <p:tags r:id="rId1"/>
            </p:custDataLst>
          </p:nvPr>
        </p:nvPicPr>
        <p:blipFill>
          <a:blip r:embed="rId4"/>
          <a:stretch>
            <a:fillRect/>
          </a:stretch>
        </p:blipFill>
        <p:spPr>
          <a:xfrm>
            <a:off x="415766" y="2066925"/>
            <a:ext cx="8107680" cy="3759994"/>
          </a:xfrm>
          <a:prstGeom prst="rect">
            <a:avLst/>
          </a:prstGeom>
        </p:spPr>
      </p:pic>
      <p:sp>
        <p:nvSpPr>
          <p:cNvPr id="5" name="关于我们"/>
          <p:cNvSpPr/>
          <p:nvPr>
            <p:custDataLst>
              <p:tags r:id="rId2"/>
            </p:custDataLst>
          </p:nvPr>
        </p:nvSpPr>
        <p:spPr>
          <a:xfrm>
            <a:off x="755491" y="837089"/>
            <a:ext cx="5925026" cy="706755"/>
          </a:xfrm>
          <a:prstGeom prst="rect">
            <a:avLst/>
          </a:prstGeom>
        </p:spPr>
        <p:txBody>
          <a:bodyPr wrap="square">
            <a:spAutoFit/>
          </a:bodyPr>
          <a:lstStyle/>
          <a:p>
            <a:pPr eaLnBrk="1" fontAlgn="auto" hangingPunct="1">
              <a:spcBef>
                <a:spcPts val="0"/>
              </a:spcBef>
              <a:spcAft>
                <a:spcPts val="0"/>
              </a:spcAft>
              <a:defRPr/>
            </a:pPr>
            <a:r>
              <a:rPr kumimoji="1" lang="zh-CN" altLang="en-US" sz="4000" b="1" dirty="0">
                <a:solidFill>
                  <a:schemeClr val="accent2"/>
                </a:solidFill>
                <a:latin typeface="+mj-lt"/>
                <a:ea typeface="楷体_GB2312" pitchFamily="49" charset="-122"/>
                <a:cs typeface="+mj-cs"/>
              </a:rPr>
              <a:t>AI编程平台与工具</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框 2"/>
          <p:cNvSpPr txBox="1"/>
          <p:nvPr/>
        </p:nvSpPr>
        <p:spPr>
          <a:xfrm>
            <a:off x="298609" y="1734979"/>
            <a:ext cx="4572000" cy="368300"/>
          </a:xfrm>
          <a:prstGeom prst="rect">
            <a:avLst/>
          </a:prstGeom>
          <a:noFill/>
        </p:spPr>
        <p:txBody>
          <a:bodyPr wrap="square" rtlCol="0" anchor="t">
            <a:spAutoFit/>
          </a:bodyPr>
          <a:lstStyle/>
          <a:p>
            <a:r>
              <a:rPr lang="zh-CN" altLang="en-US" sz="1800"/>
              <a:t>https://cursor.com/</a:t>
            </a:r>
          </a:p>
        </p:txBody>
      </p:sp>
      <p:pic>
        <p:nvPicPr>
          <p:cNvPr id="4" name="图片 3"/>
          <p:cNvPicPr>
            <a:picLocks noChangeAspect="1"/>
          </p:cNvPicPr>
          <p:nvPr>
            <p:custDataLst>
              <p:tags r:id="rId1"/>
            </p:custDataLst>
          </p:nvPr>
        </p:nvPicPr>
        <p:blipFill>
          <a:blip r:embed="rId4"/>
          <a:stretch>
            <a:fillRect/>
          </a:stretch>
        </p:blipFill>
        <p:spPr>
          <a:xfrm>
            <a:off x="628650" y="2092643"/>
            <a:ext cx="7636669" cy="3766661"/>
          </a:xfrm>
          <a:prstGeom prst="rect">
            <a:avLst/>
          </a:prstGeom>
        </p:spPr>
      </p:pic>
      <p:sp>
        <p:nvSpPr>
          <p:cNvPr id="5" name="关于我们"/>
          <p:cNvSpPr/>
          <p:nvPr>
            <p:custDataLst>
              <p:tags r:id="rId2"/>
            </p:custDataLst>
          </p:nvPr>
        </p:nvSpPr>
        <p:spPr>
          <a:xfrm>
            <a:off x="755491" y="837089"/>
            <a:ext cx="5925026" cy="706755"/>
          </a:xfrm>
          <a:prstGeom prst="rect">
            <a:avLst/>
          </a:prstGeom>
        </p:spPr>
        <p:txBody>
          <a:bodyPr wrap="square">
            <a:spAutoFit/>
          </a:bodyPr>
          <a:lstStyle/>
          <a:p>
            <a:pPr eaLnBrk="1" fontAlgn="auto" hangingPunct="1">
              <a:spcBef>
                <a:spcPts val="0"/>
              </a:spcBef>
              <a:spcAft>
                <a:spcPts val="0"/>
              </a:spcAft>
              <a:defRPr/>
            </a:pPr>
            <a:r>
              <a:rPr kumimoji="1" lang="zh-CN" altLang="en-US" sz="4000" b="1" dirty="0">
                <a:solidFill>
                  <a:schemeClr val="accent2"/>
                </a:solidFill>
                <a:latin typeface="+mj-lt"/>
                <a:ea typeface="楷体_GB2312" pitchFamily="49" charset="-122"/>
                <a:cs typeface="+mj-cs"/>
              </a:rPr>
              <a:t>AI编程平台与工具</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126206" y="1643063"/>
            <a:ext cx="8891588" cy="452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00"/>
          </a:p>
        </p:txBody>
      </p:sp>
      <p:sp>
        <p:nvSpPr>
          <p:cNvPr id="2" name="标题 1"/>
          <p:cNvSpPr>
            <a:spLocks noGrp="1"/>
          </p:cNvSpPr>
          <p:nvPr>
            <p:ph type="title"/>
            <p:custDataLst>
              <p:tags r:id="rId1"/>
            </p:custDataLst>
          </p:nvPr>
        </p:nvSpPr>
        <p:spPr/>
        <p:txBody>
          <a:bodyPr/>
          <a:lstStyle/>
          <a:p>
            <a:pPr algn="l" defTabSz="914400" eaLnBrk="1" fontAlgn="auto" hangingPunct="1">
              <a:spcBef>
                <a:spcPts val="0"/>
              </a:spcBef>
              <a:spcAft>
                <a:spcPts val="0"/>
              </a:spcAft>
              <a:buClrTx/>
              <a:buSzTx/>
              <a:buFontTx/>
              <a:defRPr/>
            </a:pPr>
            <a:r>
              <a:rPr lang="zh-CN" altLang="en-US" sz="4000" b="1" dirty="0">
                <a:solidFill>
                  <a:schemeClr val="accent2"/>
                </a:solidFill>
                <a:ea typeface="楷体_GB2312" pitchFamily="49" charset="-122"/>
                <a:sym typeface="+mn-ea"/>
              </a:rPr>
              <a:t>AI辅助全栈开发路线图</a:t>
            </a:r>
          </a:p>
        </p:txBody>
      </p:sp>
      <p:sp>
        <p:nvSpPr>
          <p:cNvPr id="4" name="文本框 3"/>
          <p:cNvSpPr txBox="1"/>
          <p:nvPr/>
        </p:nvSpPr>
        <p:spPr>
          <a:xfrm>
            <a:off x="289560" y="1818640"/>
            <a:ext cx="6109335" cy="321945"/>
          </a:xfrm>
          <a:prstGeom prst="rect">
            <a:avLst/>
          </a:prstGeom>
          <a:noFill/>
        </p:spPr>
        <p:txBody>
          <a:bodyPr wrap="square" rtlCol="0" anchor="t">
            <a:spAutoFit/>
          </a:bodyPr>
          <a:lstStyle/>
          <a:p>
            <a:r>
              <a:rPr lang="zh-CN" altLang="en-US" sz="1500" b="1"/>
              <a:t>阶段一：产品定义与功能设计 (The "What" &amp; "Why")</a:t>
            </a:r>
          </a:p>
        </p:txBody>
      </p:sp>
      <p:sp>
        <p:nvSpPr>
          <p:cNvPr id="6" name="文本框 5"/>
          <p:cNvSpPr txBox="1"/>
          <p:nvPr/>
        </p:nvSpPr>
        <p:spPr>
          <a:xfrm>
            <a:off x="280511" y="2175986"/>
            <a:ext cx="8515826" cy="3646170"/>
          </a:xfrm>
          <a:prstGeom prst="rect">
            <a:avLst/>
          </a:prstGeom>
          <a:noFill/>
        </p:spPr>
        <p:txBody>
          <a:bodyPr wrap="square" rtlCol="0" anchor="t">
            <a:spAutoFit/>
          </a:bodyPr>
          <a:lstStyle/>
          <a:p>
            <a:pPr>
              <a:lnSpc>
                <a:spcPct val="150000"/>
              </a:lnSpc>
            </a:pPr>
            <a:r>
              <a:rPr lang="zh-CN" altLang="en-US" sz="1400" b="1"/>
              <a:t>目标：</a:t>
            </a:r>
            <a:r>
              <a:rPr lang="zh-CN" altLang="en-US" sz="1400"/>
              <a:t>把脑海中模糊的想法，变成清晰的功能列表（Feature List）。</a:t>
            </a:r>
          </a:p>
          <a:p>
            <a:pPr>
              <a:lnSpc>
                <a:spcPct val="150000"/>
              </a:lnSpc>
            </a:pPr>
            <a:r>
              <a:rPr lang="zh-CN" altLang="en-US" sz="1400" b="1"/>
              <a:t>AI 角色</a:t>
            </a:r>
            <a:r>
              <a:rPr lang="zh-CN" altLang="en-US" sz="1400"/>
              <a:t>：产品经理 (PM)</a:t>
            </a:r>
          </a:p>
          <a:p>
            <a:pPr>
              <a:lnSpc>
                <a:spcPct val="150000"/>
              </a:lnSpc>
            </a:pPr>
            <a:r>
              <a:rPr lang="zh-CN" altLang="en-US" sz="1400" b="1"/>
              <a:t>操作步骤</a:t>
            </a:r>
            <a:r>
              <a:rPr lang="zh-CN" altLang="en-US" sz="1400"/>
              <a:t>：</a:t>
            </a:r>
          </a:p>
          <a:p>
            <a:pPr marL="342900" indent="-342900">
              <a:lnSpc>
                <a:spcPct val="150000"/>
              </a:lnSpc>
              <a:buFont typeface="Arial" panose="020B0604020202020204" pitchFamily="34" charset="0"/>
              <a:buAutoNum type="arabicPeriod"/>
            </a:pPr>
            <a:r>
              <a:rPr lang="zh-CN" altLang="en-US" sz="1400"/>
              <a:t>一句话描述想法：告诉 AI 你想做什么（例如：“我想做一个针对大学生的二手书交易平台”）。</a:t>
            </a:r>
          </a:p>
          <a:p>
            <a:pPr marL="342900" indent="-342900">
              <a:lnSpc>
                <a:spcPct val="150000"/>
              </a:lnSpc>
              <a:buFont typeface="Arial" panose="020B0604020202020204" pitchFamily="34" charset="0"/>
              <a:buAutoNum type="arabicPeriod"/>
            </a:pPr>
            <a:r>
              <a:rPr lang="zh-CN" altLang="en-US" sz="1400"/>
              <a:t>思维发散与收敛：</a:t>
            </a:r>
          </a:p>
          <a:p>
            <a:pPr marL="800100" lvl="1" indent="-342900">
              <a:lnSpc>
                <a:spcPct val="150000"/>
              </a:lnSpc>
              <a:buFont typeface="Arial" panose="020B0604020202020204" pitchFamily="34" charset="0"/>
              <a:buChar char="•"/>
            </a:pPr>
            <a:r>
              <a:rPr lang="zh-CN" altLang="en-US" sz="1400"/>
              <a:t>Prompt 示例：“作为一名资深产品经理，请帮我分析这个产品的用户痛点，并列出 MVP（最小可行性产品）版本必须包含的核心功能，以及未来可以迭代的高级功能。”</a:t>
            </a:r>
          </a:p>
          <a:p>
            <a:pPr marL="342900" indent="-342900">
              <a:lnSpc>
                <a:spcPct val="150000"/>
              </a:lnSpc>
              <a:buFont typeface="Arial" panose="020B0604020202020204" pitchFamily="34" charset="0"/>
              <a:buAutoNum type="arabicPeriod"/>
            </a:pPr>
            <a:r>
              <a:rPr lang="zh-CN" altLang="en-US" sz="1400"/>
              <a:t>生成功能列表：</a:t>
            </a:r>
          </a:p>
          <a:p>
            <a:pPr marL="800100" lvl="1" indent="-342900">
              <a:lnSpc>
                <a:spcPct val="150000"/>
              </a:lnSpc>
              <a:buFont typeface="Arial" panose="020B0604020202020204" pitchFamily="34" charset="0"/>
              <a:buChar char="•"/>
            </a:pPr>
            <a:r>
              <a:rPr lang="zh-CN" altLang="en-US" sz="1400"/>
              <a:t>Prompt 示例：“请基于 MVP 版本，整理一份详细的功能模块表，包含用户端和管理端。例如：用户注册、书籍发布、搜索、私信聊天等。”</a:t>
            </a:r>
          </a:p>
          <a:p>
            <a:pPr marL="342900" indent="-342900">
              <a:lnSpc>
                <a:spcPct val="150000"/>
              </a:lnSpc>
              <a:buFont typeface="Arial" panose="020B0604020202020204" pitchFamily="34" charset="0"/>
              <a:buAutoNum type="arabicPeriod"/>
            </a:pPr>
            <a:r>
              <a:rPr lang="zh-CN" altLang="en-US" sz="1400"/>
              <a:t>产出物：一份包含核心功能点的思维导图或列表（Markdown 格式）。</a:t>
            </a:r>
          </a:p>
        </p:txBody>
      </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126206" y="1643063"/>
            <a:ext cx="8891588" cy="452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00"/>
          </a:p>
        </p:txBody>
      </p:sp>
      <p:sp>
        <p:nvSpPr>
          <p:cNvPr id="4" name="文本框 3"/>
          <p:cNvSpPr txBox="1"/>
          <p:nvPr/>
        </p:nvSpPr>
        <p:spPr>
          <a:xfrm>
            <a:off x="289560" y="1818799"/>
            <a:ext cx="4572000" cy="321945"/>
          </a:xfrm>
          <a:prstGeom prst="rect">
            <a:avLst/>
          </a:prstGeom>
          <a:noFill/>
        </p:spPr>
        <p:txBody>
          <a:bodyPr wrap="square" rtlCol="0" anchor="t">
            <a:spAutoFit/>
          </a:bodyPr>
          <a:lstStyle/>
          <a:p>
            <a:r>
              <a:rPr lang="zh-CN" altLang="en-US" sz="1500" b="1"/>
              <a:t>阶段二：技术选型与架构设计 (The "How" - Macro)</a:t>
            </a:r>
          </a:p>
        </p:txBody>
      </p:sp>
      <p:sp>
        <p:nvSpPr>
          <p:cNvPr id="6" name="文本框 5"/>
          <p:cNvSpPr txBox="1"/>
          <p:nvPr/>
        </p:nvSpPr>
        <p:spPr>
          <a:xfrm>
            <a:off x="280511" y="2175986"/>
            <a:ext cx="8515826" cy="3738245"/>
          </a:xfrm>
          <a:prstGeom prst="rect">
            <a:avLst/>
          </a:prstGeom>
          <a:noFill/>
        </p:spPr>
        <p:txBody>
          <a:bodyPr wrap="square" rtlCol="0" anchor="t">
            <a:spAutoFit/>
          </a:bodyPr>
          <a:lstStyle/>
          <a:p>
            <a:pPr>
              <a:lnSpc>
                <a:spcPct val="150000"/>
              </a:lnSpc>
            </a:pPr>
            <a:r>
              <a:rPr lang="zh-CN" altLang="en-US" sz="1400" b="1"/>
              <a:t>目标：</a:t>
            </a:r>
            <a:r>
              <a:rPr lang="zh-CN" altLang="en-US" sz="1400"/>
              <a:t>确定用什么工具（语言/框架）来实现，以及系统长什么样。（这里需要你的“</a:t>
            </a:r>
            <a:r>
              <a:rPr lang="zh-CN" altLang="en-US" sz="1400">
                <a:solidFill>
                  <a:srgbClr val="FF0000"/>
                </a:solidFill>
              </a:rPr>
              <a:t>权衡力</a:t>
            </a:r>
            <a:r>
              <a:rPr lang="zh-CN" altLang="en-US" sz="1400"/>
              <a:t>”）。</a:t>
            </a:r>
          </a:p>
          <a:p>
            <a:pPr>
              <a:lnSpc>
                <a:spcPct val="150000"/>
              </a:lnSpc>
            </a:pPr>
            <a:r>
              <a:rPr lang="zh-CN" altLang="en-US" sz="1400" b="1"/>
              <a:t>AI 角色</a:t>
            </a:r>
            <a:r>
              <a:rPr lang="zh-CN" altLang="en-US" sz="1400"/>
              <a:t>：架构师</a:t>
            </a:r>
          </a:p>
          <a:p>
            <a:pPr>
              <a:lnSpc>
                <a:spcPct val="150000"/>
              </a:lnSpc>
            </a:pPr>
            <a:r>
              <a:rPr lang="zh-CN" altLang="en-US" sz="1400" b="1"/>
              <a:t>操作步骤</a:t>
            </a:r>
            <a:r>
              <a:rPr lang="zh-CN" altLang="en-US" sz="1400"/>
              <a:t>：</a:t>
            </a:r>
          </a:p>
          <a:p>
            <a:pPr marL="342900" indent="-342900">
              <a:lnSpc>
                <a:spcPct val="150000"/>
              </a:lnSpc>
              <a:buFont typeface="Arial" panose="020B0604020202020204" pitchFamily="34" charset="0"/>
              <a:buAutoNum type="arabicPeriod"/>
            </a:pPr>
            <a:r>
              <a:rPr lang="zh-CN" altLang="en-US" sz="1400"/>
              <a:t>亮出底牌（约束条件）：</a:t>
            </a:r>
          </a:p>
          <a:p>
            <a:pPr marL="800100" lvl="1" indent="-342900">
              <a:lnSpc>
                <a:spcPct val="150000"/>
              </a:lnSpc>
              <a:buFont typeface="Arial" panose="020B0604020202020204" pitchFamily="34" charset="0"/>
              <a:buChar char="•"/>
            </a:pPr>
            <a:r>
              <a:rPr lang="zh-CN" altLang="en-US" sz="1400"/>
              <a:t>Prompt 示例：“我是编程初学者，希望快速开发，追求开发效率高、社区文档丰富、部署简单的技术栈。请推荐 2-3 套全栈技术方案，并对比优缺点。”</a:t>
            </a:r>
          </a:p>
          <a:p>
            <a:pPr marL="0" indent="457200">
              <a:lnSpc>
                <a:spcPct val="150000"/>
              </a:lnSpc>
              <a:buFont typeface="Arial" panose="020B0604020202020204" pitchFamily="34" charset="0"/>
              <a:buNone/>
            </a:pPr>
            <a:r>
              <a:rPr lang="zh-CN" altLang="en-US" sz="1400"/>
              <a:t>（AI 可能会推荐：Next.js + Supabase，或者 Vue3 + Python FastAPI）</a:t>
            </a:r>
          </a:p>
          <a:p>
            <a:pPr marL="0" indent="0">
              <a:lnSpc>
                <a:spcPct val="150000"/>
              </a:lnSpc>
              <a:buFont typeface="Arial" panose="020B0604020202020204" pitchFamily="34" charset="0"/>
              <a:buNone/>
            </a:pPr>
            <a:r>
              <a:rPr lang="en-US" altLang="zh-CN" sz="1400"/>
              <a:t>2.  </a:t>
            </a:r>
            <a:r>
              <a:rPr lang="zh-CN" altLang="en-US" sz="1400"/>
              <a:t>选定方案与架构图：</a:t>
            </a:r>
          </a:p>
          <a:p>
            <a:pPr marL="742950" lvl="1" indent="-285750">
              <a:lnSpc>
                <a:spcPct val="150000"/>
              </a:lnSpc>
              <a:buFont typeface="Arial" panose="020B0604020202020204" pitchFamily="34" charset="0"/>
              <a:buChar char="•"/>
            </a:pPr>
            <a:r>
              <a:rPr lang="zh-CN" altLang="en-US" sz="1400"/>
              <a:t>Prompt 示例：“我决定使用 Next.js + Tailwind CSS + Supabase。请帮我设计系统架构，用 Mermaid 语法画出系统架构图，展示前端、后端、数据库和文件存储的交互关系。”</a:t>
            </a:r>
          </a:p>
          <a:p>
            <a:pPr marL="0" indent="0">
              <a:lnSpc>
                <a:spcPct val="150000"/>
              </a:lnSpc>
              <a:buFont typeface="Arial" panose="020B0604020202020204" pitchFamily="34" charset="0"/>
              <a:buNone/>
            </a:pPr>
            <a:r>
              <a:rPr lang="en-US" altLang="zh-CN" sz="1800"/>
              <a:t>3. </a:t>
            </a:r>
            <a:r>
              <a:rPr lang="zh-CN" altLang="en-US" sz="1800"/>
              <a:t>产出物：选定的技术栈清单、系统架构草图。</a:t>
            </a:r>
          </a:p>
        </p:txBody>
      </p:sp>
      <p:sp>
        <p:nvSpPr>
          <p:cNvPr id="3" name="文本框 2"/>
          <p:cNvSpPr txBox="1"/>
          <p:nvPr/>
        </p:nvSpPr>
        <p:spPr>
          <a:xfrm>
            <a:off x="3893344" y="2738914"/>
            <a:ext cx="4844415" cy="368300"/>
          </a:xfrm>
          <a:prstGeom prst="rect">
            <a:avLst/>
          </a:prstGeom>
          <a:noFill/>
        </p:spPr>
        <p:txBody>
          <a:bodyPr wrap="square" rtlCol="0">
            <a:spAutoFit/>
          </a:bodyPr>
          <a:lstStyle/>
          <a:p>
            <a:r>
              <a:rPr lang="en-US" altLang="zh-CN" sz="1800">
                <a:solidFill>
                  <a:srgbClr val="FF0000"/>
                </a:solidFill>
              </a:rPr>
              <a:t>AI</a:t>
            </a:r>
            <a:r>
              <a:rPr lang="zh-CN" altLang="en-US" sz="1800">
                <a:solidFill>
                  <a:srgbClr val="FF0000"/>
                </a:solidFill>
              </a:rPr>
              <a:t>比较擅长：</a:t>
            </a:r>
            <a:r>
              <a:rPr lang="en-US" altLang="zh-CN" sz="1800">
                <a:solidFill>
                  <a:srgbClr val="FF0000"/>
                </a:solidFill>
              </a:rPr>
              <a:t>Python</a:t>
            </a:r>
            <a:r>
              <a:rPr lang="zh-CN" altLang="en-US" sz="1800">
                <a:solidFill>
                  <a:srgbClr val="FF0000"/>
                </a:solidFill>
              </a:rPr>
              <a:t>、</a:t>
            </a:r>
            <a:r>
              <a:rPr lang="en-US" altLang="zh-CN" sz="1800">
                <a:solidFill>
                  <a:srgbClr val="FF0000"/>
                </a:solidFill>
              </a:rPr>
              <a:t>JavaScript/TypeScript</a:t>
            </a:r>
          </a:p>
        </p:txBody>
      </p:sp>
      <p:sp>
        <p:nvSpPr>
          <p:cNvPr id="7" name="标题 6"/>
          <p:cNvSpPr>
            <a:spLocks noGrp="1"/>
          </p:cNvSpPr>
          <p:nvPr>
            <p:ph type="title"/>
            <p:custDataLst>
              <p:tags r:id="rId1"/>
            </p:custDataLst>
          </p:nvPr>
        </p:nvSpPr>
        <p:spPr/>
        <p:txBody>
          <a:bodyPr/>
          <a:lstStyle/>
          <a:p>
            <a:r>
              <a:rPr lang="zh-CN" altLang="en-US" sz="4000" b="1" dirty="0">
                <a:solidFill>
                  <a:schemeClr val="accent2"/>
                </a:solidFill>
                <a:ea typeface="楷体_GB2312" pitchFamily="49" charset="-122"/>
                <a:sym typeface="+mn-ea"/>
              </a:rPr>
              <a:t>AI辅助全栈开发路线图</a:t>
            </a:r>
            <a:endParaRPr sz="2100" dirty="0">
              <a:solidFill>
                <a:schemeClr val="tx1">
                  <a:lumMod val="85000"/>
                  <a:lumOff val="15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126206" y="1643063"/>
            <a:ext cx="8891588" cy="452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00"/>
          </a:p>
        </p:txBody>
      </p:sp>
      <p:sp>
        <p:nvSpPr>
          <p:cNvPr id="4" name="文本框 3"/>
          <p:cNvSpPr txBox="1"/>
          <p:nvPr/>
        </p:nvSpPr>
        <p:spPr>
          <a:xfrm>
            <a:off x="289560" y="1818799"/>
            <a:ext cx="4572000" cy="321945"/>
          </a:xfrm>
          <a:prstGeom prst="rect">
            <a:avLst/>
          </a:prstGeom>
          <a:noFill/>
        </p:spPr>
        <p:txBody>
          <a:bodyPr wrap="square" rtlCol="0" anchor="t">
            <a:spAutoFit/>
          </a:bodyPr>
          <a:lstStyle/>
          <a:p>
            <a:r>
              <a:rPr lang="zh-CN" altLang="en-US" sz="1500" b="1"/>
              <a:t>阶段三：数据库设计 (The Foundation)</a:t>
            </a:r>
          </a:p>
        </p:txBody>
      </p:sp>
      <p:sp>
        <p:nvSpPr>
          <p:cNvPr id="6" name="文本框 5"/>
          <p:cNvSpPr txBox="1"/>
          <p:nvPr/>
        </p:nvSpPr>
        <p:spPr>
          <a:xfrm>
            <a:off x="280511" y="2175986"/>
            <a:ext cx="8515826" cy="3322955"/>
          </a:xfrm>
          <a:prstGeom prst="rect">
            <a:avLst/>
          </a:prstGeom>
          <a:noFill/>
        </p:spPr>
        <p:txBody>
          <a:bodyPr wrap="square" rtlCol="0" anchor="t">
            <a:spAutoFit/>
          </a:bodyPr>
          <a:lstStyle/>
          <a:p>
            <a:pPr>
              <a:lnSpc>
                <a:spcPct val="150000"/>
              </a:lnSpc>
            </a:pPr>
            <a:r>
              <a:rPr lang="zh-CN" altLang="en-US" sz="1400" b="1"/>
              <a:t>目标：</a:t>
            </a:r>
            <a:r>
              <a:rPr lang="zh-CN" altLang="en-US" sz="1400"/>
              <a:t>设计数据的存储结构。这是系统最关键的</a:t>
            </a:r>
            <a:r>
              <a:rPr lang="zh-CN" altLang="en-US" sz="1400">
                <a:solidFill>
                  <a:srgbClr val="FF0000"/>
                </a:solidFill>
              </a:rPr>
              <a:t>基石</a:t>
            </a:r>
            <a:r>
              <a:rPr lang="zh-CN" altLang="en-US" sz="1400"/>
              <a:t>，一旦定型很难大改。</a:t>
            </a:r>
          </a:p>
          <a:p>
            <a:pPr>
              <a:lnSpc>
                <a:spcPct val="150000"/>
              </a:lnSpc>
            </a:pPr>
            <a:r>
              <a:rPr lang="zh-CN" altLang="en-US" sz="1400" b="1"/>
              <a:t>AI 角色</a:t>
            </a:r>
            <a:r>
              <a:rPr lang="zh-CN" altLang="en-US" sz="1400"/>
              <a:t>：数据库专家 (DBA)</a:t>
            </a:r>
          </a:p>
          <a:p>
            <a:pPr>
              <a:lnSpc>
                <a:spcPct val="150000"/>
              </a:lnSpc>
            </a:pPr>
            <a:r>
              <a:rPr lang="zh-CN" altLang="en-US" sz="1400" b="1"/>
              <a:t>操作步骤</a:t>
            </a:r>
            <a:r>
              <a:rPr lang="zh-CN" altLang="en-US" sz="1400"/>
              <a:t>：</a:t>
            </a:r>
          </a:p>
          <a:p>
            <a:pPr marL="342900" indent="-342900">
              <a:lnSpc>
                <a:spcPct val="150000"/>
              </a:lnSpc>
              <a:buFont typeface="Arial" panose="020B0604020202020204" pitchFamily="34" charset="0"/>
              <a:buAutoNum type="arabicPeriod"/>
            </a:pPr>
            <a:r>
              <a:rPr lang="zh-CN" altLang="en-US" sz="1400"/>
              <a:t>基于功能设计表结构：</a:t>
            </a:r>
          </a:p>
          <a:p>
            <a:pPr marL="800100" lvl="1" indent="-342900">
              <a:lnSpc>
                <a:spcPct val="150000"/>
              </a:lnSpc>
              <a:buFont typeface="Arial" panose="020B0604020202020204" pitchFamily="34" charset="0"/>
              <a:buChar char="•"/>
            </a:pPr>
            <a:r>
              <a:rPr lang="zh-CN" altLang="en-US" sz="1400"/>
              <a:t>Prompt 示例：“基于上述二手书交易平台的功能，请设计数据库 ER 图。需要包含用户表、书籍表、订单表、消息表。请列出每个表的字段名、数据类型、主外键关系，并解释设计理由。”</a:t>
            </a:r>
          </a:p>
          <a:p>
            <a:pPr marL="342900" indent="-342900">
              <a:lnSpc>
                <a:spcPct val="150000"/>
              </a:lnSpc>
              <a:buFont typeface="Arial" panose="020B0604020202020204" pitchFamily="34" charset="0"/>
              <a:buAutoNum type="arabicPeriod"/>
            </a:pPr>
            <a:r>
              <a:rPr lang="zh-CN" altLang="en-US" sz="1400"/>
              <a:t>生成建表 SQL：</a:t>
            </a:r>
          </a:p>
          <a:p>
            <a:pPr marL="800100" lvl="1" indent="-342900">
              <a:lnSpc>
                <a:spcPct val="150000"/>
              </a:lnSpc>
              <a:buFont typeface="Arial" panose="020B0604020202020204" pitchFamily="34" charset="0"/>
              <a:buChar char="•"/>
            </a:pPr>
            <a:r>
              <a:rPr lang="zh-CN" altLang="en-US" sz="1400"/>
              <a:t>Prompt 示例：“请根据确认的表结构，生成适用于 PostgreSQL（或你选的数据库）的 SQL 建表语句，包含必要的索引优化建议。”</a:t>
            </a:r>
          </a:p>
          <a:p>
            <a:pPr marL="342900" indent="-342900">
              <a:lnSpc>
                <a:spcPct val="150000"/>
              </a:lnSpc>
              <a:buFont typeface="Arial" panose="020B0604020202020204" pitchFamily="34" charset="0"/>
              <a:buAutoNum type="arabicPeriod"/>
            </a:pPr>
            <a:r>
              <a:rPr lang="zh-CN" altLang="en-US" sz="1400"/>
              <a:t>产出物：ER 关系图、可直接执行的 SQL 脚本。</a:t>
            </a:r>
          </a:p>
        </p:txBody>
      </p:sp>
      <p:sp>
        <p:nvSpPr>
          <p:cNvPr id="5" name="标题 4"/>
          <p:cNvSpPr>
            <a:spLocks noGrp="1"/>
          </p:cNvSpPr>
          <p:nvPr>
            <p:ph type="title"/>
            <p:custDataLst>
              <p:tags r:id="rId1"/>
            </p:custDataLst>
          </p:nvPr>
        </p:nvSpPr>
        <p:spPr/>
        <p:txBody>
          <a:bodyPr/>
          <a:lstStyle/>
          <a:p>
            <a:r>
              <a:rPr lang="zh-CN" altLang="en-US" sz="4000" b="1" dirty="0">
                <a:solidFill>
                  <a:schemeClr val="accent2"/>
                </a:solidFill>
                <a:ea typeface="楷体_GB2312" pitchFamily="49" charset="-122"/>
                <a:sym typeface="+mn-ea"/>
              </a:rPr>
              <a:t>AI辅助全栈开发路线图</a:t>
            </a:r>
            <a:endParaRPr sz="2100" dirty="0">
              <a:solidFill>
                <a:schemeClr val="tx1">
                  <a:lumMod val="85000"/>
                  <a:lumOff val="15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126206" y="1643063"/>
            <a:ext cx="8891588" cy="452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00"/>
          </a:p>
        </p:txBody>
      </p:sp>
      <p:sp>
        <p:nvSpPr>
          <p:cNvPr id="4" name="文本框 3"/>
          <p:cNvSpPr txBox="1"/>
          <p:nvPr/>
        </p:nvSpPr>
        <p:spPr>
          <a:xfrm>
            <a:off x="289560" y="1818799"/>
            <a:ext cx="4572000" cy="321945"/>
          </a:xfrm>
          <a:prstGeom prst="rect">
            <a:avLst/>
          </a:prstGeom>
          <a:noFill/>
        </p:spPr>
        <p:txBody>
          <a:bodyPr wrap="square" rtlCol="0" anchor="t">
            <a:spAutoFit/>
          </a:bodyPr>
          <a:lstStyle/>
          <a:p>
            <a:r>
              <a:rPr lang="zh-CN" altLang="en-US" sz="1500" b="1"/>
              <a:t>阶段四：API 接口设计 (The Contract)</a:t>
            </a:r>
          </a:p>
        </p:txBody>
      </p:sp>
      <p:sp>
        <p:nvSpPr>
          <p:cNvPr id="6" name="文本框 5"/>
          <p:cNvSpPr txBox="1"/>
          <p:nvPr/>
        </p:nvSpPr>
        <p:spPr>
          <a:xfrm>
            <a:off x="280511" y="2175986"/>
            <a:ext cx="8515826" cy="2999740"/>
          </a:xfrm>
          <a:prstGeom prst="rect">
            <a:avLst/>
          </a:prstGeom>
          <a:noFill/>
        </p:spPr>
        <p:txBody>
          <a:bodyPr wrap="square" rtlCol="0" anchor="t">
            <a:spAutoFit/>
          </a:bodyPr>
          <a:lstStyle/>
          <a:p>
            <a:pPr>
              <a:lnSpc>
                <a:spcPct val="150000"/>
              </a:lnSpc>
            </a:pPr>
            <a:r>
              <a:rPr lang="zh-CN" altLang="en-US" sz="1400" b="1"/>
              <a:t>目标：</a:t>
            </a:r>
            <a:r>
              <a:rPr lang="zh-CN" altLang="en-US" sz="1400"/>
              <a:t>约定前后端如何交互。</a:t>
            </a:r>
          </a:p>
          <a:p>
            <a:pPr>
              <a:lnSpc>
                <a:spcPct val="150000"/>
              </a:lnSpc>
            </a:pPr>
            <a:r>
              <a:rPr lang="zh-CN" altLang="en-US" sz="1400" b="1"/>
              <a:t>AI 角色</a:t>
            </a:r>
            <a:r>
              <a:rPr lang="zh-CN" altLang="en-US" sz="1400"/>
              <a:t>：后端主管</a:t>
            </a:r>
          </a:p>
          <a:p>
            <a:pPr>
              <a:lnSpc>
                <a:spcPct val="150000"/>
              </a:lnSpc>
            </a:pPr>
            <a:r>
              <a:rPr lang="zh-CN" altLang="en-US" sz="1400" b="1"/>
              <a:t>操作步骤</a:t>
            </a:r>
            <a:r>
              <a:rPr lang="zh-CN" altLang="en-US" sz="1400"/>
              <a:t>：</a:t>
            </a:r>
          </a:p>
          <a:p>
            <a:pPr marL="342900" indent="-342900">
              <a:lnSpc>
                <a:spcPct val="150000"/>
              </a:lnSpc>
              <a:buFont typeface="Arial" panose="020B0604020202020204" pitchFamily="34" charset="0"/>
              <a:buAutoNum type="arabicPeriod"/>
            </a:pPr>
            <a:r>
              <a:rPr lang="zh-CN" altLang="en-US" sz="1400"/>
              <a:t>定义接口规范：</a:t>
            </a:r>
          </a:p>
          <a:p>
            <a:pPr marL="800100" lvl="1" indent="-342900">
              <a:lnSpc>
                <a:spcPct val="150000"/>
              </a:lnSpc>
              <a:buFont typeface="Arial" panose="020B0604020202020204" pitchFamily="34" charset="0"/>
              <a:buChar char="•"/>
            </a:pPr>
            <a:r>
              <a:rPr lang="zh-CN" altLang="en-US" sz="1400"/>
              <a:t>Prompt 示例：“请设计一套 RESTful API 接口文档。以‘书籍发布’和‘书籍搜索’为例，列出请求方法（GET/POST）、URL 路径、请求参数（JSON Body）和返回数据结构（Response）。”</a:t>
            </a:r>
          </a:p>
          <a:p>
            <a:pPr marL="342900" indent="-342900">
              <a:lnSpc>
                <a:spcPct val="150000"/>
              </a:lnSpc>
              <a:buFont typeface="Arial" panose="020B0604020202020204" pitchFamily="34" charset="0"/>
              <a:buAutoNum type="arabicPeriod"/>
            </a:pPr>
            <a:r>
              <a:rPr lang="zh-CN" altLang="en-US" sz="1400"/>
              <a:t>Mock 数据生成：让 AI 生成一些假数据，方便后续测试。</a:t>
            </a:r>
          </a:p>
          <a:p>
            <a:pPr marL="342900" indent="-342900">
              <a:lnSpc>
                <a:spcPct val="150000"/>
              </a:lnSpc>
              <a:buFont typeface="Arial" panose="020B0604020202020204" pitchFamily="34" charset="0"/>
              <a:buAutoNum type="arabicPeriod"/>
            </a:pPr>
            <a:r>
              <a:rPr lang="zh-CN" altLang="en-US" sz="1400"/>
              <a:t>产出物：一份 API 接口定义文档（Swagger 风格或简单表格）。</a:t>
            </a:r>
          </a:p>
        </p:txBody>
      </p:sp>
      <p:sp>
        <p:nvSpPr>
          <p:cNvPr id="5" name="标题 4"/>
          <p:cNvSpPr>
            <a:spLocks noGrp="1"/>
          </p:cNvSpPr>
          <p:nvPr>
            <p:ph type="title"/>
            <p:custDataLst>
              <p:tags r:id="rId1"/>
            </p:custDataLst>
          </p:nvPr>
        </p:nvSpPr>
        <p:spPr/>
        <p:txBody>
          <a:bodyPr/>
          <a:lstStyle/>
          <a:p>
            <a:r>
              <a:rPr lang="zh-CN" altLang="en-US" sz="4000" b="1" dirty="0">
                <a:solidFill>
                  <a:schemeClr val="accent2"/>
                </a:solidFill>
                <a:ea typeface="楷体_GB2312" pitchFamily="49" charset="-122"/>
                <a:sym typeface="+mn-ea"/>
              </a:rPr>
              <a:t>AI辅助全栈开发路线图</a:t>
            </a:r>
            <a:endParaRPr sz="2100" dirty="0">
              <a:solidFill>
                <a:schemeClr val="tx1">
                  <a:lumMod val="85000"/>
                  <a:lumOff val="15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126206" y="1643063"/>
            <a:ext cx="8891588" cy="452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00"/>
          </a:p>
        </p:txBody>
      </p:sp>
      <p:sp>
        <p:nvSpPr>
          <p:cNvPr id="4" name="文本框 3"/>
          <p:cNvSpPr txBox="1"/>
          <p:nvPr/>
        </p:nvSpPr>
        <p:spPr>
          <a:xfrm>
            <a:off x="289560" y="1818799"/>
            <a:ext cx="4572000" cy="321945"/>
          </a:xfrm>
          <a:prstGeom prst="rect">
            <a:avLst/>
          </a:prstGeom>
          <a:noFill/>
        </p:spPr>
        <p:txBody>
          <a:bodyPr wrap="square" rtlCol="0" anchor="t">
            <a:spAutoFit/>
          </a:bodyPr>
          <a:lstStyle/>
          <a:p>
            <a:r>
              <a:rPr lang="zh-CN" altLang="en-US" sz="1500" b="1"/>
              <a:t>阶段五：UI/UX 设计 (The Look)</a:t>
            </a:r>
          </a:p>
        </p:txBody>
      </p:sp>
      <p:sp>
        <p:nvSpPr>
          <p:cNvPr id="6" name="文本框 5"/>
          <p:cNvSpPr txBox="1"/>
          <p:nvPr/>
        </p:nvSpPr>
        <p:spPr>
          <a:xfrm>
            <a:off x="280511" y="2175986"/>
            <a:ext cx="8515826" cy="3322955"/>
          </a:xfrm>
          <a:prstGeom prst="rect">
            <a:avLst/>
          </a:prstGeom>
          <a:noFill/>
        </p:spPr>
        <p:txBody>
          <a:bodyPr wrap="square" rtlCol="0" anchor="t">
            <a:spAutoFit/>
          </a:bodyPr>
          <a:lstStyle/>
          <a:p>
            <a:pPr>
              <a:lnSpc>
                <a:spcPct val="150000"/>
              </a:lnSpc>
            </a:pPr>
            <a:r>
              <a:rPr lang="zh-CN" altLang="en-US" sz="1400" b="1"/>
              <a:t>目标：</a:t>
            </a:r>
            <a:r>
              <a:rPr lang="zh-CN" altLang="en-US" sz="1400"/>
              <a:t>确定页面长什么样，无需专业设计软件，用代码或文字描述即可。</a:t>
            </a:r>
          </a:p>
          <a:p>
            <a:pPr>
              <a:lnSpc>
                <a:spcPct val="150000"/>
              </a:lnSpc>
            </a:pPr>
            <a:r>
              <a:rPr lang="zh-CN" altLang="en-US" sz="1400" b="1"/>
              <a:t>AI 角色</a:t>
            </a:r>
            <a:r>
              <a:rPr lang="zh-CN" altLang="en-US" sz="1400"/>
              <a:t>：UI 设计师</a:t>
            </a:r>
          </a:p>
          <a:p>
            <a:pPr>
              <a:lnSpc>
                <a:spcPct val="150000"/>
              </a:lnSpc>
            </a:pPr>
            <a:r>
              <a:rPr lang="zh-CN" altLang="en-US" sz="1400" b="1"/>
              <a:t>操作步骤</a:t>
            </a:r>
            <a:r>
              <a:rPr lang="zh-CN" altLang="en-US" sz="1400"/>
              <a:t>：</a:t>
            </a:r>
          </a:p>
          <a:p>
            <a:pPr marL="342900" indent="-342900">
              <a:lnSpc>
                <a:spcPct val="150000"/>
              </a:lnSpc>
              <a:buFont typeface="Arial" panose="020B0604020202020204" pitchFamily="34" charset="0"/>
              <a:buAutoNum type="arabicPeriod"/>
            </a:pPr>
            <a:r>
              <a:rPr lang="zh-CN" altLang="en-US" sz="1400"/>
              <a:t>页面结构描述：</a:t>
            </a:r>
          </a:p>
          <a:p>
            <a:pPr marL="800100" lvl="1" indent="-342900">
              <a:lnSpc>
                <a:spcPct val="150000"/>
              </a:lnSpc>
              <a:buFont typeface="Arial" panose="020B0604020202020204" pitchFamily="34" charset="0"/>
              <a:buChar char="•"/>
            </a:pPr>
            <a:r>
              <a:rPr lang="zh-CN" altLang="en-US" sz="1400"/>
              <a:t>Prompt 示例：“请描述‘书籍详情页’的 UI 布局。顶部是什么，中间图片怎么放，购买按钮在哪里。请给出基于 Tailwind CSS 的配色建议和组件风格（如：简约风格）。”</a:t>
            </a:r>
          </a:p>
          <a:p>
            <a:pPr marL="342900" indent="-342900">
              <a:lnSpc>
                <a:spcPct val="150000"/>
              </a:lnSpc>
              <a:buFont typeface="Arial" panose="020B0604020202020204" pitchFamily="34" charset="0"/>
              <a:buAutoNum type="arabicPeriod"/>
            </a:pPr>
            <a:r>
              <a:rPr lang="zh-CN" altLang="en-US" sz="1400"/>
              <a:t>辅助生成代码：</a:t>
            </a:r>
          </a:p>
          <a:p>
            <a:pPr marL="800100" lvl="1" indent="-342900">
              <a:lnSpc>
                <a:spcPct val="150000"/>
              </a:lnSpc>
              <a:buFont typeface="Arial" panose="020B0604020202020204" pitchFamily="34" charset="0"/>
              <a:buChar char="•"/>
            </a:pPr>
            <a:r>
              <a:rPr lang="zh-CN" altLang="en-US" sz="1400"/>
              <a:t>如果大模型支持，让它生成一段 HTML/Tailwind 代码预览效果，也可以使用</a:t>
            </a:r>
            <a:r>
              <a:rPr lang="en-US" altLang="zh-CN" sz="1400"/>
              <a:t>Pencil</a:t>
            </a:r>
            <a:r>
              <a:rPr lang="zh-CN" altLang="en-US" sz="1400"/>
              <a:t>等支持</a:t>
            </a:r>
            <a:r>
              <a:rPr lang="en-US" altLang="zh-CN" sz="1400"/>
              <a:t>MCP</a:t>
            </a:r>
            <a:r>
              <a:rPr lang="zh-CN" altLang="en-US" sz="1400"/>
              <a:t>的设计工具</a:t>
            </a:r>
          </a:p>
          <a:p>
            <a:pPr marL="342900" indent="-342900">
              <a:lnSpc>
                <a:spcPct val="150000"/>
              </a:lnSpc>
              <a:buFont typeface="Arial" panose="020B0604020202020204" pitchFamily="34" charset="0"/>
              <a:buAutoNum type="arabicPeriod"/>
            </a:pPr>
            <a:r>
              <a:rPr lang="zh-CN" altLang="en-US" sz="1400"/>
              <a:t>产出物：页面线框描述，或初步的 HTML 静态页面。</a:t>
            </a:r>
          </a:p>
        </p:txBody>
      </p:sp>
      <p:sp>
        <p:nvSpPr>
          <p:cNvPr id="5" name="标题 4"/>
          <p:cNvSpPr>
            <a:spLocks noGrp="1"/>
          </p:cNvSpPr>
          <p:nvPr>
            <p:ph type="title"/>
            <p:custDataLst>
              <p:tags r:id="rId1"/>
            </p:custDataLst>
          </p:nvPr>
        </p:nvSpPr>
        <p:spPr/>
        <p:txBody>
          <a:bodyPr/>
          <a:lstStyle/>
          <a:p>
            <a:r>
              <a:rPr lang="zh-CN" altLang="en-US" sz="4000" b="1" dirty="0">
                <a:solidFill>
                  <a:schemeClr val="accent2"/>
                </a:solidFill>
                <a:ea typeface="楷体_GB2312" pitchFamily="49" charset="-122"/>
                <a:sym typeface="+mn-ea"/>
              </a:rPr>
              <a:t>AI辅助全栈开发路线图</a:t>
            </a:r>
          </a:p>
        </p:txBody>
      </p:sp>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126206" y="1643063"/>
            <a:ext cx="8891588" cy="452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00"/>
          </a:p>
        </p:txBody>
      </p:sp>
      <p:sp>
        <p:nvSpPr>
          <p:cNvPr id="4" name="文本框 3"/>
          <p:cNvSpPr txBox="1"/>
          <p:nvPr/>
        </p:nvSpPr>
        <p:spPr>
          <a:xfrm>
            <a:off x="289560" y="1818799"/>
            <a:ext cx="4572000" cy="321945"/>
          </a:xfrm>
          <a:prstGeom prst="rect">
            <a:avLst/>
          </a:prstGeom>
          <a:noFill/>
        </p:spPr>
        <p:txBody>
          <a:bodyPr wrap="square" rtlCol="0" anchor="t">
            <a:spAutoFit/>
          </a:bodyPr>
          <a:lstStyle/>
          <a:p>
            <a:r>
              <a:rPr lang="zh-CN" altLang="en-US" sz="1500" b="1"/>
              <a:t>阶段六：业务逻辑与代码实现 (The Code)</a:t>
            </a:r>
          </a:p>
        </p:txBody>
      </p:sp>
      <p:sp>
        <p:nvSpPr>
          <p:cNvPr id="6" name="文本框 5"/>
          <p:cNvSpPr txBox="1"/>
          <p:nvPr/>
        </p:nvSpPr>
        <p:spPr>
          <a:xfrm>
            <a:off x="280511" y="2175986"/>
            <a:ext cx="8515826" cy="3322955"/>
          </a:xfrm>
          <a:prstGeom prst="rect">
            <a:avLst/>
          </a:prstGeom>
          <a:noFill/>
        </p:spPr>
        <p:txBody>
          <a:bodyPr wrap="square" rtlCol="0" anchor="t">
            <a:spAutoFit/>
          </a:bodyPr>
          <a:lstStyle/>
          <a:p>
            <a:pPr>
              <a:lnSpc>
                <a:spcPct val="150000"/>
              </a:lnSpc>
            </a:pPr>
            <a:r>
              <a:rPr lang="zh-CN" altLang="en-US" sz="1400" b="1"/>
              <a:t>目标：</a:t>
            </a:r>
            <a:r>
              <a:rPr lang="zh-CN" altLang="en-US" sz="1400"/>
              <a:t>由小到大，模块化编写代码。（切记：不要让 AI 一次性写整个项目）。</a:t>
            </a:r>
          </a:p>
          <a:p>
            <a:pPr>
              <a:lnSpc>
                <a:spcPct val="150000"/>
              </a:lnSpc>
            </a:pPr>
            <a:r>
              <a:rPr lang="zh-CN" altLang="en-US" sz="1400" b="1"/>
              <a:t>AI 角色</a:t>
            </a:r>
            <a:r>
              <a:rPr lang="zh-CN" altLang="en-US" sz="1400"/>
              <a:t>：全栈工程师</a:t>
            </a:r>
          </a:p>
          <a:p>
            <a:pPr>
              <a:lnSpc>
                <a:spcPct val="150000"/>
              </a:lnSpc>
            </a:pPr>
            <a:r>
              <a:rPr lang="zh-CN" altLang="en-US" sz="1400" b="1"/>
              <a:t>操作步骤</a:t>
            </a:r>
            <a:r>
              <a:rPr lang="zh-CN" altLang="en-US" sz="1400"/>
              <a:t>：</a:t>
            </a:r>
          </a:p>
          <a:p>
            <a:pPr marL="342900" indent="-342900">
              <a:lnSpc>
                <a:spcPct val="150000"/>
              </a:lnSpc>
              <a:buFont typeface="Arial" panose="020B0604020202020204" pitchFamily="34" charset="0"/>
              <a:buAutoNum type="arabicPeriod"/>
            </a:pPr>
            <a:r>
              <a:rPr lang="zh-CN" altLang="en-US" sz="1400"/>
              <a:t>环境搭建：</a:t>
            </a:r>
          </a:p>
          <a:p>
            <a:pPr marL="800100" lvl="1" indent="-342900">
              <a:lnSpc>
                <a:spcPct val="150000"/>
              </a:lnSpc>
              <a:buFont typeface="Arial" panose="020B0604020202020204" pitchFamily="34" charset="0"/>
              <a:buChar char="•"/>
            </a:pPr>
            <a:r>
              <a:rPr lang="zh-CN" altLang="en-US" sz="1400"/>
              <a:t>Prompt 示例：“请一步步教我如何在本地初始化一个 Next.js 项目，并配置好 Supabase 连接。”</a:t>
            </a:r>
          </a:p>
          <a:p>
            <a:pPr marL="342900" indent="-342900">
              <a:lnSpc>
                <a:spcPct val="150000"/>
              </a:lnSpc>
              <a:buFont typeface="Arial" panose="020B0604020202020204" pitchFamily="34" charset="0"/>
              <a:buAutoNum type="arabicPeriod"/>
            </a:pPr>
            <a:r>
              <a:rPr lang="zh-CN" altLang="en-US" sz="1400"/>
              <a:t>原子化开发（一个功能一个功能写）：</a:t>
            </a:r>
          </a:p>
          <a:p>
            <a:pPr marL="800100" lvl="1" indent="-342900">
              <a:lnSpc>
                <a:spcPct val="150000"/>
              </a:lnSpc>
              <a:buFont typeface="Arial" panose="020B0604020202020204" pitchFamily="34" charset="0"/>
              <a:buChar char="•"/>
            </a:pPr>
            <a:r>
              <a:rPr lang="zh-CN" altLang="en-US" sz="1400"/>
              <a:t>Prompt 示例：“现在我们开发‘书籍发布’接口。请基于之前的数据库设计，编写后端 API 代码，包含数据校验（如：价格不能为负数）和错误处理。”</a:t>
            </a:r>
          </a:p>
          <a:p>
            <a:pPr marL="800100" lvl="1" indent="-342900">
              <a:lnSpc>
                <a:spcPct val="150000"/>
              </a:lnSpc>
              <a:buFont typeface="Arial" panose="020B0604020202020204" pitchFamily="34" charset="0"/>
              <a:buChar char="•"/>
            </a:pPr>
            <a:r>
              <a:rPr lang="zh-CN" altLang="en-US" sz="1400"/>
              <a:t>Prompt 示例：“现在编写前端发布页面，包含表单验证，并调用刚才写的后端 API。”</a:t>
            </a:r>
          </a:p>
          <a:p>
            <a:pPr marL="342900" indent="-342900">
              <a:lnSpc>
                <a:spcPct val="150000"/>
              </a:lnSpc>
              <a:buFont typeface="Arial" panose="020B0604020202020204" pitchFamily="34" charset="0"/>
              <a:buAutoNum type="arabicPeriod"/>
            </a:pPr>
            <a:r>
              <a:rPr lang="zh-CN" altLang="en-US" sz="1400"/>
              <a:t>产出物：可运行的代码文件。</a:t>
            </a:r>
          </a:p>
        </p:txBody>
      </p:sp>
      <p:sp>
        <p:nvSpPr>
          <p:cNvPr id="5" name="标题 4"/>
          <p:cNvSpPr>
            <a:spLocks noGrp="1"/>
          </p:cNvSpPr>
          <p:nvPr>
            <p:ph type="title"/>
            <p:custDataLst>
              <p:tags r:id="rId1"/>
            </p:custDataLst>
          </p:nvPr>
        </p:nvSpPr>
        <p:spPr/>
        <p:txBody>
          <a:bodyPr/>
          <a:lstStyle/>
          <a:p>
            <a:r>
              <a:rPr lang="zh-CN" altLang="en-US" sz="4000" b="1" dirty="0">
                <a:solidFill>
                  <a:schemeClr val="accent2"/>
                </a:solidFill>
                <a:ea typeface="楷体_GB2312" pitchFamily="49" charset="-122"/>
                <a:sym typeface="+mn-ea"/>
              </a:rPr>
              <a:t>AI辅助全栈开发路线图</a:t>
            </a:r>
            <a:endParaRPr sz="2100" dirty="0">
              <a:solidFill>
                <a:schemeClr val="tx1">
                  <a:lumMod val="85000"/>
                  <a:lumOff val="15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126206" y="1643063"/>
            <a:ext cx="8891588" cy="452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00"/>
          </a:p>
        </p:txBody>
      </p:sp>
      <p:sp>
        <p:nvSpPr>
          <p:cNvPr id="3" name="文本框 2"/>
          <p:cNvSpPr txBox="1"/>
          <p:nvPr/>
        </p:nvSpPr>
        <p:spPr>
          <a:xfrm>
            <a:off x="360998" y="2181225"/>
            <a:ext cx="8553450" cy="3969385"/>
          </a:xfrm>
          <a:prstGeom prst="rect">
            <a:avLst/>
          </a:prstGeom>
          <a:noFill/>
        </p:spPr>
        <p:txBody>
          <a:bodyPr wrap="square" rtlCol="0" anchor="t">
            <a:spAutoFit/>
          </a:bodyPr>
          <a:lstStyle/>
          <a:p>
            <a:pPr marL="342900" indent="-342900">
              <a:lnSpc>
                <a:spcPct val="150000"/>
              </a:lnSpc>
              <a:buFont typeface="Arial" panose="020B0604020202020204" pitchFamily="34" charset="0"/>
              <a:buAutoNum type="arabicPeriod"/>
            </a:pPr>
            <a:r>
              <a:rPr lang="zh-CN" altLang="en-US" sz="1400"/>
              <a:t>Context is King（上下文为王）：</a:t>
            </a:r>
          </a:p>
          <a:p>
            <a:pPr marL="0" indent="457200">
              <a:lnSpc>
                <a:spcPct val="150000"/>
              </a:lnSpc>
              <a:buFont typeface="Arial" panose="020B0604020202020204" pitchFamily="34" charset="0"/>
              <a:buNone/>
            </a:pPr>
            <a:r>
              <a:rPr lang="zh-CN" altLang="en-US" sz="1400"/>
              <a:t>在使用</a:t>
            </a:r>
            <a:r>
              <a:rPr lang="en-US" altLang="zh-CN" sz="1400"/>
              <a:t>AI</a:t>
            </a:r>
            <a:r>
              <a:rPr lang="zh-CN" altLang="en-US" sz="1400"/>
              <a:t>编程工具时，不要每个问题都开新窗口。保持在一个会话里，让 AI 记得你之前的数据库设计和技术选型。</a:t>
            </a:r>
          </a:p>
          <a:p>
            <a:pPr marL="0" indent="0">
              <a:lnSpc>
                <a:spcPct val="150000"/>
              </a:lnSpc>
              <a:buFont typeface="Arial" panose="020B0604020202020204" pitchFamily="34" charset="0"/>
              <a:buNone/>
            </a:pPr>
            <a:r>
              <a:rPr lang="en-US" altLang="zh-CN" sz="1400"/>
              <a:t>2.  </a:t>
            </a:r>
            <a:r>
              <a:rPr lang="zh-CN" altLang="en-US" sz="1400"/>
              <a:t>Review Before Run（先审后跑）：</a:t>
            </a:r>
          </a:p>
          <a:p>
            <a:pPr marL="0" indent="457200">
              <a:lnSpc>
                <a:spcPct val="150000"/>
              </a:lnSpc>
              <a:buFont typeface="Arial" panose="020B0604020202020204" pitchFamily="34" charset="0"/>
              <a:buNone/>
            </a:pPr>
            <a:r>
              <a:rPr lang="zh-CN" altLang="en-US" sz="1400"/>
              <a:t>AI 给出的代码，先读一遍中文注释，问自己：“这逻辑通顺吗？”如果看不懂，就让 AI 解释代码（“请逐行解释这段代码在做什么”）。</a:t>
            </a:r>
          </a:p>
          <a:p>
            <a:pPr marL="0" indent="0">
              <a:lnSpc>
                <a:spcPct val="150000"/>
              </a:lnSpc>
              <a:buFont typeface="Arial" panose="020B0604020202020204" pitchFamily="34" charset="0"/>
              <a:buNone/>
            </a:pPr>
            <a:r>
              <a:rPr lang="en-US" altLang="zh-CN" sz="1400"/>
              <a:t>3. </a:t>
            </a:r>
            <a:r>
              <a:rPr lang="zh-CN" altLang="en-US" sz="1400"/>
              <a:t>Docs as Memory（</a:t>
            </a:r>
            <a:r>
              <a:rPr lang="zh-CN" altLang="en-US" sz="1400">
                <a:sym typeface="+mn-ea"/>
              </a:rPr>
              <a:t>文档即记忆</a:t>
            </a:r>
            <a:r>
              <a:rPr lang="zh-CN" altLang="en-US" sz="1400"/>
              <a:t>）：</a:t>
            </a:r>
          </a:p>
          <a:p>
            <a:pPr lvl="1" indent="0">
              <a:lnSpc>
                <a:spcPct val="150000"/>
              </a:lnSpc>
              <a:buFont typeface="Arial" panose="020B0604020202020204" pitchFamily="34" charset="0"/>
              <a:buNone/>
            </a:pPr>
            <a:r>
              <a:rPr lang="zh-CN" altLang="en-US" sz="1400"/>
              <a:t>所有达成的共识，必须落地为 Markdown 文档。在项目根目录下建立 docs/ 文件夹，专门存放 prd.md（需求）、schema.md（数据库）、api.md（接口），Markdown 是人类和 AI 都能高效阅读的“通用语言”。</a:t>
            </a:r>
          </a:p>
          <a:p>
            <a:pPr marL="0" indent="0">
              <a:lnSpc>
                <a:spcPct val="150000"/>
              </a:lnSpc>
              <a:buFont typeface="Arial" panose="020B0604020202020204" pitchFamily="34" charset="0"/>
              <a:buNone/>
            </a:pPr>
            <a:r>
              <a:rPr lang="en-US" altLang="zh-CN" sz="1400"/>
              <a:t>4. </a:t>
            </a:r>
            <a:r>
              <a:rPr lang="zh-CN" altLang="en-US" sz="1400"/>
              <a:t>Iterate Small（小步快跑）：</a:t>
            </a:r>
          </a:p>
          <a:p>
            <a:pPr lvl="1" indent="0">
              <a:lnSpc>
                <a:spcPct val="150000"/>
              </a:lnSpc>
              <a:buFont typeface="Arial" panose="020B0604020202020204" pitchFamily="34" charset="0"/>
              <a:buNone/>
            </a:pPr>
            <a:r>
              <a:rPr lang="zh-CN" altLang="en-US" sz="1400"/>
              <a:t>不要说“帮我做一个淘宝”。要说“帮我写一个根据 ID 查询商品详情的函数”。</a:t>
            </a:r>
          </a:p>
        </p:txBody>
      </p:sp>
      <p:sp>
        <p:nvSpPr>
          <p:cNvPr id="5" name="文本框 4"/>
          <p:cNvSpPr txBox="1"/>
          <p:nvPr/>
        </p:nvSpPr>
        <p:spPr>
          <a:xfrm>
            <a:off x="451961" y="1795463"/>
            <a:ext cx="4572000" cy="368300"/>
          </a:xfrm>
          <a:prstGeom prst="rect">
            <a:avLst/>
          </a:prstGeom>
          <a:noFill/>
        </p:spPr>
        <p:txBody>
          <a:bodyPr wrap="square" rtlCol="0" anchor="t">
            <a:spAutoFit/>
          </a:bodyPr>
          <a:lstStyle/>
          <a:p>
            <a:r>
              <a:rPr lang="zh-CN" altLang="en-US" sz="1800">
                <a:solidFill>
                  <a:srgbClr val="FF0000"/>
                </a:solidFill>
                <a:sym typeface="+mn-ea"/>
              </a:rPr>
              <a:t>AI 协作心法</a:t>
            </a:r>
          </a:p>
        </p:txBody>
      </p:sp>
      <p:sp>
        <p:nvSpPr>
          <p:cNvPr id="6" name="标题 5"/>
          <p:cNvSpPr>
            <a:spLocks noGrp="1"/>
          </p:cNvSpPr>
          <p:nvPr>
            <p:ph type="title"/>
            <p:custDataLst>
              <p:tags r:id="rId1"/>
            </p:custDataLst>
          </p:nvPr>
        </p:nvSpPr>
        <p:spPr/>
        <p:txBody>
          <a:bodyPr/>
          <a:lstStyle/>
          <a:p>
            <a:r>
              <a:rPr lang="zh-CN" altLang="en-US" sz="4000" b="1" dirty="0">
                <a:solidFill>
                  <a:schemeClr val="accent2"/>
                </a:solidFill>
                <a:ea typeface="楷体_GB2312" pitchFamily="49" charset="-122"/>
                <a:sym typeface="+mn-ea"/>
              </a:rPr>
              <a:t>AI辅助全栈开发路线图</a:t>
            </a:r>
          </a:p>
        </p:txBody>
      </p:sp>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p:nvPr>
        </p:nvSpPr>
        <p:spPr>
          <a:xfrm>
            <a:off x="611188" y="620713"/>
            <a:ext cx="7772400" cy="1143000"/>
          </a:xfrm>
        </p:spPr>
        <p:txBody>
          <a:bodyPr vert="horz" wrap="square" lIns="91440" tIns="45720" rIns="91440" bIns="45720" anchor="ctr" anchorCtr="0"/>
          <a:lstStyle/>
          <a:p>
            <a:pPr algn="l" eaLnBrk="1" hangingPunct="1"/>
            <a:r>
              <a:rPr lang="zh-CN" altLang="en-US" sz="4000" b="1" dirty="0">
                <a:solidFill>
                  <a:schemeClr val="accent2"/>
                </a:solidFill>
                <a:ea typeface="楷体_GB2312" pitchFamily="49" charset="-122"/>
              </a:rPr>
              <a:t>一、课程设计的目的</a:t>
            </a:r>
          </a:p>
        </p:txBody>
      </p:sp>
      <p:sp>
        <p:nvSpPr>
          <p:cNvPr id="5123" name="Rectangle 3"/>
          <p:cNvSpPr>
            <a:spLocks noGrp="1"/>
          </p:cNvSpPr>
          <p:nvPr>
            <p:ph idx="1" hasCustomPrompt="1"/>
          </p:nvPr>
        </p:nvSpPr>
        <p:spPr>
          <a:xfrm>
            <a:off x="539115" y="1845309"/>
            <a:ext cx="8013700" cy="4391977"/>
          </a:xfrm>
        </p:spPr>
        <p:txBody>
          <a:bodyPr vert="horz" wrap="square" lIns="91440" tIns="45720" rIns="91440" bIns="45720" anchor="t" anchorCtr="0"/>
          <a:lstStyle/>
          <a:p>
            <a:pPr eaLnBrk="1" hangingPunct="1">
              <a:lnSpc>
                <a:spcPct val="150000"/>
              </a:lnSpc>
            </a:pPr>
            <a:r>
              <a:rPr lang="zh-CN" altLang="en-US" sz="2400" dirty="0">
                <a:solidFill>
                  <a:srgbClr val="FF0000"/>
                </a:solidFill>
                <a:latin typeface="宋体" panose="02010600030101010101" pitchFamily="2" charset="-122"/>
                <a:ea typeface="宋体" panose="02010600030101010101" pitchFamily="2" charset="-122"/>
              </a:rPr>
              <a:t>提升大模型、智能体、</a:t>
            </a:r>
            <a:r>
              <a:rPr lang="en-US" altLang="zh-CN" sz="2400" dirty="0">
                <a:solidFill>
                  <a:srgbClr val="FF0000"/>
                </a:solidFill>
                <a:latin typeface="宋体" panose="02010600030101010101" pitchFamily="2" charset="-122"/>
                <a:ea typeface="宋体" panose="02010600030101010101" pitchFamily="2" charset="-122"/>
              </a:rPr>
              <a:t>Skill</a:t>
            </a:r>
            <a:r>
              <a:rPr lang="zh-CN" altLang="en-US" sz="2400" dirty="0">
                <a:solidFill>
                  <a:srgbClr val="FF0000"/>
                </a:solidFill>
                <a:latin typeface="宋体" panose="02010600030101010101" pitchFamily="2" charset="-122"/>
                <a:ea typeface="宋体" panose="02010600030101010101" pitchFamily="2" charset="-122"/>
              </a:rPr>
              <a:t>的使用能力</a:t>
            </a:r>
            <a:endParaRPr lang="en-US" altLang="zh-CN" sz="2400" dirty="0">
              <a:solidFill>
                <a:srgbClr val="FF0000"/>
              </a:solidFill>
              <a:latin typeface="宋体" panose="02010600030101010101" pitchFamily="2" charset="-122"/>
              <a:ea typeface="宋体" panose="02010600030101010101" pitchFamily="2" charset="-122"/>
            </a:endParaRPr>
          </a:p>
          <a:p>
            <a:pPr eaLnBrk="1" hangingPunct="1">
              <a:lnSpc>
                <a:spcPct val="150000"/>
              </a:lnSpc>
            </a:pPr>
            <a:r>
              <a:rPr lang="zh-CN" altLang="en-US" sz="2400" dirty="0">
                <a:solidFill>
                  <a:srgbClr val="FF0000"/>
                </a:solidFill>
                <a:latin typeface="宋体" panose="02010600030101010101" pitchFamily="2" charset="-122"/>
                <a:ea typeface="宋体" panose="02010600030101010101" pitchFamily="2" charset="-122"/>
              </a:rPr>
              <a:t>提升创新能力和快速学习能力</a:t>
            </a:r>
            <a:endParaRPr lang="en-US" altLang="zh-CN" sz="2400" dirty="0">
              <a:solidFill>
                <a:srgbClr val="FF0000"/>
              </a:solidFill>
              <a:latin typeface="宋体" panose="02010600030101010101" pitchFamily="2" charset="-122"/>
              <a:ea typeface="宋体" panose="02010600030101010101" pitchFamily="2" charset="-122"/>
            </a:endParaRPr>
          </a:p>
          <a:p>
            <a:pPr eaLnBrk="1" hangingPunct="1">
              <a:lnSpc>
                <a:spcPct val="150000"/>
              </a:lnSpc>
            </a:pPr>
            <a:r>
              <a:rPr lang="zh-CN" altLang="en-US" sz="2400" dirty="0">
                <a:solidFill>
                  <a:srgbClr val="FF0000"/>
                </a:solidFill>
                <a:latin typeface="宋体" panose="02010600030101010101" pitchFamily="2" charset="-122"/>
                <a:ea typeface="宋体" panose="02010600030101010101" pitchFamily="2" charset="-122"/>
              </a:rPr>
              <a:t>利用智能体完成系统的设计和开发；</a:t>
            </a:r>
            <a:endParaRPr lang="en-US" altLang="zh-CN" sz="2400" dirty="0">
              <a:solidFill>
                <a:srgbClr val="FF0000"/>
              </a:solidFill>
              <a:latin typeface="宋体" panose="02010600030101010101" pitchFamily="2" charset="-122"/>
              <a:ea typeface="宋体" panose="02010600030101010101" pitchFamily="2" charset="-122"/>
            </a:endParaRPr>
          </a:p>
          <a:p>
            <a:pPr eaLnBrk="1" hangingPunct="1">
              <a:lnSpc>
                <a:spcPct val="150000"/>
              </a:lnSpc>
            </a:pPr>
            <a:r>
              <a:rPr lang="zh-CN" altLang="en-US" sz="2400" dirty="0">
                <a:solidFill>
                  <a:srgbClr val="FF0000"/>
                </a:solidFill>
                <a:latin typeface="宋体" panose="02010600030101010101" pitchFamily="2" charset="-122"/>
                <a:ea typeface="宋体" panose="02010600030101010101" pitchFamily="2" charset="-122"/>
              </a:rPr>
              <a:t>利用智能体提升对算法的理解和应用；</a:t>
            </a:r>
            <a:endParaRPr lang="en-US" altLang="zh-CN" sz="2400" dirty="0">
              <a:solidFill>
                <a:srgbClr val="FF0000"/>
              </a:solidFill>
              <a:latin typeface="宋体" panose="02010600030101010101" pitchFamily="2" charset="-122"/>
              <a:ea typeface="宋体" panose="02010600030101010101" pitchFamily="2" charset="-122"/>
            </a:endParaRPr>
          </a:p>
          <a:p>
            <a:pPr eaLnBrk="1" hangingPunct="1">
              <a:lnSpc>
                <a:spcPct val="150000"/>
              </a:lnSpc>
            </a:pPr>
            <a:r>
              <a:rPr lang="zh-CN" altLang="en-US" sz="2400" dirty="0">
                <a:solidFill>
                  <a:srgbClr val="FF0000"/>
                </a:solidFill>
                <a:latin typeface="宋体" panose="02010600030101010101" pitchFamily="2" charset="-122"/>
                <a:ea typeface="宋体" panose="02010600030101010101" pitchFamily="2" charset="-122"/>
              </a:rPr>
              <a:t>巩固</a:t>
            </a:r>
            <a:r>
              <a:rPr lang="zh-CN" altLang="en-US" sz="2400" dirty="0">
                <a:latin typeface="宋体" panose="02010600030101010101" pitchFamily="2" charset="-122"/>
                <a:ea typeface="宋体" panose="02010600030101010101" pitchFamily="2" charset="-122"/>
              </a:rPr>
              <a:t>课堂讲授和书本</a:t>
            </a:r>
            <a:r>
              <a:rPr lang="zh-CN" altLang="en-US" sz="2400" dirty="0">
                <a:solidFill>
                  <a:srgbClr val="FF0000"/>
                </a:solidFill>
                <a:latin typeface="宋体" panose="02010600030101010101" pitchFamily="2" charset="-122"/>
                <a:ea typeface="宋体" panose="02010600030101010101" pitchFamily="2" charset="-122"/>
              </a:rPr>
              <a:t>知识</a:t>
            </a:r>
            <a:r>
              <a:rPr lang="zh-CN" altLang="en-US" sz="2400" dirty="0">
                <a:latin typeface="宋体" panose="02010600030101010101" pitchFamily="2" charset="-122"/>
                <a:ea typeface="宋体" panose="02010600030101010101" pitchFamily="2" charset="-122"/>
              </a:rPr>
              <a:t>，以理论联系实际的方法进行教和学的实践</a:t>
            </a:r>
          </a:p>
          <a:p>
            <a:pPr eaLnBrk="1" hangingPunct="1">
              <a:lnSpc>
                <a:spcPct val="150000"/>
              </a:lnSpc>
            </a:pPr>
            <a:r>
              <a:rPr lang="zh-CN" altLang="en-US" sz="2400" dirty="0">
                <a:latin typeface="宋体" panose="02010600030101010101" pitchFamily="2" charset="-122"/>
                <a:ea typeface="宋体" panose="02010600030101010101" pitchFamily="2" charset="-122"/>
              </a:rPr>
              <a:t>提高</a:t>
            </a:r>
            <a:r>
              <a:rPr lang="zh-CN" altLang="en-US" sz="2400" dirty="0">
                <a:solidFill>
                  <a:srgbClr val="FF0000"/>
                </a:solidFill>
                <a:latin typeface="宋体" panose="02010600030101010101" pitchFamily="2" charset="-122"/>
                <a:ea typeface="宋体" panose="02010600030101010101" pitchFamily="2" charset="-122"/>
              </a:rPr>
              <a:t>分析和解决实际问题</a:t>
            </a:r>
            <a:r>
              <a:rPr lang="zh-CN" altLang="en-US" sz="2400" dirty="0">
                <a:latin typeface="宋体" panose="02010600030101010101" pitchFamily="2" charset="-122"/>
                <a:ea typeface="宋体" panose="02010600030101010101" pitchFamily="2" charset="-122"/>
              </a:rPr>
              <a:t>的能力</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a:xfrm>
            <a:off x="609600" y="304800"/>
            <a:ext cx="7772400" cy="1143000"/>
          </a:xfrm>
        </p:spPr>
        <p:txBody>
          <a:bodyPr vert="horz" wrap="square" lIns="91440" tIns="45720" rIns="91440" bIns="45720" anchor="ctr" anchorCtr="0"/>
          <a:lstStyle/>
          <a:p>
            <a:pPr algn="l" eaLnBrk="1" hangingPunct="1"/>
            <a:r>
              <a:rPr lang="zh-CN" altLang="en-US" sz="4000" b="1" dirty="0">
                <a:solidFill>
                  <a:schemeClr val="accent2"/>
                </a:solidFill>
                <a:ea typeface="楷体_GB2312" pitchFamily="49" charset="-122"/>
              </a:rPr>
              <a:t>二、开发软件的基本知识</a:t>
            </a:r>
          </a:p>
        </p:txBody>
      </p:sp>
      <p:sp>
        <p:nvSpPr>
          <p:cNvPr id="6147" name="Rectangle 3"/>
          <p:cNvSpPr>
            <a:spLocks noGrp="1"/>
          </p:cNvSpPr>
          <p:nvPr>
            <p:ph idx="1" hasCustomPrompt="1"/>
          </p:nvPr>
        </p:nvSpPr>
        <p:spPr>
          <a:xfrm>
            <a:off x="431804" y="1341120"/>
            <a:ext cx="8519795" cy="4724400"/>
          </a:xfrm>
        </p:spPr>
        <p:txBody>
          <a:bodyPr vert="horz" wrap="square" lIns="91440" tIns="45720" rIns="91440" bIns="45720" anchor="t" anchorCtr="0"/>
          <a:lstStyle/>
          <a:p>
            <a:pPr eaLnBrk="1" hangingPunct="1">
              <a:lnSpc>
                <a:spcPct val="150000"/>
              </a:lnSpc>
              <a:spcBef>
                <a:spcPts val="20"/>
              </a:spcBef>
              <a:spcAft>
                <a:spcPts val="0"/>
              </a:spcAft>
            </a:pPr>
            <a:r>
              <a:rPr lang="zh-CN" altLang="en-US" sz="2400" b="1" dirty="0">
                <a:latin typeface="宋体" panose="02010600030101010101" pitchFamily="2" charset="-122"/>
                <a:ea typeface="宋体" panose="02010600030101010101" pitchFamily="2" charset="-122"/>
                <a:cs typeface="宋体" panose="02010600030101010101" pitchFamily="2" charset="-122"/>
              </a:rPr>
              <a:t>应用程序</a:t>
            </a:r>
          </a:p>
          <a:p>
            <a:pPr eaLnBrk="1" hangingPunct="1">
              <a:lnSpc>
                <a:spcPct val="150000"/>
              </a:lnSpc>
              <a:spcBef>
                <a:spcPts val="20"/>
              </a:spcBef>
              <a:spcAft>
                <a:spcPts val="0"/>
              </a:spcAft>
              <a:buNone/>
            </a:pPr>
            <a:r>
              <a:rPr lang="zh-CN" altLang="en-US" sz="2400" dirty="0">
                <a:latin typeface="宋体" panose="02010600030101010101" pitchFamily="2" charset="-122"/>
                <a:ea typeface="宋体" panose="02010600030101010101" pitchFamily="2" charset="-122"/>
                <a:cs typeface="宋体" panose="02010600030101010101" pitchFamily="2" charset="-122"/>
              </a:rPr>
              <a:t>   直接面向用户为解决特定问题而编写的程序。</a:t>
            </a:r>
          </a:p>
          <a:p>
            <a:pPr eaLnBrk="1" hangingPunct="1">
              <a:lnSpc>
                <a:spcPct val="150000"/>
              </a:lnSpc>
              <a:spcBef>
                <a:spcPts val="20"/>
              </a:spcBef>
              <a:spcAft>
                <a:spcPts val="0"/>
              </a:spcAft>
            </a:pPr>
            <a:r>
              <a:rPr lang="zh-CN" altLang="en-US" sz="2400" b="1" dirty="0">
                <a:latin typeface="宋体" panose="02010600030101010101" pitchFamily="2" charset="-122"/>
                <a:ea typeface="宋体" panose="02010600030101010101" pitchFamily="2" charset="-122"/>
                <a:cs typeface="宋体" panose="02010600030101010101" pitchFamily="2" charset="-122"/>
              </a:rPr>
              <a:t>系统程序</a:t>
            </a:r>
          </a:p>
          <a:p>
            <a:pPr eaLnBrk="1" hangingPunct="1">
              <a:lnSpc>
                <a:spcPct val="150000"/>
              </a:lnSpc>
              <a:spcBef>
                <a:spcPts val="20"/>
              </a:spcBef>
              <a:spcAft>
                <a:spcPts val="0"/>
              </a:spcAft>
              <a:buNone/>
            </a:pPr>
            <a:r>
              <a:rPr lang="zh-CN" altLang="en-US" sz="2400" dirty="0">
                <a:latin typeface="宋体" panose="02010600030101010101" pitchFamily="2" charset="-122"/>
                <a:ea typeface="宋体" panose="02010600030101010101" pitchFamily="2" charset="-122"/>
                <a:cs typeface="宋体" panose="02010600030101010101" pitchFamily="2" charset="-122"/>
              </a:rPr>
              <a:t>    应用程序的支撑部分。如操作系统、编译程序等。</a:t>
            </a:r>
          </a:p>
          <a:p>
            <a:pPr eaLnBrk="1" hangingPunct="1">
              <a:lnSpc>
                <a:spcPct val="150000"/>
              </a:lnSpc>
              <a:spcBef>
                <a:spcPts val="20"/>
              </a:spcBef>
              <a:spcAft>
                <a:spcPts val="0"/>
              </a:spcAft>
            </a:pPr>
            <a:r>
              <a:rPr lang="zh-CN" altLang="en-US" sz="2400" b="1" dirty="0">
                <a:latin typeface="宋体" panose="02010600030101010101" pitchFamily="2" charset="-122"/>
                <a:ea typeface="宋体" panose="02010600030101010101" pitchFamily="2" charset="-122"/>
                <a:cs typeface="宋体" panose="02010600030101010101" pitchFamily="2" charset="-122"/>
              </a:rPr>
              <a:t>面向用户的文档</a:t>
            </a:r>
          </a:p>
          <a:p>
            <a:pPr eaLnBrk="1" hangingPunct="1">
              <a:lnSpc>
                <a:spcPct val="150000"/>
              </a:lnSpc>
              <a:spcBef>
                <a:spcPts val="20"/>
              </a:spcBef>
              <a:spcAft>
                <a:spcPts val="0"/>
              </a:spcAft>
              <a:buNone/>
            </a:pPr>
            <a:r>
              <a:rPr lang="zh-CN" altLang="en-US" sz="2400" dirty="0">
                <a:latin typeface="宋体" panose="02010600030101010101" pitchFamily="2" charset="-122"/>
                <a:ea typeface="宋体" panose="02010600030101010101" pitchFamily="2" charset="-122"/>
                <a:cs typeface="宋体" panose="02010600030101010101" pitchFamily="2" charset="-122"/>
              </a:rPr>
              <a:t>    指明如何使用、维护、修改程序。如用户手册、操作手册等。</a:t>
            </a:r>
          </a:p>
          <a:p>
            <a:pPr eaLnBrk="1" hangingPunct="1">
              <a:lnSpc>
                <a:spcPct val="150000"/>
              </a:lnSpc>
              <a:spcBef>
                <a:spcPts val="20"/>
              </a:spcBef>
              <a:spcAft>
                <a:spcPts val="0"/>
              </a:spcAft>
            </a:pPr>
            <a:r>
              <a:rPr lang="zh-CN" altLang="en-US" sz="2400" b="1" dirty="0">
                <a:latin typeface="宋体" panose="02010600030101010101" pitchFamily="2" charset="-122"/>
                <a:ea typeface="宋体" panose="02010600030101010101" pitchFamily="2" charset="-122"/>
                <a:cs typeface="宋体" panose="02010600030101010101" pitchFamily="2" charset="-122"/>
              </a:rPr>
              <a:t>面向开发者的文档</a:t>
            </a:r>
          </a:p>
          <a:p>
            <a:pPr eaLnBrk="1" hangingPunct="1">
              <a:lnSpc>
                <a:spcPct val="150000"/>
              </a:lnSpc>
              <a:spcBef>
                <a:spcPts val="20"/>
              </a:spcBef>
              <a:spcAft>
                <a:spcPts val="0"/>
              </a:spcAft>
              <a:buNone/>
            </a:pPr>
            <a:r>
              <a:rPr lang="zh-CN" altLang="en-US" sz="2400" dirty="0">
                <a:latin typeface="宋体" panose="02010600030101010101" pitchFamily="2" charset="-122"/>
                <a:ea typeface="宋体" panose="02010600030101010101" pitchFamily="2" charset="-122"/>
                <a:cs typeface="宋体" panose="02010600030101010101" pitchFamily="2" charset="-122"/>
              </a:rPr>
              <a:t>    保证软件按质、按期有效地进行开发。</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07319" y="1557659"/>
            <a:ext cx="8940165" cy="3762375"/>
          </a:xfrm>
          <a:prstGeom prst="rect">
            <a:avLst/>
          </a:prstGeom>
        </p:spPr>
      </p:pic>
      <p:sp>
        <p:nvSpPr>
          <p:cNvPr id="6146" name="Rectangle 2"/>
          <p:cNvSpPr>
            <a:spLocks noGrp="1"/>
          </p:cNvSpPr>
          <p:nvPr>
            <p:ph type="title"/>
          </p:nvPr>
        </p:nvSpPr>
        <p:spPr>
          <a:xfrm>
            <a:off x="609600" y="304800"/>
            <a:ext cx="7772400" cy="1143000"/>
          </a:xfrm>
        </p:spPr>
        <p:txBody>
          <a:bodyPr vert="horz" wrap="square" lIns="91440" tIns="45720" rIns="91440" bIns="45720" anchor="ctr" anchorCtr="0"/>
          <a:lstStyle/>
          <a:p>
            <a:pPr algn="l" eaLnBrk="1" hangingPunct="1"/>
            <a:r>
              <a:rPr lang="zh-CN" altLang="en-US" sz="4000" b="1" dirty="0">
                <a:solidFill>
                  <a:schemeClr val="accent2"/>
                </a:solidFill>
                <a:ea typeface="楷体_GB2312" pitchFamily="49" charset="-122"/>
              </a:rPr>
              <a:t>二、开发软件的基本知识</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title"/>
          </p:nvPr>
        </p:nvSpPr>
        <p:spPr>
          <a:xfrm>
            <a:off x="609600" y="304800"/>
            <a:ext cx="7772400" cy="1143000"/>
          </a:xfrm>
        </p:spPr>
        <p:txBody>
          <a:bodyPr vert="horz" wrap="square" lIns="91440" tIns="45720" rIns="91440" bIns="45720" anchor="ctr" anchorCtr="0"/>
          <a:lstStyle/>
          <a:p>
            <a:pPr algn="l" eaLnBrk="1" hangingPunct="1"/>
            <a:r>
              <a:rPr lang="zh-CN" altLang="en-US" sz="4000" b="1" dirty="0">
                <a:solidFill>
                  <a:schemeClr val="accent2"/>
                </a:solidFill>
                <a:ea typeface="楷体_GB2312" pitchFamily="49" charset="-122"/>
              </a:rPr>
              <a:t>二、开发软件的基本知识</a:t>
            </a:r>
            <a:r>
              <a:rPr lang="zh-CN" altLang="en-US" sz="4000" dirty="0">
                <a:solidFill>
                  <a:schemeClr val="accent2"/>
                </a:solidFill>
                <a:ea typeface="楷体_GB2312" pitchFamily="49" charset="-122"/>
              </a:rPr>
              <a:t>（续）</a:t>
            </a:r>
          </a:p>
        </p:txBody>
      </p:sp>
      <p:sp>
        <p:nvSpPr>
          <p:cNvPr id="7171" name="Rectangle 5"/>
          <p:cNvSpPr>
            <a:spLocks noGrp="1"/>
          </p:cNvSpPr>
          <p:nvPr>
            <p:ph idx="1" hasCustomPrompt="1"/>
          </p:nvPr>
        </p:nvSpPr>
        <p:spPr>
          <a:xfrm>
            <a:off x="359410" y="1340485"/>
            <a:ext cx="8425180" cy="5100320"/>
          </a:xfrm>
        </p:spPr>
        <p:txBody>
          <a:bodyPr vert="horz" wrap="square" lIns="91440" tIns="45720" rIns="91440" bIns="45720" anchor="t" anchorCtr="0"/>
          <a:lstStyle/>
          <a:p>
            <a:pPr eaLnBrk="1" hangingPunct="1">
              <a:lnSpc>
                <a:spcPct val="130000"/>
              </a:lnSpc>
              <a:buNone/>
            </a:pPr>
            <a:r>
              <a:rPr lang="zh-CN" altLang="en-US" sz="2800" dirty="0">
                <a:solidFill>
                  <a:srgbClr val="990000"/>
                </a:solidFill>
                <a:latin typeface="宋体" panose="02010600030101010101" pitchFamily="2" charset="-122"/>
                <a:ea typeface="宋体" panose="02010600030101010101" pitchFamily="2" charset="-122"/>
                <a:cs typeface="宋体" panose="02010600030101010101" pitchFamily="2" charset="-122"/>
              </a:rPr>
              <a:t>开发软件的几个阶段</a:t>
            </a:r>
          </a:p>
          <a:p>
            <a:pPr eaLnBrk="1" hangingPunct="1">
              <a:lnSpc>
                <a:spcPct val="130000"/>
              </a:lnSpc>
              <a:spcBef>
                <a:spcPts val="20"/>
              </a:spcBef>
              <a:spcAft>
                <a:spcPts val="0"/>
              </a:spcAft>
            </a:pPr>
            <a:r>
              <a:rPr lang="zh-CN" altLang="en-US" sz="2400" b="1" dirty="0">
                <a:solidFill>
                  <a:srgbClr val="FF0000"/>
                </a:solidFill>
                <a:latin typeface="宋体" panose="02010600030101010101" pitchFamily="2" charset="-122"/>
                <a:ea typeface="宋体" panose="02010600030101010101" pitchFamily="2" charset="-122"/>
                <a:cs typeface="宋体" panose="02010600030101010101" pitchFamily="2" charset="-122"/>
              </a:rPr>
              <a:t>需求分析</a:t>
            </a:r>
            <a:r>
              <a:rPr lang="zh-CN" altLang="en-US" sz="2400" dirty="0">
                <a:latin typeface="宋体" panose="02010600030101010101" pitchFamily="2" charset="-122"/>
                <a:ea typeface="宋体" panose="02010600030101010101" pitchFamily="2" charset="-122"/>
                <a:cs typeface="宋体" panose="02010600030101010101" pitchFamily="2" charset="-122"/>
              </a:rPr>
              <a:t>：明确</a:t>
            </a:r>
            <a:r>
              <a:rPr lang="zh-CN" altLang="en-US" sz="2400" dirty="0">
                <a:solidFill>
                  <a:srgbClr val="FF0000"/>
                </a:solidFill>
                <a:latin typeface="宋体" panose="02010600030101010101" pitchFamily="2" charset="-122"/>
                <a:ea typeface="宋体" panose="02010600030101010101" pitchFamily="2" charset="-122"/>
                <a:cs typeface="宋体" panose="02010600030101010101" pitchFamily="2" charset="-122"/>
              </a:rPr>
              <a:t>任务定义</a:t>
            </a:r>
            <a:r>
              <a:rPr lang="zh-CN" altLang="en-US" sz="2400" dirty="0">
                <a:latin typeface="宋体" panose="02010600030101010101" pitchFamily="2" charset="-122"/>
                <a:ea typeface="宋体" panose="02010600030101010101" pitchFamily="2" charset="-122"/>
                <a:cs typeface="宋体" panose="02010600030101010101" pitchFamily="2" charset="-122"/>
              </a:rPr>
              <a:t>是什么，</a:t>
            </a:r>
            <a:r>
              <a:rPr lang="zh-CN" altLang="en-US" sz="2400" dirty="0">
                <a:solidFill>
                  <a:srgbClr val="FF0000"/>
                </a:solidFill>
                <a:latin typeface="宋体" panose="02010600030101010101" pitchFamily="2" charset="-122"/>
                <a:ea typeface="宋体" panose="02010600030101010101" pitchFamily="2" charset="-122"/>
                <a:cs typeface="宋体" panose="02010600030101010101" pitchFamily="2" charset="-122"/>
              </a:rPr>
              <a:t>限制条件</a:t>
            </a:r>
            <a:r>
              <a:rPr lang="zh-CN" altLang="en-US" sz="2400" dirty="0">
                <a:latin typeface="宋体" panose="02010600030101010101" pitchFamily="2" charset="-122"/>
                <a:ea typeface="宋体" panose="02010600030101010101" pitchFamily="2" charset="-122"/>
                <a:cs typeface="宋体" panose="02010600030101010101" pitchFamily="2" charset="-122"/>
              </a:rPr>
              <a:t>是什么。例如：输入</a:t>
            </a:r>
            <a:r>
              <a:rPr lang="en-US" altLang="zh-CN" sz="2400" dirty="0">
                <a:latin typeface="宋体" panose="02010600030101010101" pitchFamily="2" charset="-122"/>
                <a:ea typeface="宋体" panose="02010600030101010101" pitchFamily="2" charset="-122"/>
                <a:cs typeface="宋体" panose="02010600030101010101" pitchFamily="2" charset="-122"/>
              </a:rPr>
              <a:t>/</a:t>
            </a:r>
            <a:r>
              <a:rPr lang="zh-CN" altLang="en-US" sz="2400" dirty="0">
                <a:latin typeface="宋体" panose="02010600030101010101" pitchFamily="2" charset="-122"/>
                <a:ea typeface="宋体" panose="02010600030101010101" pitchFamily="2" charset="-122"/>
                <a:cs typeface="宋体" panose="02010600030101010101" pitchFamily="2" charset="-122"/>
              </a:rPr>
              <a:t>输出数据的类型、值的范围以及形式等。</a:t>
            </a:r>
          </a:p>
          <a:p>
            <a:pPr eaLnBrk="1" hangingPunct="1">
              <a:lnSpc>
                <a:spcPct val="130000"/>
              </a:lnSpc>
              <a:spcBef>
                <a:spcPts val="20"/>
              </a:spcBef>
              <a:spcAft>
                <a:spcPts val="0"/>
              </a:spcAft>
            </a:pPr>
            <a:r>
              <a:rPr lang="zh-CN" altLang="en-US" sz="2400" b="1" dirty="0">
                <a:latin typeface="宋体" panose="02010600030101010101" pitchFamily="2" charset="-122"/>
                <a:ea typeface="宋体" panose="02010600030101010101" pitchFamily="2" charset="-122"/>
                <a:cs typeface="宋体" panose="02010600030101010101" pitchFamily="2" charset="-122"/>
              </a:rPr>
              <a:t>概要设计</a:t>
            </a:r>
            <a:r>
              <a:rPr lang="zh-CN" altLang="en-US" sz="2400" dirty="0">
                <a:latin typeface="宋体" panose="02010600030101010101" pitchFamily="2" charset="-122"/>
                <a:ea typeface="宋体" panose="02010600030101010101" pitchFamily="2" charset="-122"/>
                <a:cs typeface="宋体" panose="02010600030101010101" pitchFamily="2" charset="-122"/>
              </a:rPr>
              <a:t>：</a:t>
            </a:r>
            <a:r>
              <a:rPr lang="zh-CN" altLang="en-US" sz="2400" dirty="0">
                <a:solidFill>
                  <a:srgbClr val="FF0000"/>
                </a:solidFill>
                <a:latin typeface="宋体" panose="02010600030101010101" pitchFamily="2" charset="-122"/>
                <a:ea typeface="宋体" panose="02010600030101010101" pitchFamily="2" charset="-122"/>
                <a:cs typeface="宋体" panose="02010600030101010101" pitchFamily="2" charset="-122"/>
              </a:rPr>
              <a:t>定义</a:t>
            </a:r>
            <a:r>
              <a:rPr lang="zh-CN" altLang="en-US" sz="2400" dirty="0">
                <a:latin typeface="宋体" panose="02010600030101010101" pitchFamily="2" charset="-122"/>
                <a:ea typeface="宋体" panose="02010600030101010101" pitchFamily="2" charset="-122"/>
                <a:cs typeface="宋体" panose="02010600030101010101" pitchFamily="2" charset="-122"/>
              </a:rPr>
              <a:t>所需的</a:t>
            </a:r>
            <a:r>
              <a:rPr lang="zh-CN" altLang="en-US" sz="2400" dirty="0">
                <a:solidFill>
                  <a:srgbClr val="FF0000"/>
                </a:solidFill>
                <a:latin typeface="宋体" panose="02010600030101010101" pitchFamily="2" charset="-122"/>
                <a:ea typeface="宋体" panose="02010600030101010101" pitchFamily="2" charset="-122"/>
                <a:cs typeface="宋体" panose="02010600030101010101" pitchFamily="2" charset="-122"/>
              </a:rPr>
              <a:t>数据结构</a:t>
            </a:r>
            <a:r>
              <a:rPr lang="zh-CN" altLang="en-US" sz="2400" dirty="0">
                <a:latin typeface="宋体" panose="02010600030101010101" pitchFamily="2" charset="-122"/>
                <a:ea typeface="宋体" panose="02010600030101010101" pitchFamily="2" charset="-122"/>
                <a:cs typeface="宋体" panose="02010600030101010101" pitchFamily="2" charset="-122"/>
              </a:rPr>
              <a:t>；</a:t>
            </a:r>
            <a:r>
              <a:rPr lang="zh-CN" altLang="en-US" sz="2400" dirty="0">
                <a:solidFill>
                  <a:srgbClr val="FF0000"/>
                </a:solidFill>
                <a:latin typeface="宋体" panose="02010600030101010101" pitchFamily="2" charset="-122"/>
                <a:ea typeface="宋体" panose="02010600030101010101" pitchFamily="2" charset="-122"/>
                <a:cs typeface="宋体" panose="02010600030101010101" pitchFamily="2" charset="-122"/>
              </a:rPr>
              <a:t>划分</a:t>
            </a:r>
            <a:r>
              <a:rPr lang="zh-CN" altLang="en-US" sz="2400" dirty="0">
                <a:latin typeface="宋体" panose="02010600030101010101" pitchFamily="2" charset="-122"/>
                <a:ea typeface="宋体" panose="02010600030101010101" pitchFamily="2" charset="-122"/>
                <a:cs typeface="宋体" panose="02010600030101010101" pitchFamily="2" charset="-122"/>
              </a:rPr>
              <a:t>结构清晰层次分明的主模块和各子功能</a:t>
            </a:r>
            <a:r>
              <a:rPr lang="zh-CN" altLang="en-US" sz="2400" dirty="0">
                <a:solidFill>
                  <a:srgbClr val="FF0000"/>
                </a:solidFill>
                <a:latin typeface="宋体" panose="02010600030101010101" pitchFamily="2" charset="-122"/>
                <a:ea typeface="宋体" panose="02010600030101010101" pitchFamily="2" charset="-122"/>
                <a:cs typeface="宋体" panose="02010600030101010101" pitchFamily="2" charset="-122"/>
              </a:rPr>
              <a:t>模块</a:t>
            </a:r>
            <a:r>
              <a:rPr lang="zh-CN" altLang="en-US" sz="2400" dirty="0">
                <a:latin typeface="宋体" panose="02010600030101010101" pitchFamily="2" charset="-122"/>
                <a:ea typeface="宋体" panose="02010600030101010101" pitchFamily="2" charset="-122"/>
                <a:cs typeface="宋体" panose="02010600030101010101" pitchFamily="2" charset="-122"/>
              </a:rPr>
              <a:t>；</a:t>
            </a:r>
            <a:r>
              <a:rPr lang="zh-CN" altLang="en-US" sz="2400" dirty="0">
                <a:solidFill>
                  <a:srgbClr val="FF0000"/>
                </a:solidFill>
                <a:latin typeface="宋体" panose="02010600030101010101" pitchFamily="2" charset="-122"/>
                <a:ea typeface="宋体" panose="02010600030101010101" pitchFamily="2" charset="-122"/>
                <a:cs typeface="宋体" panose="02010600030101010101" pitchFamily="2" charset="-122"/>
              </a:rPr>
              <a:t>定义</a:t>
            </a:r>
            <a:r>
              <a:rPr lang="zh-CN" altLang="en-US" sz="2400" dirty="0">
                <a:latin typeface="宋体" panose="02010600030101010101" pitchFamily="2" charset="-122"/>
                <a:ea typeface="宋体" panose="02010600030101010101" pitchFamily="2" charset="-122"/>
                <a:cs typeface="宋体" panose="02010600030101010101" pitchFamily="2" charset="-122"/>
              </a:rPr>
              <a:t>各模块之间的</a:t>
            </a:r>
            <a:r>
              <a:rPr lang="zh-CN" altLang="en-US" sz="2400" dirty="0">
                <a:solidFill>
                  <a:srgbClr val="FF0000"/>
                </a:solidFill>
                <a:latin typeface="宋体" panose="02010600030101010101" pitchFamily="2" charset="-122"/>
                <a:ea typeface="宋体" panose="02010600030101010101" pitchFamily="2" charset="-122"/>
                <a:cs typeface="宋体" panose="02010600030101010101" pitchFamily="2" charset="-122"/>
              </a:rPr>
              <a:t>接口</a:t>
            </a:r>
            <a:r>
              <a:rPr lang="zh-CN" altLang="en-US" sz="2400" dirty="0">
                <a:latin typeface="宋体" panose="02010600030101010101" pitchFamily="2" charset="-122"/>
                <a:ea typeface="宋体" panose="02010600030101010101" pitchFamily="2" charset="-122"/>
                <a:cs typeface="宋体" panose="02010600030101010101" pitchFamily="2" charset="-122"/>
              </a:rPr>
              <a:t>。</a:t>
            </a:r>
          </a:p>
          <a:p>
            <a:pPr eaLnBrk="1" hangingPunct="1">
              <a:lnSpc>
                <a:spcPct val="130000"/>
              </a:lnSpc>
              <a:spcBef>
                <a:spcPts val="20"/>
              </a:spcBef>
              <a:spcAft>
                <a:spcPts val="0"/>
              </a:spcAft>
            </a:pPr>
            <a:r>
              <a:rPr lang="zh-CN" altLang="en-US" sz="2400" b="1" dirty="0">
                <a:latin typeface="宋体" panose="02010600030101010101" pitchFamily="2" charset="-122"/>
                <a:ea typeface="宋体" panose="02010600030101010101" pitchFamily="2" charset="-122"/>
                <a:cs typeface="宋体" panose="02010600030101010101" pitchFamily="2" charset="-122"/>
              </a:rPr>
              <a:t>详细设计</a:t>
            </a:r>
            <a:r>
              <a:rPr lang="zh-CN" altLang="en-US" sz="2400" dirty="0">
                <a:latin typeface="宋体" panose="02010600030101010101" pitchFamily="2" charset="-122"/>
                <a:ea typeface="宋体" panose="02010600030101010101" pitchFamily="2" charset="-122"/>
                <a:cs typeface="宋体" panose="02010600030101010101" pitchFamily="2" charset="-122"/>
              </a:rPr>
              <a:t>：对模块流程进行描述，定义数据结构的基本操作，画出函数调用关系，写出函数的伪码算法。</a:t>
            </a:r>
          </a:p>
          <a:p>
            <a:pPr eaLnBrk="1" hangingPunct="1">
              <a:lnSpc>
                <a:spcPct val="130000"/>
              </a:lnSpc>
              <a:spcBef>
                <a:spcPts val="20"/>
              </a:spcBef>
              <a:spcAft>
                <a:spcPts val="0"/>
              </a:spcAft>
            </a:pPr>
            <a:r>
              <a:rPr lang="zh-CN" altLang="en-US" sz="2400" b="1" dirty="0">
                <a:latin typeface="宋体" panose="02010600030101010101" pitchFamily="2" charset="-122"/>
                <a:ea typeface="宋体" panose="02010600030101010101" pitchFamily="2" charset="-122"/>
                <a:cs typeface="宋体" panose="02010600030101010101" pitchFamily="2" charset="-122"/>
              </a:rPr>
              <a:t>编码</a:t>
            </a:r>
            <a:r>
              <a:rPr lang="zh-CN" altLang="en-US" sz="2400" dirty="0">
                <a:latin typeface="宋体" panose="02010600030101010101" pitchFamily="2" charset="-122"/>
                <a:ea typeface="宋体" panose="02010600030101010101" pitchFamily="2" charset="-122"/>
                <a:cs typeface="宋体" panose="02010600030101010101" pitchFamily="2" charset="-122"/>
              </a:rPr>
              <a:t>：选择一种合适的程序设计语言（软件开发环境），按设计说明产生程序。</a:t>
            </a:r>
          </a:p>
          <a:p>
            <a:pPr eaLnBrk="1" hangingPunct="1">
              <a:lnSpc>
                <a:spcPct val="130000"/>
              </a:lnSpc>
              <a:spcBef>
                <a:spcPts val="20"/>
              </a:spcBef>
              <a:spcAft>
                <a:spcPts val="0"/>
              </a:spcAft>
            </a:pPr>
            <a:r>
              <a:rPr lang="zh-CN" altLang="en-US" sz="2400" b="1" dirty="0">
                <a:latin typeface="宋体" panose="02010600030101010101" pitchFamily="2" charset="-122"/>
                <a:ea typeface="宋体" panose="02010600030101010101" pitchFamily="2" charset="-122"/>
                <a:cs typeface="宋体" panose="02010600030101010101" pitchFamily="2" charset="-122"/>
              </a:rPr>
              <a:t>测试</a:t>
            </a:r>
            <a:r>
              <a:rPr lang="zh-CN" altLang="en-US" sz="2400" dirty="0">
                <a:latin typeface="宋体" panose="02010600030101010101" pitchFamily="2" charset="-122"/>
                <a:ea typeface="宋体" panose="02010600030101010101" pitchFamily="2" charset="-122"/>
                <a:cs typeface="宋体" panose="02010600030101010101" pitchFamily="2" charset="-122"/>
              </a:rPr>
              <a:t>：设计测试用例，对软件进行测试</a:t>
            </a:r>
            <a:r>
              <a:rPr lang="zh-CN" altLang="en-US" sz="2800" dirty="0">
                <a:latin typeface="宋体" panose="02010600030101010101" pitchFamily="2" charset="-122"/>
                <a:ea typeface="宋体" panose="02010600030101010101" pitchFamily="2" charset="-122"/>
                <a:cs typeface="宋体" panose="02010600030101010101" pitchFamily="2" charset="-122"/>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type="title"/>
          </p:nvPr>
        </p:nvSpPr>
        <p:spPr>
          <a:xfrm>
            <a:off x="766763" y="182563"/>
            <a:ext cx="7772400" cy="996950"/>
          </a:xfrm>
        </p:spPr>
        <p:txBody>
          <a:bodyPr vert="horz" wrap="square" lIns="91440" tIns="45720" rIns="91440" bIns="45720" anchor="ctr" anchorCtr="0"/>
          <a:lstStyle/>
          <a:p>
            <a:pPr algn="l" eaLnBrk="1" hangingPunct="1"/>
            <a:r>
              <a:rPr lang="zh-CN" altLang="en-US" sz="4000" b="1" dirty="0">
                <a:solidFill>
                  <a:schemeClr val="accent2"/>
                </a:solidFill>
                <a:ea typeface="楷体_GB2312" pitchFamily="49" charset="-122"/>
              </a:rPr>
              <a:t>三、安排与要求</a:t>
            </a:r>
          </a:p>
        </p:txBody>
      </p:sp>
      <p:sp>
        <p:nvSpPr>
          <p:cNvPr id="8195" name="Rectangle 5"/>
          <p:cNvSpPr/>
          <p:nvPr/>
        </p:nvSpPr>
        <p:spPr>
          <a:xfrm>
            <a:off x="5942013" y="3000379"/>
            <a:ext cx="1509712" cy="284163"/>
          </a:xfrm>
          <a:prstGeom prst="rect">
            <a:avLst/>
          </a:prstGeom>
          <a:solidFill>
            <a:srgbClr val="FFFF00"/>
          </a:solidFill>
          <a:ln w="9525">
            <a:noFill/>
          </a:ln>
        </p:spPr>
        <p:txBody>
          <a:bodyPr wrap="none" anchor="ctr" anchorCtr="0"/>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indent="0">
              <a:spcBef>
                <a:spcPct val="0"/>
              </a:spcBef>
              <a:buNone/>
            </a:pPr>
            <a:endParaRPr lang="zh-CN" altLang="en-US" sz="2400" dirty="0"/>
          </a:p>
        </p:txBody>
      </p:sp>
      <p:sp>
        <p:nvSpPr>
          <p:cNvPr id="8196" name="Rectangle 6"/>
          <p:cNvSpPr/>
          <p:nvPr/>
        </p:nvSpPr>
        <p:spPr>
          <a:xfrm>
            <a:off x="5942013" y="2640013"/>
            <a:ext cx="1447800" cy="304800"/>
          </a:xfrm>
          <a:prstGeom prst="rect">
            <a:avLst/>
          </a:prstGeom>
          <a:solidFill>
            <a:srgbClr val="FFFF00"/>
          </a:solidFill>
          <a:ln w="9525">
            <a:noFill/>
          </a:ln>
        </p:spPr>
        <p:txBody>
          <a:bodyPr wrap="none" anchor="ctr" anchorCtr="0"/>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indent="0">
              <a:spcBef>
                <a:spcPct val="0"/>
              </a:spcBef>
              <a:buNone/>
            </a:pPr>
            <a:endParaRPr lang="zh-CN" altLang="en-US" sz="2400" dirty="0"/>
          </a:p>
        </p:txBody>
      </p:sp>
      <p:sp>
        <p:nvSpPr>
          <p:cNvPr id="8197" name="Rectangle 7"/>
          <p:cNvSpPr/>
          <p:nvPr/>
        </p:nvSpPr>
        <p:spPr>
          <a:xfrm>
            <a:off x="5940429" y="3860804"/>
            <a:ext cx="1654175" cy="360363"/>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indent="0">
              <a:spcBef>
                <a:spcPct val="0"/>
              </a:spcBef>
              <a:buNone/>
            </a:pPr>
            <a:endParaRPr lang="zh-CN" altLang="en-US" sz="2400" dirty="0"/>
          </a:p>
        </p:txBody>
      </p:sp>
      <p:sp>
        <p:nvSpPr>
          <p:cNvPr id="8198" name="Rectangle 8"/>
          <p:cNvSpPr/>
          <p:nvPr/>
        </p:nvSpPr>
        <p:spPr>
          <a:xfrm>
            <a:off x="5940425" y="3429000"/>
            <a:ext cx="1676400" cy="304800"/>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indent="0">
              <a:spcBef>
                <a:spcPct val="0"/>
              </a:spcBef>
              <a:buNone/>
            </a:pPr>
            <a:endParaRPr lang="zh-CN" altLang="en-US" sz="2400" dirty="0"/>
          </a:p>
        </p:txBody>
      </p:sp>
      <p:sp>
        <p:nvSpPr>
          <p:cNvPr id="8199" name="Rectangle 9"/>
          <p:cNvSpPr/>
          <p:nvPr/>
        </p:nvSpPr>
        <p:spPr>
          <a:xfrm>
            <a:off x="1260479" y="2566988"/>
            <a:ext cx="4391025" cy="381000"/>
          </a:xfrm>
          <a:prstGeom prst="rect">
            <a:avLst/>
          </a:prstGeom>
          <a:solidFill>
            <a:schemeClr val="hlink"/>
          </a:solidFill>
          <a:ln w="9525">
            <a:noFill/>
          </a:ln>
        </p:spPr>
        <p:txBody>
          <a:bodyPr wrap="none" anchor="ctr" anchorCtr="0"/>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indent="0">
              <a:spcBef>
                <a:spcPct val="0"/>
              </a:spcBef>
              <a:buNone/>
            </a:pPr>
            <a:endParaRPr lang="zh-CN" altLang="en-US" sz="2400" dirty="0"/>
          </a:p>
        </p:txBody>
      </p:sp>
      <p:grpSp>
        <p:nvGrpSpPr>
          <p:cNvPr id="8200" name="Group 10"/>
          <p:cNvGrpSpPr/>
          <p:nvPr/>
        </p:nvGrpSpPr>
        <p:grpSpPr>
          <a:xfrm>
            <a:off x="5508625" y="2711450"/>
            <a:ext cx="457200" cy="1371600"/>
            <a:chOff x="2988" y="1167"/>
            <a:chExt cx="288" cy="864"/>
          </a:xfrm>
        </p:grpSpPr>
        <p:sp>
          <p:nvSpPr>
            <p:cNvPr id="8211" name="Line 11"/>
            <p:cNvSpPr/>
            <p:nvPr/>
          </p:nvSpPr>
          <p:spPr>
            <a:xfrm>
              <a:off x="2988" y="1167"/>
              <a:ext cx="288"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8212" name="Line 12"/>
            <p:cNvSpPr/>
            <p:nvPr/>
          </p:nvSpPr>
          <p:spPr>
            <a:xfrm>
              <a:off x="3132" y="1167"/>
              <a:ext cx="0" cy="864"/>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8213" name="Line 13"/>
            <p:cNvSpPr/>
            <p:nvPr/>
          </p:nvSpPr>
          <p:spPr>
            <a:xfrm>
              <a:off x="3132" y="1455"/>
              <a:ext cx="144"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8214" name="Line 14"/>
            <p:cNvSpPr/>
            <p:nvPr/>
          </p:nvSpPr>
          <p:spPr>
            <a:xfrm>
              <a:off x="3132" y="1743"/>
              <a:ext cx="144"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8215" name="Line 15"/>
            <p:cNvSpPr/>
            <p:nvPr/>
          </p:nvSpPr>
          <p:spPr>
            <a:xfrm>
              <a:off x="3132" y="2031"/>
              <a:ext cx="144"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sp>
        <p:nvSpPr>
          <p:cNvPr id="8201" name="Text Box 16"/>
          <p:cNvSpPr txBox="1"/>
          <p:nvPr/>
        </p:nvSpPr>
        <p:spPr>
          <a:xfrm>
            <a:off x="1565279" y="2947988"/>
            <a:ext cx="2862263" cy="46196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indent="0">
              <a:spcBef>
                <a:spcPct val="50000"/>
              </a:spcBef>
              <a:buNone/>
            </a:pPr>
            <a:r>
              <a:rPr lang="zh-CN" altLang="en-US" sz="2400" dirty="0"/>
              <a:t>例</a:t>
            </a:r>
            <a:r>
              <a:rPr lang="en-US" altLang="zh-CN" sz="2400" dirty="0"/>
              <a:t>:  </a:t>
            </a:r>
            <a:r>
              <a:rPr lang="zh-CN" altLang="en-US" sz="2400" dirty="0"/>
              <a:t>张三</a:t>
            </a:r>
            <a:r>
              <a:rPr lang="en-US" altLang="zh-CN" sz="2400" dirty="0"/>
              <a:t>-</a:t>
            </a:r>
            <a:r>
              <a:rPr lang="zh-CN" altLang="en-US" sz="2400" dirty="0"/>
              <a:t>李四</a:t>
            </a:r>
            <a:r>
              <a:rPr lang="en-US" altLang="zh-CN" sz="2400" dirty="0"/>
              <a:t>-</a:t>
            </a:r>
            <a:r>
              <a:rPr lang="zh-CN" altLang="en-US" sz="2400" dirty="0"/>
              <a:t>王五</a:t>
            </a:r>
            <a:endParaRPr lang="en-US" altLang="zh-CN" sz="2400" dirty="0"/>
          </a:p>
        </p:txBody>
      </p:sp>
      <p:sp>
        <p:nvSpPr>
          <p:cNvPr id="8202" name="Rectangle 17"/>
          <p:cNvSpPr>
            <a:spLocks noGrp="1"/>
          </p:cNvSpPr>
          <p:nvPr>
            <p:ph idx="1" hasCustomPrompt="1"/>
          </p:nvPr>
        </p:nvSpPr>
        <p:spPr>
          <a:xfrm>
            <a:off x="317504" y="1143000"/>
            <a:ext cx="8543925" cy="5073650"/>
          </a:xfrm>
        </p:spPr>
        <p:txBody>
          <a:bodyPr vert="horz" wrap="square" lIns="91440" tIns="45720" rIns="91440" bIns="45720" anchor="t" anchorCtr="0"/>
          <a:lstStyle/>
          <a:p>
            <a:pPr eaLnBrk="1" hangingPunct="1"/>
            <a:r>
              <a:rPr lang="zh-CN" altLang="en-US" sz="2400" dirty="0"/>
              <a:t>按照软件开发的各个阶段完成任务</a:t>
            </a:r>
          </a:p>
          <a:p>
            <a:pPr eaLnBrk="1" hangingPunct="1"/>
            <a:r>
              <a:rPr lang="zh-CN" altLang="en-US" sz="2400" dirty="0"/>
              <a:t>整个开发过程中注意积累文档，任务完毕应做到文档完备</a:t>
            </a:r>
          </a:p>
          <a:p>
            <a:pPr eaLnBrk="1" hangingPunct="1"/>
            <a:r>
              <a:rPr lang="zh-CN" altLang="en-US" sz="2400" dirty="0"/>
              <a:t>报告（电子版）参考格式：</a:t>
            </a:r>
          </a:p>
          <a:p>
            <a:pPr eaLnBrk="1" hangingPunct="1">
              <a:buNone/>
            </a:pPr>
            <a:r>
              <a:rPr lang="zh-CN" altLang="en-US" sz="2400" dirty="0"/>
              <a:t>           姓名</a:t>
            </a:r>
            <a:r>
              <a:rPr lang="en-US" altLang="zh-CN" sz="2400" dirty="0"/>
              <a:t>1-</a:t>
            </a:r>
            <a:r>
              <a:rPr lang="zh-CN" altLang="en-US" sz="2400" dirty="0"/>
              <a:t>姓名</a:t>
            </a:r>
            <a:r>
              <a:rPr lang="en-US" altLang="zh-CN" sz="2400" dirty="0"/>
              <a:t>2-</a:t>
            </a:r>
            <a:r>
              <a:rPr lang="zh-CN" altLang="en-US" sz="2400" dirty="0"/>
              <a:t>姓名</a:t>
            </a:r>
            <a:r>
              <a:rPr lang="en-US" altLang="zh-CN" sz="2400" dirty="0"/>
              <a:t>3                              report.doc</a:t>
            </a:r>
          </a:p>
          <a:p>
            <a:pPr eaLnBrk="1" hangingPunct="1">
              <a:buNone/>
            </a:pPr>
            <a:r>
              <a:rPr lang="en-US" altLang="zh-CN" sz="2400" dirty="0"/>
              <a:t>                                                                          run.exe</a:t>
            </a:r>
            <a:r>
              <a:rPr lang="zh-CN" altLang="en-US" sz="2000" dirty="0"/>
              <a:t>（</a:t>
            </a:r>
            <a:r>
              <a:rPr lang="en-US" altLang="zh-CN" sz="2000" dirty="0"/>
              <a:t>jar</a:t>
            </a:r>
            <a:r>
              <a:rPr lang="zh-CN" altLang="en-US" sz="2000" dirty="0"/>
              <a:t>等也可以）</a:t>
            </a:r>
            <a:endParaRPr lang="en-US" altLang="zh-CN" sz="2000" dirty="0"/>
          </a:p>
          <a:p>
            <a:pPr eaLnBrk="1" hangingPunct="1">
              <a:buNone/>
            </a:pPr>
            <a:r>
              <a:rPr lang="en-US" altLang="zh-CN" sz="2400" dirty="0"/>
              <a:t>                                                                          source_code</a:t>
            </a:r>
          </a:p>
          <a:p>
            <a:pPr eaLnBrk="1" hangingPunct="1">
              <a:buNone/>
            </a:pPr>
            <a:r>
              <a:rPr lang="en-US" altLang="zh-CN" sz="2400" dirty="0"/>
              <a:t>                                                                          document</a:t>
            </a:r>
          </a:p>
          <a:p>
            <a:pPr eaLnBrk="1" hangingPunct="1">
              <a:buNone/>
            </a:pPr>
            <a:r>
              <a:rPr lang="en-US" altLang="zh-CN" sz="2400" dirty="0"/>
              <a:t>  </a:t>
            </a:r>
          </a:p>
          <a:p>
            <a:pPr eaLnBrk="1" hangingPunct="1"/>
            <a:r>
              <a:rPr lang="zh-CN" altLang="en-US" sz="2400" dirty="0"/>
              <a:t>每组人数 </a:t>
            </a:r>
            <a:r>
              <a:rPr lang="en-US" altLang="zh-CN" sz="2400" dirty="0">
                <a:solidFill>
                  <a:srgbClr val="FF0000"/>
                </a:solidFill>
              </a:rPr>
              <a:t>3</a:t>
            </a:r>
            <a:r>
              <a:rPr lang="zh-CN" altLang="en-US" sz="2400" dirty="0">
                <a:solidFill>
                  <a:srgbClr val="FF0000"/>
                </a:solidFill>
              </a:rPr>
              <a:t>人</a:t>
            </a:r>
            <a:r>
              <a:rPr lang="zh-CN" altLang="en-US" sz="2400" dirty="0"/>
              <a:t>（人数超出或不够都会影响成绩）</a:t>
            </a:r>
          </a:p>
          <a:p>
            <a:pPr eaLnBrk="1" hangingPunct="1"/>
            <a:r>
              <a:rPr lang="zh-CN" altLang="en-US" sz="2400" dirty="0"/>
              <a:t>交报告（电子版）日期：</a:t>
            </a:r>
            <a:r>
              <a:rPr lang="en-US" altLang="zh-CN" sz="2400" dirty="0"/>
              <a:t>2026</a:t>
            </a:r>
            <a:r>
              <a:rPr lang="zh-CN" altLang="en-US" sz="2400" dirty="0"/>
              <a:t>年</a:t>
            </a:r>
            <a:r>
              <a:rPr lang="en-US" altLang="zh-CN" sz="2400" dirty="0"/>
              <a:t>6</a:t>
            </a:r>
            <a:r>
              <a:rPr lang="zh-CN" altLang="en-US" sz="2400" dirty="0"/>
              <a:t>月</a:t>
            </a:r>
          </a:p>
          <a:p>
            <a:pPr eaLnBrk="1" hangingPunct="1">
              <a:buNone/>
            </a:pPr>
            <a:r>
              <a:rPr lang="zh-CN" altLang="en-US" sz="2400" dirty="0"/>
              <a:t>     前打包后在教学云平台或验收时提交</a:t>
            </a:r>
          </a:p>
        </p:txBody>
      </p:sp>
      <p:sp>
        <p:nvSpPr>
          <p:cNvPr id="8203" name="AutoShape 19"/>
          <p:cNvSpPr/>
          <p:nvPr/>
        </p:nvSpPr>
        <p:spPr>
          <a:xfrm flipH="1">
            <a:off x="3246442" y="3605217"/>
            <a:ext cx="1152525" cy="796925"/>
          </a:xfrm>
          <a:prstGeom prst="borderCallout2">
            <a:avLst>
              <a:gd name="adj1" fmla="val 14343"/>
              <a:gd name="adj2" fmla="val -6616"/>
              <a:gd name="adj3" fmla="val 14343"/>
              <a:gd name="adj4" fmla="val -26171"/>
              <a:gd name="adj5" fmla="val -84463"/>
              <a:gd name="adj6" fmla="val -46560"/>
            </a:avLst>
          </a:prstGeom>
          <a:noFill/>
          <a:ln w="9525" cap="flat" cmpd="sng">
            <a:solidFill>
              <a:schemeClr val="accent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indent="0" algn="ctr">
              <a:spcBef>
                <a:spcPct val="0"/>
              </a:spcBef>
              <a:buNone/>
            </a:pPr>
            <a:r>
              <a:rPr lang="zh-CN" altLang="en-US" sz="2000" dirty="0">
                <a:latin typeface="Arial" panose="020B0604020202020204" pitchFamily="34" charset="0"/>
                <a:ea typeface="楷体_GB2312" pitchFamily="49" charset="-122"/>
              </a:rPr>
              <a:t>文件夹名称</a:t>
            </a:r>
          </a:p>
        </p:txBody>
      </p:sp>
      <p:sp>
        <p:nvSpPr>
          <p:cNvPr id="8204" name="Line 20"/>
          <p:cNvSpPr/>
          <p:nvPr/>
        </p:nvSpPr>
        <p:spPr>
          <a:xfrm flipV="1">
            <a:off x="4418017" y="3662367"/>
            <a:ext cx="1309687" cy="274637"/>
          </a:xfrm>
          <a:prstGeom prst="line">
            <a:avLst/>
          </a:prstGeom>
          <a:ln w="9525" cap="flat" cmpd="sng">
            <a:solidFill>
              <a:schemeClr val="accent1"/>
            </a:solidFill>
            <a:prstDash val="solid"/>
            <a:headEnd type="none" w="med" len="med"/>
            <a:tailEnd type="none" w="med" len="med"/>
          </a:ln>
        </p:spPr>
        <p:txBody>
          <a:bodyPr/>
          <a:lstStyle/>
          <a:p>
            <a:endParaRPr lang="zh-CN" altLang="en-US"/>
          </a:p>
        </p:txBody>
      </p:sp>
      <p:sp>
        <p:nvSpPr>
          <p:cNvPr id="8205" name="Line 21"/>
          <p:cNvSpPr/>
          <p:nvPr/>
        </p:nvSpPr>
        <p:spPr>
          <a:xfrm>
            <a:off x="4427542" y="4149725"/>
            <a:ext cx="1584325" cy="0"/>
          </a:xfrm>
          <a:prstGeom prst="line">
            <a:avLst/>
          </a:prstGeom>
          <a:ln w="9525" cap="flat" cmpd="sng">
            <a:solidFill>
              <a:schemeClr val="accent1"/>
            </a:solidFill>
            <a:prstDash val="solid"/>
            <a:headEnd type="none" w="med" len="med"/>
            <a:tailEnd type="none" w="med" len="med"/>
          </a:ln>
        </p:spPr>
        <p:txBody>
          <a:bodyPr/>
          <a:lstStyle/>
          <a:p>
            <a:endParaRPr lang="zh-CN" altLang="en-US"/>
          </a:p>
        </p:txBody>
      </p:sp>
      <p:sp>
        <p:nvSpPr>
          <p:cNvPr id="8206" name="AutoShape 22"/>
          <p:cNvSpPr/>
          <p:nvPr/>
        </p:nvSpPr>
        <p:spPr>
          <a:xfrm>
            <a:off x="7812092" y="2060575"/>
            <a:ext cx="1042987" cy="431800"/>
          </a:xfrm>
          <a:prstGeom prst="borderCallout2">
            <a:avLst>
              <a:gd name="adj1" fmla="val 26472"/>
              <a:gd name="adj2" fmla="val -7306"/>
              <a:gd name="adj3" fmla="val 26472"/>
              <a:gd name="adj4" fmla="val -43685"/>
              <a:gd name="adj5" fmla="val 134190"/>
              <a:gd name="adj6" fmla="val -81431"/>
            </a:avLst>
          </a:prstGeom>
          <a:noFill/>
          <a:ln w="9525" cap="flat" cmpd="sng">
            <a:solidFill>
              <a:schemeClr val="accent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indent="0" algn="ctr">
              <a:spcBef>
                <a:spcPct val="0"/>
              </a:spcBef>
              <a:buNone/>
            </a:pPr>
            <a:r>
              <a:rPr lang="zh-CN" altLang="en-US" sz="2000" dirty="0">
                <a:ea typeface="楷体_GB2312" pitchFamily="49" charset="-122"/>
              </a:rPr>
              <a:t>文件名</a:t>
            </a:r>
          </a:p>
        </p:txBody>
      </p:sp>
      <p:sp>
        <p:nvSpPr>
          <p:cNvPr id="8207" name="Line 23"/>
          <p:cNvSpPr/>
          <p:nvPr/>
        </p:nvSpPr>
        <p:spPr>
          <a:xfrm flipH="1">
            <a:off x="7451725" y="2422525"/>
            <a:ext cx="433388" cy="719138"/>
          </a:xfrm>
          <a:prstGeom prst="line">
            <a:avLst/>
          </a:prstGeom>
          <a:ln w="9525" cap="flat" cmpd="sng">
            <a:solidFill>
              <a:schemeClr val="accent1"/>
            </a:solidFill>
            <a:prstDash val="solid"/>
            <a:headEnd type="none" w="med" len="med"/>
            <a:tailEnd type="none" w="med" len="med"/>
          </a:ln>
        </p:spPr>
        <p:txBody>
          <a:bodyPr/>
          <a:lstStyle/>
          <a:p>
            <a:endParaRPr lang="zh-CN" altLang="en-US"/>
          </a:p>
        </p:txBody>
      </p:sp>
      <p:sp>
        <p:nvSpPr>
          <p:cNvPr id="8208" name="Text Box 24"/>
          <p:cNvSpPr txBox="1"/>
          <p:nvPr/>
        </p:nvSpPr>
        <p:spPr>
          <a:xfrm>
            <a:off x="7534279" y="3798892"/>
            <a:ext cx="1476375" cy="7080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indent="0">
              <a:spcBef>
                <a:spcPct val="50000"/>
              </a:spcBef>
              <a:buNone/>
            </a:pPr>
            <a:r>
              <a:rPr lang="zh-CN" altLang="en-US" sz="2000" dirty="0">
                <a:solidFill>
                  <a:srgbClr val="FF0000"/>
                </a:solidFill>
              </a:rPr>
              <a:t>注意后续文档说明</a:t>
            </a:r>
            <a:endParaRPr lang="en-US" altLang="zh-CN" sz="2000" dirty="0">
              <a:solidFill>
                <a:srgbClr val="FF0000"/>
              </a:solidFill>
            </a:endParaRPr>
          </a:p>
        </p:txBody>
      </p:sp>
      <p:sp>
        <p:nvSpPr>
          <p:cNvPr id="8209" name="Text Box 25"/>
          <p:cNvSpPr txBox="1"/>
          <p:nvPr/>
        </p:nvSpPr>
        <p:spPr>
          <a:xfrm>
            <a:off x="6092829" y="5105400"/>
            <a:ext cx="2881313" cy="1754188"/>
          </a:xfrm>
          <a:prstGeom prst="rect">
            <a:avLst/>
          </a:prstGeom>
          <a:no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indent="0">
              <a:spcBef>
                <a:spcPct val="50000"/>
              </a:spcBef>
              <a:buNone/>
            </a:pPr>
            <a:r>
              <a:rPr lang="zh-CN" altLang="en-US" sz="1800" dirty="0">
                <a:latin typeface="楷体_GB2312" pitchFamily="49" charset="-122"/>
                <a:ea typeface="楷体_GB2312" pitchFamily="49" charset="-122"/>
              </a:rPr>
              <a:t>注</a:t>
            </a:r>
            <a:r>
              <a:rPr lang="en-US" altLang="zh-CN" sz="1800" dirty="0">
                <a:latin typeface="楷体_GB2312" pitchFamily="49" charset="-122"/>
                <a:ea typeface="楷体_GB2312" pitchFamily="49" charset="-122"/>
              </a:rPr>
              <a:t>1.report</a:t>
            </a:r>
            <a:r>
              <a:rPr lang="zh-CN" altLang="en-US" sz="1800" dirty="0">
                <a:latin typeface="楷体_GB2312" pitchFamily="49" charset="-122"/>
                <a:ea typeface="楷体_GB2312" pitchFamily="49" charset="-122"/>
              </a:rPr>
              <a:t>为学校课程设计报告表；（</a:t>
            </a:r>
            <a:r>
              <a:rPr lang="zh-CN" altLang="en-US" sz="1800" dirty="0">
                <a:solidFill>
                  <a:srgbClr val="FF0000"/>
                </a:solidFill>
                <a:latin typeface="楷体_GB2312" pitchFamily="49" charset="-122"/>
                <a:ea typeface="楷体_GB2312" pitchFamily="49" charset="-122"/>
              </a:rPr>
              <a:t>表格一页，具体报告内容附后面</a:t>
            </a:r>
            <a:r>
              <a:rPr lang="zh-CN" altLang="en-US" sz="1800" dirty="0">
                <a:latin typeface="楷体_GB2312" pitchFamily="49" charset="-122"/>
                <a:ea typeface="楷体_GB2312" pitchFamily="49" charset="-122"/>
              </a:rPr>
              <a:t>）</a:t>
            </a:r>
          </a:p>
          <a:p>
            <a:pPr marL="0" indent="0">
              <a:spcBef>
                <a:spcPct val="50000"/>
              </a:spcBef>
              <a:buNone/>
            </a:pPr>
            <a:r>
              <a:rPr lang="zh-CN" altLang="en-US" sz="1800" dirty="0">
                <a:latin typeface="楷体_GB2312" pitchFamily="49" charset="-122"/>
                <a:ea typeface="楷体_GB2312" pitchFamily="49" charset="-122"/>
              </a:rPr>
              <a:t>注</a:t>
            </a:r>
            <a:r>
              <a:rPr lang="en-US" altLang="zh-CN" sz="1800" dirty="0">
                <a:latin typeface="楷体_GB2312" pitchFamily="49" charset="-122"/>
                <a:ea typeface="楷体_GB2312" pitchFamily="49" charset="-122"/>
              </a:rPr>
              <a:t>2.run</a:t>
            </a:r>
            <a:r>
              <a:rPr lang="zh-CN" altLang="en-US" sz="1800" dirty="0">
                <a:latin typeface="楷体_GB2312" pitchFamily="49" charset="-122"/>
                <a:ea typeface="楷体_GB2312" pitchFamily="49" charset="-122"/>
              </a:rPr>
              <a:t>为可执行程序；</a:t>
            </a:r>
          </a:p>
          <a:p>
            <a:pPr marL="0" indent="0">
              <a:spcBef>
                <a:spcPct val="50000"/>
              </a:spcBef>
              <a:buNone/>
            </a:pPr>
            <a:r>
              <a:rPr lang="zh-CN" altLang="en-US" sz="1800" dirty="0">
                <a:latin typeface="楷体_GB2312" pitchFamily="49" charset="-122"/>
                <a:ea typeface="楷体_GB2312" pitchFamily="49" charset="-122"/>
              </a:rPr>
              <a:t>不符合格式报告不批改</a:t>
            </a:r>
          </a:p>
        </p:txBody>
      </p:sp>
      <p:sp>
        <p:nvSpPr>
          <p:cNvPr id="8210" name="AutoShape 27"/>
          <p:cNvSpPr/>
          <p:nvPr/>
        </p:nvSpPr>
        <p:spPr>
          <a:xfrm>
            <a:off x="7812092" y="2060575"/>
            <a:ext cx="1042987" cy="431800"/>
          </a:xfrm>
          <a:prstGeom prst="borderCallout2">
            <a:avLst>
              <a:gd name="adj1" fmla="val 26472"/>
              <a:gd name="adj2" fmla="val -7306"/>
              <a:gd name="adj3" fmla="val 26472"/>
              <a:gd name="adj4" fmla="val -43685"/>
              <a:gd name="adj5" fmla="val 134190"/>
              <a:gd name="adj6" fmla="val -81431"/>
            </a:avLst>
          </a:prstGeom>
          <a:noFill/>
          <a:ln w="9525" cap="flat" cmpd="sng">
            <a:solidFill>
              <a:schemeClr val="accent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stStyle>
          <a:p>
            <a:pPr marL="0" indent="0" algn="ctr">
              <a:spcBef>
                <a:spcPct val="0"/>
              </a:spcBef>
              <a:buNone/>
            </a:pPr>
            <a:r>
              <a:rPr lang="zh-CN" altLang="en-US" sz="2000" dirty="0">
                <a:ea typeface="楷体_GB2312" pitchFamily="49" charset="-122"/>
              </a:rPr>
              <a:t>文件名</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p:nvPr>
        </p:nvSpPr>
        <p:spPr>
          <a:xfrm>
            <a:off x="684213" y="260350"/>
            <a:ext cx="7772400" cy="1143000"/>
          </a:xfrm>
        </p:spPr>
        <p:txBody>
          <a:bodyPr vert="horz" wrap="square" lIns="91440" tIns="45720" rIns="91440" bIns="45720" anchor="ctr" anchorCtr="0"/>
          <a:lstStyle/>
          <a:p>
            <a:pPr algn="l" eaLnBrk="1" hangingPunct="1"/>
            <a:r>
              <a:rPr lang="zh-CN" altLang="en-US" sz="4000" b="1" dirty="0">
                <a:solidFill>
                  <a:schemeClr val="accent2"/>
                </a:solidFill>
                <a:ea typeface="楷体_GB2312" pitchFamily="49" charset="-122"/>
              </a:rPr>
              <a:t>四、应完成的文档资料</a:t>
            </a:r>
          </a:p>
        </p:txBody>
      </p:sp>
      <p:sp>
        <p:nvSpPr>
          <p:cNvPr id="9219" name="Rectangle 5"/>
          <p:cNvSpPr>
            <a:spLocks noGrp="1"/>
          </p:cNvSpPr>
          <p:nvPr>
            <p:ph idx="1" hasCustomPrompt="1"/>
          </p:nvPr>
        </p:nvSpPr>
        <p:spPr>
          <a:xfrm>
            <a:off x="467678" y="1340803"/>
            <a:ext cx="8278812" cy="4953000"/>
          </a:xfrm>
        </p:spPr>
        <p:txBody>
          <a:bodyPr vert="horz" wrap="square" lIns="91440" tIns="45720" rIns="91440" bIns="45720" anchor="t" anchorCtr="0"/>
          <a:lstStyle/>
          <a:p>
            <a:pPr marL="0" indent="0" eaLnBrk="1" hangingPunct="1">
              <a:lnSpc>
                <a:spcPct val="130000"/>
              </a:lnSpc>
              <a:spcBef>
                <a:spcPts val="20"/>
              </a:spcBef>
              <a:spcAft>
                <a:spcPts val="0"/>
              </a:spcAft>
              <a:buNone/>
            </a:pPr>
            <a:r>
              <a:rPr lang="en-US" altLang="zh-CN" sz="2400" dirty="0">
                <a:latin typeface="宋体" panose="02010600030101010101" pitchFamily="2" charset="-122"/>
                <a:ea typeface="宋体" panose="02010600030101010101" pitchFamily="2" charset="-122"/>
                <a:cs typeface="宋体" panose="02010600030101010101" pitchFamily="2" charset="-122"/>
              </a:rPr>
              <a:t>1. </a:t>
            </a:r>
            <a:r>
              <a:rPr lang="zh-CN" altLang="en-US" sz="2400" dirty="0">
                <a:latin typeface="宋体" panose="02010600030101010101" pitchFamily="2" charset="-122"/>
                <a:ea typeface="宋体" panose="02010600030101010101" pitchFamily="2" charset="-122"/>
                <a:cs typeface="宋体" panose="02010600030101010101" pitchFamily="2" charset="-122"/>
              </a:rPr>
              <a:t>软件开发任务的描述</a:t>
            </a:r>
          </a:p>
          <a:p>
            <a:pPr marL="0" indent="0" eaLnBrk="1" hangingPunct="1">
              <a:lnSpc>
                <a:spcPct val="130000"/>
              </a:lnSpc>
              <a:spcBef>
                <a:spcPts val="20"/>
              </a:spcBef>
              <a:spcAft>
                <a:spcPts val="0"/>
              </a:spcAft>
              <a:buNone/>
            </a:pPr>
            <a:r>
              <a:rPr lang="en-US" altLang="zh-CN" sz="2400" dirty="0">
                <a:latin typeface="宋体" panose="02010600030101010101" pitchFamily="2" charset="-122"/>
                <a:ea typeface="宋体" panose="02010600030101010101" pitchFamily="2" charset="-122"/>
                <a:cs typeface="宋体" panose="02010600030101010101" pitchFamily="2" charset="-122"/>
              </a:rPr>
              <a:t>2. </a:t>
            </a:r>
            <a:r>
              <a:rPr lang="zh-CN" altLang="en-US" sz="2400" dirty="0">
                <a:latin typeface="宋体" panose="02010600030101010101" pitchFamily="2" charset="-122"/>
                <a:ea typeface="宋体" panose="02010600030101010101" pitchFamily="2" charset="-122"/>
                <a:cs typeface="宋体" panose="02010600030101010101" pitchFamily="2" charset="-122"/>
              </a:rPr>
              <a:t>功能需求说明和分析</a:t>
            </a:r>
            <a:endParaRPr lang="en-US" altLang="zh-CN" sz="2400" dirty="0">
              <a:latin typeface="宋体" panose="02010600030101010101" pitchFamily="2" charset="-122"/>
              <a:ea typeface="宋体" panose="02010600030101010101" pitchFamily="2" charset="-122"/>
              <a:cs typeface="宋体" panose="02010600030101010101" pitchFamily="2" charset="-122"/>
            </a:endParaRPr>
          </a:p>
          <a:p>
            <a:pPr marL="400050" lvl="1" indent="0" eaLnBrk="1" hangingPunct="1">
              <a:lnSpc>
                <a:spcPct val="130000"/>
              </a:lnSpc>
              <a:spcBef>
                <a:spcPts val="20"/>
              </a:spcBef>
              <a:spcAft>
                <a:spcPts val="0"/>
              </a:spcAft>
              <a:buNone/>
            </a:pPr>
            <a:r>
              <a:rPr lang="zh-CN" altLang="en-US" sz="2000" b="1" dirty="0">
                <a:solidFill>
                  <a:srgbClr val="FF0000"/>
                </a:solidFill>
                <a:latin typeface="宋体" panose="02010600030101010101" pitchFamily="2" charset="-122"/>
                <a:ea typeface="宋体" panose="02010600030101010101" pitchFamily="2" charset="-122"/>
              </a:rPr>
              <a:t>新闻、</a:t>
            </a:r>
            <a:r>
              <a:rPr lang="en-US" altLang="zh-CN" sz="2000" b="1" dirty="0">
                <a:solidFill>
                  <a:srgbClr val="FF0000"/>
                </a:solidFill>
                <a:latin typeface="宋体" panose="02010600030101010101" pitchFamily="2" charset="-122"/>
                <a:ea typeface="宋体" panose="02010600030101010101" pitchFamily="2" charset="-122"/>
              </a:rPr>
              <a:t>Q&amp;A</a:t>
            </a:r>
            <a:r>
              <a:rPr lang="zh-CN" altLang="en-US" sz="2000" b="1" dirty="0">
                <a:solidFill>
                  <a:srgbClr val="FF0000"/>
                </a:solidFill>
                <a:latin typeface="宋体" panose="02010600030101010101" pitchFamily="2" charset="-122"/>
                <a:ea typeface="宋体" panose="02010600030101010101" pitchFamily="2" charset="-122"/>
              </a:rPr>
              <a:t>、视觉材料；</a:t>
            </a:r>
            <a:endParaRPr lang="en-US" altLang="zh-CN" sz="2000" b="1" dirty="0">
              <a:solidFill>
                <a:srgbClr val="FF0000"/>
              </a:solidFill>
              <a:latin typeface="宋体" panose="02010600030101010101" pitchFamily="2" charset="-122"/>
              <a:ea typeface="宋体" panose="02010600030101010101" pitchFamily="2" charset="-122"/>
            </a:endParaRPr>
          </a:p>
          <a:p>
            <a:pPr marL="0" indent="0" eaLnBrk="1" hangingPunct="1">
              <a:lnSpc>
                <a:spcPct val="130000"/>
              </a:lnSpc>
              <a:spcBef>
                <a:spcPts val="20"/>
              </a:spcBef>
              <a:spcAft>
                <a:spcPts val="0"/>
              </a:spcAft>
              <a:buNone/>
            </a:pPr>
            <a:r>
              <a:rPr lang="en-US" altLang="zh-CN" sz="2400" dirty="0">
                <a:latin typeface="宋体" panose="02010600030101010101" pitchFamily="2" charset="-122"/>
                <a:ea typeface="宋体" panose="02010600030101010101" pitchFamily="2" charset="-122"/>
                <a:cs typeface="宋体" panose="02010600030101010101" pitchFamily="2" charset="-122"/>
              </a:rPr>
              <a:t>3. </a:t>
            </a:r>
            <a:r>
              <a:rPr lang="zh-CN" altLang="en-US" sz="2400" dirty="0">
                <a:latin typeface="宋体" panose="02010600030101010101" pitchFamily="2" charset="-122"/>
                <a:ea typeface="宋体" panose="02010600030101010101" pitchFamily="2" charset="-122"/>
                <a:cs typeface="宋体" panose="02010600030101010101" pitchFamily="2" charset="-122"/>
              </a:rPr>
              <a:t>总体方案设计说明</a:t>
            </a:r>
          </a:p>
          <a:p>
            <a:pPr marL="400050" lvl="1" indent="0" eaLnBrk="1" hangingPunct="1">
              <a:lnSpc>
                <a:spcPct val="130000"/>
              </a:lnSpc>
              <a:spcBef>
                <a:spcPts val="20"/>
              </a:spcBef>
              <a:spcAft>
                <a:spcPts val="0"/>
              </a:spcAft>
              <a:buNone/>
            </a:pPr>
            <a:r>
              <a:rPr lang="zh-CN" altLang="en-US" sz="2000" b="1" dirty="0">
                <a:solidFill>
                  <a:srgbClr val="FF0000"/>
                </a:solidFill>
                <a:latin typeface="宋体" panose="02010600030101010101" pitchFamily="2" charset="-122"/>
                <a:ea typeface="宋体" panose="02010600030101010101" pitchFamily="2" charset="-122"/>
              </a:rPr>
              <a:t>智能体开发环境、开发的智能体（智能体功能描述和链接）</a:t>
            </a:r>
          </a:p>
          <a:p>
            <a:pPr marL="400050" lvl="1" indent="0" eaLnBrk="1" hangingPunct="1">
              <a:lnSpc>
                <a:spcPct val="130000"/>
              </a:lnSpc>
              <a:spcBef>
                <a:spcPts val="20"/>
              </a:spcBef>
              <a:spcAft>
                <a:spcPts val="0"/>
              </a:spcAft>
              <a:buNone/>
            </a:pPr>
            <a:r>
              <a:rPr lang="zh-CN" altLang="en-US" sz="2000" b="1" dirty="0">
                <a:solidFill>
                  <a:srgbClr val="FF0000"/>
                </a:solidFill>
                <a:latin typeface="宋体" panose="02010600030101010101" pitchFamily="2" charset="-122"/>
                <a:ea typeface="宋体" panose="02010600030101010101" pitchFamily="2" charset="-122"/>
              </a:rPr>
              <a:t>总体结构和模块划分等</a:t>
            </a:r>
          </a:p>
          <a:p>
            <a:pPr marL="0" indent="0" eaLnBrk="1" hangingPunct="1">
              <a:lnSpc>
                <a:spcPct val="130000"/>
              </a:lnSpc>
              <a:spcBef>
                <a:spcPts val="20"/>
              </a:spcBef>
              <a:spcAft>
                <a:spcPts val="0"/>
              </a:spcAft>
              <a:buNone/>
            </a:pPr>
            <a:r>
              <a:rPr lang="en-US" altLang="zh-CN" sz="2400" dirty="0">
                <a:latin typeface="宋体" panose="02010600030101010101" pitchFamily="2" charset="-122"/>
                <a:ea typeface="宋体" panose="02010600030101010101" pitchFamily="2" charset="-122"/>
                <a:cs typeface="宋体" panose="02010600030101010101" pitchFamily="2" charset="-122"/>
              </a:rPr>
              <a:t>4. </a:t>
            </a:r>
            <a:r>
              <a:rPr lang="zh-CN" altLang="en-US" sz="2400" dirty="0">
                <a:latin typeface="宋体" panose="02010600030101010101" pitchFamily="2" charset="-122"/>
                <a:ea typeface="宋体" panose="02010600030101010101" pitchFamily="2" charset="-122"/>
                <a:cs typeface="宋体" panose="02010600030101010101" pitchFamily="2" charset="-122"/>
              </a:rPr>
              <a:t>数据结构说明和数据字典（数据名称、用途等）</a:t>
            </a:r>
          </a:p>
          <a:p>
            <a:pPr marL="0" indent="0" eaLnBrk="1" hangingPunct="1">
              <a:lnSpc>
                <a:spcPct val="130000"/>
              </a:lnSpc>
              <a:spcBef>
                <a:spcPts val="20"/>
              </a:spcBef>
              <a:spcAft>
                <a:spcPts val="0"/>
              </a:spcAft>
              <a:buNone/>
            </a:pPr>
            <a:r>
              <a:rPr lang="en-US" altLang="zh-CN" sz="2400" dirty="0">
                <a:latin typeface="宋体" panose="02010600030101010101" pitchFamily="2" charset="-122"/>
                <a:ea typeface="宋体" panose="02010600030101010101" pitchFamily="2" charset="-122"/>
                <a:cs typeface="宋体" panose="02010600030101010101" pitchFamily="2" charset="-122"/>
              </a:rPr>
              <a:t>5. </a:t>
            </a:r>
            <a:r>
              <a:rPr lang="zh-CN" altLang="en-US" sz="2400" dirty="0">
                <a:latin typeface="宋体" panose="02010600030101010101" pitchFamily="2" charset="-122"/>
                <a:ea typeface="宋体" panose="02010600030101010101" pitchFamily="2" charset="-122"/>
                <a:cs typeface="宋体" panose="02010600030101010101" pitchFamily="2" charset="-122"/>
              </a:rPr>
              <a:t>各模块设计说明</a:t>
            </a:r>
          </a:p>
          <a:p>
            <a:pPr marL="400050" lvl="1" indent="0" eaLnBrk="1" hangingPunct="1">
              <a:lnSpc>
                <a:spcPct val="130000"/>
              </a:lnSpc>
              <a:spcBef>
                <a:spcPts val="20"/>
              </a:spcBef>
              <a:spcAft>
                <a:spcPts val="0"/>
              </a:spcAft>
              <a:buNone/>
            </a:pPr>
            <a:r>
              <a:rPr lang="zh-CN" altLang="en-US" sz="2000" b="1" dirty="0">
                <a:solidFill>
                  <a:srgbClr val="FF0000"/>
                </a:solidFill>
                <a:latin typeface="宋体" panose="02010600030101010101" pitchFamily="2" charset="-122"/>
                <a:ea typeface="宋体" panose="02010600030101010101" pitchFamily="2" charset="-122"/>
              </a:rPr>
              <a:t>算法思想、算法、特点及与其它模块的关系等</a:t>
            </a:r>
          </a:p>
          <a:p>
            <a:pPr marL="0" indent="0" eaLnBrk="1" hangingPunct="1">
              <a:lnSpc>
                <a:spcPct val="130000"/>
              </a:lnSpc>
              <a:spcBef>
                <a:spcPts val="20"/>
              </a:spcBef>
              <a:spcAft>
                <a:spcPts val="0"/>
              </a:spcAft>
              <a:buNone/>
            </a:pPr>
            <a:r>
              <a:rPr lang="en-US" altLang="zh-CN" sz="2400" dirty="0">
                <a:latin typeface="宋体" panose="02010600030101010101" pitchFamily="2" charset="-122"/>
                <a:ea typeface="宋体" panose="02010600030101010101" pitchFamily="2" charset="-122"/>
                <a:cs typeface="宋体" panose="02010600030101010101" pitchFamily="2" charset="-122"/>
              </a:rPr>
              <a:t>6. </a:t>
            </a:r>
            <a:r>
              <a:rPr lang="zh-CN" altLang="en-US" sz="2400" dirty="0">
                <a:latin typeface="宋体" panose="02010600030101010101" pitchFamily="2" charset="-122"/>
                <a:ea typeface="宋体" panose="02010600030101010101" pitchFamily="2" charset="-122"/>
                <a:cs typeface="宋体" panose="02010600030101010101" pitchFamily="2" charset="-122"/>
              </a:rPr>
              <a:t>应用范例执行结果及测试情况说明</a:t>
            </a:r>
          </a:p>
          <a:p>
            <a:pPr marL="0" indent="0" eaLnBrk="1" hangingPunct="1">
              <a:lnSpc>
                <a:spcPct val="130000"/>
              </a:lnSpc>
              <a:spcBef>
                <a:spcPts val="20"/>
              </a:spcBef>
              <a:spcAft>
                <a:spcPts val="0"/>
              </a:spcAft>
              <a:buNone/>
            </a:pPr>
            <a:r>
              <a:rPr lang="en-US" altLang="zh-CN" sz="2400" dirty="0">
                <a:latin typeface="宋体" panose="02010600030101010101" pitchFamily="2" charset="-122"/>
                <a:ea typeface="宋体" panose="02010600030101010101" pitchFamily="2" charset="-122"/>
                <a:cs typeface="宋体" panose="02010600030101010101" pitchFamily="2" charset="-122"/>
              </a:rPr>
              <a:t>7. </a:t>
            </a:r>
            <a:r>
              <a:rPr lang="zh-CN" altLang="en-US" sz="2400" dirty="0">
                <a:latin typeface="宋体" panose="02010600030101010101" pitchFamily="2" charset="-122"/>
                <a:ea typeface="宋体" panose="02010600030101010101" pitchFamily="2" charset="-122"/>
                <a:cs typeface="宋体" panose="02010600030101010101" pitchFamily="2" charset="-122"/>
              </a:rPr>
              <a:t>评价和改进意见</a:t>
            </a:r>
          </a:p>
          <a:p>
            <a:pPr marL="0" indent="0" eaLnBrk="1" hangingPunct="1">
              <a:lnSpc>
                <a:spcPct val="130000"/>
              </a:lnSpc>
              <a:spcBef>
                <a:spcPts val="20"/>
              </a:spcBef>
              <a:spcAft>
                <a:spcPts val="0"/>
              </a:spcAft>
              <a:buNone/>
            </a:pPr>
            <a:r>
              <a:rPr lang="en-US" altLang="zh-CN" sz="2400" dirty="0">
                <a:latin typeface="宋体" panose="02010600030101010101" pitchFamily="2" charset="-122"/>
                <a:ea typeface="宋体" panose="02010600030101010101" pitchFamily="2" charset="-122"/>
                <a:cs typeface="宋体" panose="02010600030101010101" pitchFamily="2" charset="-122"/>
              </a:rPr>
              <a:t>8. </a:t>
            </a:r>
            <a:r>
              <a:rPr lang="zh-CN" altLang="en-US" sz="2400" dirty="0">
                <a:latin typeface="宋体" panose="02010600030101010101" pitchFamily="2" charset="-122"/>
                <a:ea typeface="宋体" panose="02010600030101010101" pitchFamily="2" charset="-122"/>
                <a:cs typeface="宋体" panose="02010600030101010101" pitchFamily="2" charset="-122"/>
              </a:rPr>
              <a:t>用户使用说明</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b="1" dirty="0">
                <a:solidFill>
                  <a:schemeClr val="accent2"/>
                </a:solidFill>
                <a:ea typeface="楷体_GB2312" pitchFamily="49" charset="-122"/>
              </a:rPr>
              <a:t>智能体开发</a:t>
            </a:r>
          </a:p>
        </p:txBody>
      </p:sp>
      <p:sp>
        <p:nvSpPr>
          <p:cNvPr id="3" name="内容占位符 2"/>
          <p:cNvSpPr>
            <a:spLocks noGrp="1"/>
          </p:cNvSpPr>
          <p:nvPr>
            <p:ph idx="1"/>
          </p:nvPr>
        </p:nvSpPr>
        <p:spPr/>
        <p:txBody>
          <a:bodyPr/>
          <a:lstStyle/>
          <a:p>
            <a:r>
              <a:rPr lang="zh-CN" altLang="en-US" dirty="0"/>
              <a:t>每个组做一组</a:t>
            </a:r>
            <a:r>
              <a:rPr lang="en-US" altLang="zh-CN" dirty="0"/>
              <a:t>Agent</a:t>
            </a:r>
            <a:r>
              <a:rPr lang="zh-CN" altLang="en-US" dirty="0"/>
              <a:t>用来学习软件系统相关知识，完成系统设计、开发、测试；</a:t>
            </a:r>
            <a:endParaRPr lang="en-US" altLang="zh-CN" dirty="0"/>
          </a:p>
          <a:p>
            <a:r>
              <a:rPr lang="zh-CN" altLang="en-US" dirty="0"/>
              <a:t>每个组做一组</a:t>
            </a:r>
            <a:r>
              <a:rPr lang="en-US" altLang="zh-CN" dirty="0"/>
              <a:t>Agent</a:t>
            </a:r>
            <a:r>
              <a:rPr lang="zh-CN" altLang="en-US" dirty="0"/>
              <a:t>完成组内协作和任务分解；</a:t>
            </a:r>
            <a:endParaRPr lang="en-US" altLang="zh-CN" dirty="0"/>
          </a:p>
          <a:p>
            <a:r>
              <a:rPr lang="zh-CN" altLang="en-US" dirty="0"/>
              <a:t>每个组做一组</a:t>
            </a:r>
            <a:r>
              <a:rPr lang="en-US" altLang="zh-CN" dirty="0"/>
              <a:t>Agent</a:t>
            </a:r>
            <a:r>
              <a:rPr lang="zh-CN" altLang="en-US" dirty="0"/>
              <a:t>帮助完成文档、</a:t>
            </a:r>
            <a:r>
              <a:rPr lang="en-US" altLang="zh-CN" dirty="0"/>
              <a:t>PPT</a:t>
            </a:r>
            <a:r>
              <a:rPr lang="zh-CN" altLang="en-US" dirty="0"/>
              <a:t>、宣传音频和视频制作；</a:t>
            </a:r>
            <a:endParaRPr lang="en-US" altLang="zh-CN" dirty="0"/>
          </a:p>
          <a:p>
            <a:r>
              <a:rPr lang="zh-CN" altLang="en-US" dirty="0"/>
              <a:t>使用的智能体平台和技术不限，可以使用</a:t>
            </a:r>
            <a:r>
              <a:rPr lang="zh-CN" altLang="en-US" b="1" dirty="0">
                <a:solidFill>
                  <a:srgbClr val="FF0000"/>
                </a:solidFill>
              </a:rPr>
              <a:t>初发平台</a:t>
            </a:r>
            <a:r>
              <a:rPr lang="zh-CN" altLang="en-US" dirty="0"/>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0" y="641264"/>
            <a:ext cx="9144000" cy="557547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a:xfrm>
            <a:off x="468317" y="250825"/>
            <a:ext cx="8351837" cy="1447800"/>
          </a:xfrm>
        </p:spPr>
        <p:txBody>
          <a:bodyPr vert="horz" wrap="square" lIns="91440" tIns="45720" rIns="91440" bIns="45720" anchor="ctr" anchorCtr="0"/>
          <a:lstStyle/>
          <a:p>
            <a:pPr algn="l" eaLnBrk="1" hangingPunct="1"/>
            <a:r>
              <a:rPr lang="en-US" altLang="zh-CN" sz="3600" b="1" dirty="0">
                <a:solidFill>
                  <a:schemeClr val="accent2"/>
                </a:solidFill>
                <a:latin typeface="楷体_GB2312" pitchFamily="49" charset="-122"/>
                <a:ea typeface="楷体_GB2312" pitchFamily="49" charset="-122"/>
              </a:rPr>
              <a:t> </a:t>
            </a:r>
            <a:r>
              <a:rPr lang="zh-CN" altLang="en-US" sz="4000" b="1" dirty="0">
                <a:solidFill>
                  <a:schemeClr val="accent2"/>
                </a:solidFill>
                <a:ea typeface="楷体_GB2312" pitchFamily="49" charset="-122"/>
              </a:rPr>
              <a:t>五、课程设计题目</a:t>
            </a:r>
            <a:br>
              <a:rPr lang="zh-CN" altLang="en-US" sz="4000" b="1" dirty="0">
                <a:solidFill>
                  <a:schemeClr val="accent2"/>
                </a:solidFill>
                <a:ea typeface="楷体_GB2312" pitchFamily="49" charset="-122"/>
              </a:rPr>
            </a:br>
            <a:r>
              <a:rPr lang="zh-CN" altLang="en-US" sz="4000" b="1" dirty="0">
                <a:solidFill>
                  <a:schemeClr val="accent2"/>
                </a:solidFill>
                <a:ea typeface="楷体_GB2312" pitchFamily="49" charset="-122"/>
              </a:rPr>
              <a:t>   </a:t>
            </a:r>
            <a:r>
              <a:rPr lang="en-US" altLang="zh-CN" sz="4000" b="1" dirty="0">
                <a:solidFill>
                  <a:schemeClr val="accent2"/>
                </a:solidFill>
                <a:ea typeface="楷体_GB2312" pitchFamily="49" charset="-122"/>
              </a:rPr>
              <a:t>——</a:t>
            </a:r>
            <a:r>
              <a:rPr lang="zh-CN" altLang="en-US" sz="4000" b="1" dirty="0">
                <a:solidFill>
                  <a:schemeClr val="accent2"/>
                </a:solidFill>
                <a:ea typeface="楷体_GB2312" pitchFamily="49" charset="-122"/>
              </a:rPr>
              <a:t>个性化旅游</a:t>
            </a:r>
            <a:r>
              <a:rPr lang="zh-CN" altLang="en-US" sz="3600" b="1" dirty="0">
                <a:solidFill>
                  <a:schemeClr val="accent2"/>
                </a:solidFill>
                <a:ea typeface="楷体_GB2312" pitchFamily="49" charset="-122"/>
              </a:rPr>
              <a:t>系统的设计与实现</a:t>
            </a:r>
          </a:p>
        </p:txBody>
      </p:sp>
      <p:sp>
        <p:nvSpPr>
          <p:cNvPr id="10243" name="Rectangle 3"/>
          <p:cNvSpPr>
            <a:spLocks noGrp="1" noChangeArrowheads="1"/>
          </p:cNvSpPr>
          <p:nvPr>
            <p:ph idx="1" hasCustomPrompt="1"/>
          </p:nvPr>
        </p:nvSpPr>
        <p:spPr>
          <a:xfrm>
            <a:off x="281309" y="1774825"/>
            <a:ext cx="8490585" cy="4248150"/>
          </a:xfrm>
        </p:spPr>
        <p:txBody>
          <a:bodyPr vert="horz" wrap="square" lIns="91440" tIns="45720" rIns="91440" bIns="45720" numCol="1" anchor="t" anchorCtr="0" compatLnSpc="1"/>
          <a:lstStyle/>
          <a:p>
            <a:pPr eaLnBrk="1" hangingPunct="1">
              <a:lnSpc>
                <a:spcPct val="90000"/>
              </a:lnSpc>
              <a:buNone/>
              <a:defRPr/>
            </a:pPr>
            <a:r>
              <a:rPr lang="en-US" altLang="zh-CN" sz="4000" dirty="0">
                <a:solidFill>
                  <a:srgbClr val="990000"/>
                </a:solidFill>
                <a:latin typeface="隶书" panose="02010509060101010101" pitchFamily="49" charset="-122"/>
                <a:ea typeface="隶书" panose="02010509060101010101" pitchFamily="49" charset="-122"/>
              </a:rPr>
              <a:t>1.</a:t>
            </a:r>
            <a:r>
              <a:rPr lang="zh-CN" altLang="en-US" sz="4000" dirty="0">
                <a:solidFill>
                  <a:srgbClr val="990000"/>
                </a:solidFill>
                <a:latin typeface="隶书" panose="02010509060101010101" pitchFamily="49" charset="-122"/>
                <a:ea typeface="隶书" panose="02010509060101010101" pitchFamily="49" charset="-122"/>
              </a:rPr>
              <a:t>问题描述</a:t>
            </a:r>
          </a:p>
          <a:p>
            <a:pPr indent="360045" algn="just" eaLnBrk="1" hangingPunct="1">
              <a:lnSpc>
                <a:spcPct val="150000"/>
              </a:lnSpc>
              <a:buNone/>
              <a:defRPr/>
            </a:pPr>
            <a:r>
              <a:rPr lang="zh-CN" altLang="en-US" sz="2000" dirty="0"/>
              <a:t>当前大家经常利用假期去各地旅游。个性化旅游系统可以帮助大家管理自己的旅游活动，具备</a:t>
            </a:r>
            <a:r>
              <a:rPr lang="zh-CN" altLang="en-US" sz="2000" dirty="0">
                <a:solidFill>
                  <a:srgbClr val="FF0000"/>
                </a:solidFill>
              </a:rPr>
              <a:t>旅游地点推荐</a:t>
            </a:r>
            <a:r>
              <a:rPr lang="zh-CN" altLang="en-US" sz="2000" dirty="0"/>
              <a:t>、</a:t>
            </a:r>
            <a:r>
              <a:rPr lang="zh-CN" altLang="en-US" sz="2000" dirty="0">
                <a:solidFill>
                  <a:srgbClr val="FF0000"/>
                </a:solidFill>
              </a:rPr>
              <a:t>旅游路线规划</a:t>
            </a:r>
            <a:r>
              <a:rPr lang="zh-CN" altLang="en-US" sz="2000" dirty="0"/>
              <a:t>、</a:t>
            </a:r>
            <a:r>
              <a:rPr lang="zh-CN" altLang="en-US" sz="2000" dirty="0">
                <a:solidFill>
                  <a:srgbClr val="FF0000"/>
                </a:solidFill>
              </a:rPr>
              <a:t>旅游场所查询</a:t>
            </a:r>
            <a:r>
              <a:rPr lang="zh-CN" altLang="en-US" sz="2000" dirty="0"/>
              <a:t>、</a:t>
            </a:r>
            <a:r>
              <a:rPr lang="zh-CN" altLang="en-US" sz="2000" dirty="0">
                <a:solidFill>
                  <a:srgbClr val="FF0000"/>
                </a:solidFill>
              </a:rPr>
              <a:t>旅游日记交流</a:t>
            </a:r>
            <a:r>
              <a:rPr lang="zh-CN" altLang="en-US" sz="2000" dirty="0"/>
              <a:t>等功能。</a:t>
            </a:r>
            <a:endParaRPr lang="en-US" altLang="zh-CN" sz="2000" dirty="0"/>
          </a:p>
          <a:p>
            <a:pPr indent="360045" algn="just" eaLnBrk="1" hangingPunct="1">
              <a:lnSpc>
                <a:spcPct val="150000"/>
              </a:lnSpc>
              <a:buNone/>
              <a:defRPr/>
            </a:pPr>
            <a:r>
              <a:rPr lang="zh-CN" altLang="en-US" sz="2000" dirty="0">
                <a:solidFill>
                  <a:srgbClr val="FF0000"/>
                </a:solidFill>
              </a:rPr>
              <a:t>旅游前</a:t>
            </a:r>
            <a:r>
              <a:rPr lang="zh-CN" altLang="en-US" sz="2000" dirty="0"/>
              <a:t>：需先按照旅游目的地的热度、评价和个人兴趣</a:t>
            </a:r>
            <a:r>
              <a:rPr lang="zh-CN" altLang="en-US" sz="2000" dirty="0">
                <a:solidFill>
                  <a:srgbClr val="FF0000"/>
                </a:solidFill>
              </a:rPr>
              <a:t>选择旅游目的</a:t>
            </a:r>
            <a:r>
              <a:rPr lang="zh-CN" altLang="en-US" sz="2000" dirty="0"/>
              <a:t>地；</a:t>
            </a:r>
          </a:p>
          <a:p>
            <a:pPr indent="360045" algn="just" eaLnBrk="1" hangingPunct="1">
              <a:lnSpc>
                <a:spcPct val="150000"/>
              </a:lnSpc>
              <a:buNone/>
              <a:defRPr/>
            </a:pPr>
            <a:r>
              <a:rPr lang="zh-CN" altLang="en-US" sz="2000" dirty="0">
                <a:solidFill>
                  <a:srgbClr val="FF0000"/>
                </a:solidFill>
              </a:rPr>
              <a:t>旅游中</a:t>
            </a:r>
            <a:r>
              <a:rPr lang="zh-CN" altLang="en-US" sz="2000" dirty="0"/>
              <a:t>：在景点（包括学校）内部也需要根据游览的目标</a:t>
            </a:r>
            <a:r>
              <a:rPr lang="zh-CN" altLang="en-US" sz="2000" dirty="0">
                <a:solidFill>
                  <a:srgbClr val="FF0000"/>
                </a:solidFill>
              </a:rPr>
              <a:t>规划最优的参观线路</a:t>
            </a:r>
            <a:r>
              <a:rPr lang="zh-CN" altLang="en-US" sz="2000" dirty="0"/>
              <a:t>，在游览过程中还可以给出相应的景点介绍和</a:t>
            </a:r>
            <a:r>
              <a:rPr lang="zh-CN" altLang="en-US" sz="2000" dirty="0">
                <a:solidFill>
                  <a:srgbClr val="FF0000"/>
                </a:solidFill>
              </a:rPr>
              <a:t>场所查询</a:t>
            </a:r>
            <a:r>
              <a:rPr lang="zh-CN" altLang="en-US" sz="2000" dirty="0"/>
              <a:t>；</a:t>
            </a:r>
          </a:p>
          <a:p>
            <a:pPr indent="360045" algn="just" eaLnBrk="1" hangingPunct="1">
              <a:lnSpc>
                <a:spcPct val="150000"/>
              </a:lnSpc>
              <a:buNone/>
              <a:defRPr/>
            </a:pPr>
            <a:r>
              <a:rPr lang="zh-CN" altLang="en-US" sz="2000" dirty="0">
                <a:solidFill>
                  <a:srgbClr val="FF0000"/>
                </a:solidFill>
              </a:rPr>
              <a:t>旅游后：</a:t>
            </a:r>
            <a:r>
              <a:rPr lang="zh-CN" altLang="en-US" sz="2000" dirty="0"/>
              <a:t>可以根据所拍照片和游览经历生成</a:t>
            </a:r>
            <a:r>
              <a:rPr lang="zh-CN" altLang="en-US" sz="2000" dirty="0">
                <a:solidFill>
                  <a:srgbClr val="FF0000"/>
                </a:solidFill>
              </a:rPr>
              <a:t>旅游日记</a:t>
            </a:r>
            <a:r>
              <a:rPr lang="zh-CN" altLang="en-US" sz="2000" dirty="0"/>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p:cNvSpPr>
            <a:spLocks noGrp="1"/>
          </p:cNvSpPr>
          <p:nvPr>
            <p:ph idx="1" hasCustomPrompt="1"/>
          </p:nvPr>
        </p:nvSpPr>
        <p:spPr>
          <a:xfrm>
            <a:off x="611505" y="478159"/>
            <a:ext cx="8064500" cy="5574665"/>
          </a:xfrm>
        </p:spPr>
        <p:txBody>
          <a:bodyPr vert="horz" wrap="square" lIns="91440" tIns="45720" rIns="91440" bIns="45720" anchor="t" anchorCtr="0"/>
          <a:lstStyle/>
          <a:p>
            <a:pPr eaLnBrk="1" hangingPunct="1">
              <a:lnSpc>
                <a:spcPct val="90000"/>
              </a:lnSpc>
              <a:buNone/>
            </a:pPr>
            <a:r>
              <a:rPr lang="en-US" altLang="zh-CN" sz="4000" dirty="0">
                <a:solidFill>
                  <a:srgbClr val="990000"/>
                </a:solidFill>
                <a:latin typeface="隶书" panose="02010509060101010101" pitchFamily="49" charset="-122"/>
                <a:ea typeface="隶书" panose="02010509060101010101" pitchFamily="49" charset="-122"/>
              </a:rPr>
              <a:t>2.</a:t>
            </a:r>
            <a:r>
              <a:rPr lang="zh-CN" altLang="en-US" sz="4000" dirty="0">
                <a:solidFill>
                  <a:srgbClr val="990000"/>
                </a:solidFill>
                <a:latin typeface="隶书" panose="02010509060101010101" pitchFamily="49" charset="-122"/>
                <a:ea typeface="隶书" panose="02010509060101010101" pitchFamily="49" charset="-122"/>
              </a:rPr>
              <a:t>需求</a:t>
            </a:r>
            <a:r>
              <a:rPr lang="en-US" altLang="zh-CN" sz="4000" dirty="0">
                <a:solidFill>
                  <a:srgbClr val="990000"/>
                </a:solidFill>
                <a:latin typeface="隶书" panose="02010509060101010101" pitchFamily="49" charset="-122"/>
                <a:ea typeface="隶书" panose="02010509060101010101" pitchFamily="49" charset="-122"/>
              </a:rPr>
              <a:t>-</a:t>
            </a:r>
            <a:r>
              <a:rPr lang="zh-CN" altLang="en-US" sz="4000" dirty="0">
                <a:solidFill>
                  <a:srgbClr val="990000"/>
                </a:solidFill>
                <a:latin typeface="隶书" panose="02010509060101010101" pitchFamily="49" charset="-122"/>
                <a:ea typeface="隶书" panose="02010509060101010101" pitchFamily="49" charset="-122"/>
              </a:rPr>
              <a:t>数据要求</a:t>
            </a:r>
          </a:p>
          <a:p>
            <a:pPr eaLnBrk="1" hangingPunct="1">
              <a:lnSpc>
                <a:spcPct val="150000"/>
              </a:lnSpc>
            </a:pPr>
            <a:r>
              <a:rPr lang="zh-CN" altLang="en-US" sz="2000" dirty="0"/>
              <a:t>景区和校园数量至少</a:t>
            </a:r>
            <a:r>
              <a:rPr lang="en-US" altLang="zh-CN" sz="2000" dirty="0"/>
              <a:t>200</a:t>
            </a:r>
            <a:r>
              <a:rPr lang="zh-CN" altLang="en-US" sz="2000" dirty="0"/>
              <a:t>个，</a:t>
            </a:r>
            <a:r>
              <a:rPr lang="zh-CN" altLang="en-US" sz="2000" dirty="0">
                <a:solidFill>
                  <a:srgbClr val="FF0000"/>
                </a:solidFill>
              </a:rPr>
              <a:t>景区和校园内部可以一致</a:t>
            </a:r>
            <a:r>
              <a:rPr lang="zh-CN" altLang="en-US" sz="2000" dirty="0"/>
              <a:t>；</a:t>
            </a:r>
            <a:endParaRPr lang="en-US" altLang="zh-CN" sz="2000" dirty="0"/>
          </a:p>
          <a:p>
            <a:pPr eaLnBrk="1" hangingPunct="1">
              <a:lnSpc>
                <a:spcPct val="150000"/>
              </a:lnSpc>
            </a:pPr>
            <a:r>
              <a:rPr lang="zh-CN" altLang="en-US" sz="2000" dirty="0"/>
              <a:t>景区和校园内</a:t>
            </a:r>
            <a:r>
              <a:rPr lang="zh-CN" altLang="en-US" sz="2000" dirty="0">
                <a:solidFill>
                  <a:srgbClr val="FF0000"/>
                </a:solidFill>
              </a:rPr>
              <a:t>建筑物</a:t>
            </a:r>
            <a:r>
              <a:rPr lang="zh-CN" altLang="en-US" sz="2000" dirty="0"/>
              <a:t>（景点、教学楼、办公楼、宿舍楼）数不少于</a:t>
            </a:r>
            <a:r>
              <a:rPr lang="en-US" altLang="zh-CN" sz="2000" dirty="0"/>
              <a:t>20</a:t>
            </a:r>
            <a:r>
              <a:rPr lang="zh-CN" altLang="en-US" sz="2000" dirty="0"/>
              <a:t>个；</a:t>
            </a:r>
            <a:r>
              <a:rPr lang="zh-CN" altLang="en-US" sz="2000" dirty="0">
                <a:solidFill>
                  <a:srgbClr val="FF0000"/>
                </a:solidFill>
              </a:rPr>
              <a:t>其它服务设施</a:t>
            </a:r>
            <a:r>
              <a:rPr lang="zh-CN" altLang="en-US" sz="2000" dirty="0"/>
              <a:t>不少于</a:t>
            </a:r>
            <a:r>
              <a:rPr lang="en-US" altLang="zh-CN" sz="2000" dirty="0"/>
              <a:t>10</a:t>
            </a:r>
            <a:r>
              <a:rPr lang="zh-CN" altLang="en-US" sz="2000" dirty="0"/>
              <a:t>种（商店、饭店、洗手间、图书馆、食堂、超市、咖啡馆等），数量不少于</a:t>
            </a:r>
            <a:r>
              <a:rPr lang="en-US" altLang="zh-CN" sz="2000" dirty="0"/>
              <a:t>50</a:t>
            </a:r>
            <a:r>
              <a:rPr lang="zh-CN" altLang="en-US" sz="2000" dirty="0"/>
              <a:t>个；</a:t>
            </a:r>
          </a:p>
          <a:p>
            <a:pPr eaLnBrk="1" hangingPunct="1">
              <a:lnSpc>
                <a:spcPct val="150000"/>
              </a:lnSpc>
            </a:pPr>
            <a:r>
              <a:rPr lang="zh-CN" altLang="en-US" sz="2000" dirty="0"/>
              <a:t>建立景区和校园内部</a:t>
            </a:r>
            <a:r>
              <a:rPr lang="zh-CN" altLang="en-US" sz="2000" dirty="0">
                <a:solidFill>
                  <a:srgbClr val="FF0000"/>
                </a:solidFill>
              </a:rPr>
              <a:t>道路图</a:t>
            </a:r>
            <a:endParaRPr lang="en-US" altLang="zh-CN" sz="2000" dirty="0">
              <a:solidFill>
                <a:srgbClr val="FF0000"/>
              </a:solidFill>
            </a:endParaRPr>
          </a:p>
          <a:p>
            <a:pPr lvl="1" eaLnBrk="1" hangingPunct="1">
              <a:lnSpc>
                <a:spcPct val="150000"/>
              </a:lnSpc>
            </a:pPr>
            <a:r>
              <a:rPr lang="zh-CN" altLang="en-US" sz="1800" dirty="0"/>
              <a:t>包括各种建筑物、服务设施等信息；</a:t>
            </a:r>
            <a:endParaRPr lang="en-US" altLang="zh-CN" sz="1800" dirty="0"/>
          </a:p>
          <a:p>
            <a:pPr lvl="1" eaLnBrk="1" hangingPunct="1">
              <a:lnSpc>
                <a:spcPct val="150000"/>
              </a:lnSpc>
            </a:pPr>
            <a:r>
              <a:rPr lang="zh-CN" altLang="en-US" sz="1800" dirty="0"/>
              <a:t>边数不能少于</a:t>
            </a:r>
            <a:r>
              <a:rPr lang="en-US" altLang="zh-CN" sz="1800" dirty="0"/>
              <a:t>200</a:t>
            </a:r>
            <a:r>
              <a:rPr lang="zh-CN" altLang="en-US" sz="1800" dirty="0"/>
              <a:t>条（尽量接近真实景区和校园，建议爬取真实地图数据）；</a:t>
            </a:r>
            <a:endParaRPr lang="en-US" altLang="zh-CN" sz="1800" dirty="0"/>
          </a:p>
          <a:p>
            <a:pPr eaLnBrk="1" hangingPunct="1">
              <a:lnSpc>
                <a:spcPct val="150000"/>
              </a:lnSpc>
            </a:pPr>
            <a:r>
              <a:rPr lang="zh-CN" altLang="en-US" sz="2000" dirty="0">
                <a:solidFill>
                  <a:srgbClr val="FF0000"/>
                </a:solidFill>
              </a:rPr>
              <a:t>系统用户数</a:t>
            </a:r>
            <a:r>
              <a:rPr lang="zh-CN" altLang="en-US" sz="2000" dirty="0"/>
              <a:t>不少于</a:t>
            </a:r>
            <a:r>
              <a:rPr lang="en-US" altLang="zh-CN" sz="2000" dirty="0"/>
              <a:t>10</a:t>
            </a:r>
            <a:r>
              <a:rPr lang="zh-CN" altLang="en-US" sz="2000" dirty="0"/>
              <a:t>人；</a:t>
            </a:r>
            <a:endParaRPr lang="en-US" altLang="zh-CN" sz="2000" dirty="0"/>
          </a:p>
          <a:p>
            <a:pPr eaLnBrk="1" hangingPunct="1">
              <a:lnSpc>
                <a:spcPct val="90000"/>
              </a:lnSpc>
            </a:pPr>
            <a:endParaRPr lang="en-US" altLang="zh-CN"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216539" y="189234"/>
            <a:ext cx="8681085" cy="5691505"/>
          </a:xfrm>
        </p:spPr>
        <p:txBody>
          <a:bodyPr vert="horz" wrap="square" lIns="91440" tIns="45720" rIns="91440" bIns="45720" numCol="1" anchor="t" anchorCtr="0" compatLnSpc="1"/>
          <a:lstStyle/>
          <a:p>
            <a:pPr marL="0" indent="0" eaLnBrk="1" hangingPunct="1">
              <a:lnSpc>
                <a:spcPct val="150000"/>
              </a:lnSpc>
              <a:buNone/>
              <a:defRPr/>
            </a:pPr>
            <a:r>
              <a:rPr lang="en-US" altLang="zh-CN" sz="3600" dirty="0">
                <a:solidFill>
                  <a:srgbClr val="990000"/>
                </a:solidFill>
                <a:latin typeface="隶书" panose="02010509060101010101" pitchFamily="49" charset="-122"/>
                <a:ea typeface="隶书" panose="02010509060101010101" pitchFamily="49" charset="-122"/>
              </a:rPr>
              <a:t>2.</a:t>
            </a:r>
            <a:r>
              <a:rPr lang="zh-CN" altLang="en-US" sz="3600" dirty="0">
                <a:solidFill>
                  <a:srgbClr val="990000"/>
                </a:solidFill>
                <a:latin typeface="隶书" panose="02010509060101010101" pitchFamily="49" charset="-122"/>
                <a:ea typeface="隶书" panose="02010509060101010101" pitchFamily="49" charset="-122"/>
              </a:rPr>
              <a:t>需求</a:t>
            </a:r>
            <a:r>
              <a:rPr lang="en-US" altLang="zh-CN" sz="3600" dirty="0">
                <a:solidFill>
                  <a:srgbClr val="990000"/>
                </a:solidFill>
                <a:latin typeface="隶书" panose="02010509060101010101" pitchFamily="49" charset="-122"/>
                <a:ea typeface="隶书" panose="02010509060101010101" pitchFamily="49" charset="-122"/>
              </a:rPr>
              <a:t>-</a:t>
            </a:r>
            <a:r>
              <a:rPr lang="zh-CN" altLang="en-US" sz="3600" dirty="0">
                <a:solidFill>
                  <a:srgbClr val="990000"/>
                </a:solidFill>
                <a:latin typeface="隶书" panose="02010509060101010101" pitchFamily="49" charset="-122"/>
                <a:ea typeface="隶书" panose="02010509060101010101" pitchFamily="49" charset="-122"/>
              </a:rPr>
              <a:t>基本功能需求</a:t>
            </a:r>
            <a:endParaRPr lang="en-US" altLang="zh-CN" sz="3600" dirty="0">
              <a:solidFill>
                <a:srgbClr val="990000"/>
              </a:solidFill>
              <a:latin typeface="隶书" panose="02010509060101010101" pitchFamily="49" charset="-122"/>
              <a:ea typeface="隶书" panose="02010509060101010101" pitchFamily="49" charset="-122"/>
            </a:endParaRPr>
          </a:p>
          <a:p>
            <a:pPr marL="0" indent="0" eaLnBrk="1" hangingPunct="1">
              <a:lnSpc>
                <a:spcPct val="150000"/>
              </a:lnSpc>
              <a:buNone/>
              <a:defRPr/>
            </a:pPr>
            <a:r>
              <a:rPr lang="zh-CN" altLang="en-US" sz="2000" dirty="0"/>
              <a:t>（</a:t>
            </a:r>
            <a:r>
              <a:rPr lang="en-US" altLang="zh-CN" sz="2000" dirty="0"/>
              <a:t>1</a:t>
            </a:r>
            <a:r>
              <a:rPr lang="zh-CN" altLang="en-US" sz="2000" dirty="0"/>
              <a:t>）</a:t>
            </a:r>
            <a:r>
              <a:rPr lang="zh-CN" altLang="en-US" sz="2000" b="1" dirty="0">
                <a:solidFill>
                  <a:srgbClr val="FF0000"/>
                </a:solidFill>
              </a:rPr>
              <a:t>创新需求</a:t>
            </a:r>
            <a:r>
              <a:rPr lang="zh-CN" altLang="en-US" sz="2000" dirty="0"/>
              <a:t>：</a:t>
            </a:r>
            <a:r>
              <a:rPr lang="zh-CN" altLang="en-US" sz="2000" dirty="0">
                <a:solidFill>
                  <a:srgbClr val="FF0000"/>
                </a:solidFill>
              </a:rPr>
              <a:t>所开发系统解决现在哪些实际的需求，并且是当前旅游系统提供不了的；</a:t>
            </a:r>
            <a:endParaRPr lang="en-US" altLang="zh-CN" sz="2000" dirty="0">
              <a:solidFill>
                <a:srgbClr val="FF0000"/>
              </a:solidFill>
            </a:endParaRPr>
          </a:p>
          <a:p>
            <a:pPr marL="0" indent="0" eaLnBrk="1" hangingPunct="1">
              <a:lnSpc>
                <a:spcPct val="150000"/>
              </a:lnSpc>
              <a:buNone/>
              <a:defRPr/>
            </a:pPr>
            <a:r>
              <a:rPr lang="zh-CN" altLang="en-US" sz="2000" dirty="0">
                <a:latin typeface="+mn-ea"/>
              </a:rPr>
              <a:t>（</a:t>
            </a:r>
            <a:r>
              <a:rPr lang="en-US" altLang="zh-CN" sz="2000" dirty="0">
                <a:latin typeface="+mn-ea"/>
              </a:rPr>
              <a:t>2</a:t>
            </a:r>
            <a:r>
              <a:rPr lang="zh-CN" altLang="en-US" sz="2000" dirty="0">
                <a:latin typeface="+mn-ea"/>
              </a:rPr>
              <a:t>）</a:t>
            </a:r>
            <a:r>
              <a:rPr lang="zh-CN" altLang="en-US" sz="2000" dirty="0"/>
              <a:t>所有列出的功能都需要实现，验收时需要能够演示所有功能，</a:t>
            </a:r>
            <a:r>
              <a:rPr lang="zh-CN" altLang="en-US" sz="2000" dirty="0">
                <a:solidFill>
                  <a:srgbClr val="FF0000"/>
                </a:solidFill>
              </a:rPr>
              <a:t>验收的要求</a:t>
            </a:r>
            <a:r>
              <a:rPr lang="zh-CN" altLang="en-US" sz="2000" dirty="0"/>
              <a:t>会在验收前一个月公布；</a:t>
            </a:r>
            <a:endParaRPr lang="en-US" altLang="zh-CN" sz="2000" dirty="0"/>
          </a:p>
          <a:p>
            <a:pPr marL="0" indent="0" eaLnBrk="1" hangingPunct="1">
              <a:lnSpc>
                <a:spcPct val="150000"/>
              </a:lnSpc>
              <a:buNone/>
              <a:defRPr/>
            </a:pPr>
            <a:r>
              <a:rPr lang="zh-CN" altLang="en-US" sz="2000" dirty="0">
                <a:latin typeface="+mn-ea"/>
              </a:rPr>
              <a:t>（</a:t>
            </a:r>
            <a:r>
              <a:rPr lang="en-US" altLang="zh-CN" sz="2000" dirty="0">
                <a:latin typeface="+mn-ea"/>
              </a:rPr>
              <a:t>3</a:t>
            </a:r>
            <a:r>
              <a:rPr lang="zh-CN" altLang="en-US" sz="2000" dirty="0">
                <a:latin typeface="+mn-ea"/>
              </a:rPr>
              <a:t>）每个功能后面的注释部分都列出了</a:t>
            </a:r>
            <a:r>
              <a:rPr lang="zh-CN" altLang="en-US" sz="2000" dirty="0">
                <a:solidFill>
                  <a:srgbClr val="FF0000"/>
                </a:solidFill>
                <a:latin typeface="+mn-ea"/>
              </a:rPr>
              <a:t>核心算法</a:t>
            </a:r>
            <a:r>
              <a:rPr lang="zh-CN" altLang="en-US" sz="2000" dirty="0">
                <a:latin typeface="+mn-ea"/>
              </a:rPr>
              <a:t>，</a:t>
            </a:r>
            <a:r>
              <a:rPr lang="zh-CN" altLang="en-US" sz="2000" dirty="0">
                <a:solidFill>
                  <a:srgbClr val="FF0000"/>
                </a:solidFill>
                <a:latin typeface="+mn-ea"/>
              </a:rPr>
              <a:t>核心算法</a:t>
            </a:r>
            <a:r>
              <a:rPr lang="zh-CN" altLang="en-US" sz="2000" dirty="0">
                <a:latin typeface="+mn-ea"/>
              </a:rPr>
              <a:t>必须基于</a:t>
            </a:r>
            <a:r>
              <a:rPr lang="zh-CN" altLang="en-US" sz="2000" dirty="0">
                <a:solidFill>
                  <a:srgbClr val="FF0000"/>
                </a:solidFill>
                <a:latin typeface="+mn-ea"/>
              </a:rPr>
              <a:t>自己设计的数据结构</a:t>
            </a:r>
            <a:r>
              <a:rPr lang="zh-CN" altLang="en-US" sz="2000" dirty="0">
                <a:latin typeface="+mn-ea"/>
              </a:rPr>
              <a:t>，自己编程实现，是考查的重点；</a:t>
            </a:r>
            <a:endParaRPr lang="en-US" altLang="zh-CN" sz="2000" dirty="0">
              <a:latin typeface="+mn-ea"/>
            </a:endParaRPr>
          </a:p>
          <a:p>
            <a:pPr marL="0" indent="0" eaLnBrk="1" hangingPunct="1">
              <a:lnSpc>
                <a:spcPct val="150000"/>
              </a:lnSpc>
              <a:buNone/>
              <a:defRPr/>
            </a:pPr>
            <a:r>
              <a:rPr lang="zh-CN" altLang="en-US" sz="2000" dirty="0">
                <a:latin typeface="+mn-ea"/>
              </a:rPr>
              <a:t>（</a:t>
            </a:r>
            <a:r>
              <a:rPr lang="en-US" altLang="zh-CN" sz="2000" dirty="0">
                <a:latin typeface="+mn-ea"/>
              </a:rPr>
              <a:t>4</a:t>
            </a:r>
            <a:r>
              <a:rPr lang="zh-CN" altLang="en-US" sz="2000" dirty="0">
                <a:latin typeface="+mn-ea"/>
              </a:rPr>
              <a:t>）建议大家尝试使用</a:t>
            </a:r>
            <a:r>
              <a:rPr lang="zh-CN" altLang="en-US" sz="2000" dirty="0">
                <a:solidFill>
                  <a:srgbClr val="FF0000"/>
                </a:solidFill>
                <a:latin typeface="+mn-ea"/>
              </a:rPr>
              <a:t>智能体</a:t>
            </a:r>
            <a:r>
              <a:rPr lang="zh-CN" altLang="en-US" sz="2000" dirty="0">
                <a:latin typeface="+mn-ea"/>
              </a:rPr>
              <a:t>进行系统的设计和开发；核心在于要比较多种算法的性能和效果；</a:t>
            </a:r>
            <a:endParaRPr lang="en-US" altLang="zh-CN" sz="2000" dirty="0">
              <a:latin typeface="+mn-ea"/>
            </a:endParaRPr>
          </a:p>
          <a:p>
            <a:pPr marL="0" indent="0" eaLnBrk="1" hangingPunct="1">
              <a:lnSpc>
                <a:spcPct val="150000"/>
              </a:lnSpc>
              <a:buNone/>
              <a:defRPr/>
            </a:pPr>
            <a:r>
              <a:rPr lang="zh-CN" altLang="en-US" sz="2000" dirty="0">
                <a:latin typeface="+mn-ea"/>
              </a:rPr>
              <a:t>（</a:t>
            </a:r>
            <a:r>
              <a:rPr lang="en-US" altLang="zh-CN" sz="2000" dirty="0">
                <a:latin typeface="+mn-ea"/>
              </a:rPr>
              <a:t>5</a:t>
            </a:r>
            <a:r>
              <a:rPr lang="zh-CN" altLang="en-US" sz="2000" dirty="0">
                <a:latin typeface="+mn-ea"/>
              </a:rPr>
              <a:t>）要求最终提供</a:t>
            </a:r>
            <a:r>
              <a:rPr lang="zh-CN" altLang="en-US" sz="2000" dirty="0">
                <a:solidFill>
                  <a:srgbClr val="FF0000"/>
                </a:solidFill>
                <a:latin typeface="+mn-ea"/>
              </a:rPr>
              <a:t>真实可用</a:t>
            </a:r>
            <a:r>
              <a:rPr lang="zh-CN" altLang="en-US" sz="2000" dirty="0">
                <a:latin typeface="+mn-ea"/>
              </a:rPr>
              <a:t>的系统；</a:t>
            </a:r>
            <a:r>
              <a:rPr lang="zh-CN" altLang="en-US" sz="2000" dirty="0">
                <a:solidFill>
                  <a:srgbClr val="FF0000"/>
                </a:solidFill>
                <a:latin typeface="+mn-ea"/>
              </a:rPr>
              <a:t>系统架构和开发语言</a:t>
            </a:r>
            <a:r>
              <a:rPr lang="zh-CN" altLang="en-US" sz="2000" dirty="0">
                <a:latin typeface="+mn-ea"/>
              </a:rPr>
              <a:t>不做限制。</a:t>
            </a:r>
            <a:endParaRPr lang="en-US" altLang="zh-CN" sz="2000" dirty="0">
              <a:latin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194310" y="332744"/>
            <a:ext cx="8554720" cy="5691505"/>
          </a:xfrm>
        </p:spPr>
        <p:txBody>
          <a:bodyPr vert="horz" wrap="square" lIns="91440" tIns="45720" rIns="91440" bIns="45720" numCol="1" anchor="t" anchorCtr="0" compatLnSpc="1"/>
          <a:lstStyle/>
          <a:p>
            <a:pPr marL="0" indent="0" eaLnBrk="1" hangingPunct="1">
              <a:lnSpc>
                <a:spcPct val="90000"/>
              </a:lnSpc>
              <a:buNone/>
              <a:defRPr/>
            </a:pPr>
            <a:r>
              <a:rPr lang="en-US" altLang="zh-CN" sz="4000" dirty="0">
                <a:solidFill>
                  <a:srgbClr val="990000"/>
                </a:solidFill>
                <a:latin typeface="隶书" panose="02010509060101010101" pitchFamily="49" charset="-122"/>
                <a:ea typeface="隶书" panose="02010509060101010101" pitchFamily="49" charset="-122"/>
              </a:rPr>
              <a:t>2.</a:t>
            </a:r>
            <a:r>
              <a:rPr lang="zh-CN" altLang="en-US" sz="4000" dirty="0">
                <a:solidFill>
                  <a:srgbClr val="990000"/>
                </a:solidFill>
                <a:latin typeface="隶书" panose="02010509060101010101" pitchFamily="49" charset="-122"/>
                <a:ea typeface="隶书" panose="02010509060101010101" pitchFamily="49" charset="-122"/>
              </a:rPr>
              <a:t>基本功能需求（续</a:t>
            </a:r>
            <a:r>
              <a:rPr lang="en-US" altLang="zh-CN" sz="4000" dirty="0">
                <a:solidFill>
                  <a:srgbClr val="990000"/>
                </a:solidFill>
                <a:latin typeface="隶书" panose="02010509060101010101" pitchFamily="49" charset="-122"/>
                <a:ea typeface="隶书" panose="02010509060101010101" pitchFamily="49" charset="-122"/>
              </a:rPr>
              <a:t>1</a:t>
            </a:r>
            <a:r>
              <a:rPr lang="zh-CN" altLang="en-US" sz="4000" dirty="0">
                <a:solidFill>
                  <a:srgbClr val="990000"/>
                </a:solidFill>
                <a:latin typeface="隶书" panose="02010509060101010101" pitchFamily="49" charset="-122"/>
                <a:ea typeface="隶书" panose="02010509060101010101" pitchFamily="49" charset="-122"/>
              </a:rPr>
              <a:t>）</a:t>
            </a:r>
            <a:endParaRPr lang="en-US" altLang="zh-CN" sz="4000" dirty="0">
              <a:solidFill>
                <a:srgbClr val="990000"/>
              </a:solidFill>
              <a:latin typeface="隶书" panose="02010509060101010101" pitchFamily="49" charset="-122"/>
              <a:ea typeface="隶书" panose="02010509060101010101" pitchFamily="49" charset="-122"/>
            </a:endParaRPr>
          </a:p>
          <a:p>
            <a:pPr marL="0" indent="0" eaLnBrk="1" hangingPunct="1">
              <a:lnSpc>
                <a:spcPct val="90000"/>
              </a:lnSpc>
              <a:buNone/>
              <a:defRPr/>
            </a:pPr>
            <a:r>
              <a:rPr lang="zh-CN" altLang="en-US" sz="2800" b="1" dirty="0"/>
              <a:t>   </a:t>
            </a:r>
            <a:r>
              <a:rPr lang="zh-CN" altLang="en-US" sz="2400" b="1" dirty="0"/>
              <a:t> （</a:t>
            </a:r>
            <a:r>
              <a:rPr lang="en-US" altLang="zh-CN" sz="2400" b="1" dirty="0"/>
              <a:t>1</a:t>
            </a:r>
            <a:r>
              <a:rPr lang="zh-CN" altLang="en-US" sz="2400" b="1" dirty="0"/>
              <a:t>）旅游推荐</a:t>
            </a:r>
            <a:endParaRPr lang="en-US" altLang="zh-CN" sz="2800" b="1" dirty="0"/>
          </a:p>
          <a:p>
            <a:pPr lvl="1" eaLnBrk="1" hangingPunct="1">
              <a:lnSpc>
                <a:spcPct val="150000"/>
              </a:lnSpc>
              <a:buFont typeface="Wingdings" panose="05000000000000000000" pitchFamily="2" charset="2"/>
              <a:buChar char="ü"/>
              <a:defRPr/>
            </a:pPr>
            <a:r>
              <a:rPr lang="zh-CN" altLang="en-US" sz="2000" dirty="0"/>
              <a:t>用户可以根据自己的喜好选择不同的景点和学校作为旅游目的地；</a:t>
            </a:r>
            <a:endParaRPr lang="en-US" altLang="zh-CN" sz="2000" dirty="0"/>
          </a:p>
          <a:p>
            <a:pPr lvl="1" eaLnBrk="1" hangingPunct="1">
              <a:lnSpc>
                <a:spcPct val="150000"/>
              </a:lnSpc>
              <a:buFont typeface="Wingdings" panose="05000000000000000000" pitchFamily="2" charset="2"/>
              <a:buChar char="ü"/>
              <a:defRPr/>
            </a:pPr>
            <a:r>
              <a:rPr lang="zh-CN" altLang="en-US" sz="2000" dirty="0"/>
              <a:t>在游览前，系统会向用户推荐旅游景点和学校，可以按照旅游热度、评价和个人兴趣进行推荐；</a:t>
            </a:r>
            <a:endParaRPr lang="en-US" altLang="zh-CN" sz="2000" dirty="0"/>
          </a:p>
          <a:p>
            <a:pPr lvl="1" eaLnBrk="1" hangingPunct="1">
              <a:lnSpc>
                <a:spcPct val="150000"/>
              </a:lnSpc>
              <a:buFont typeface="Wingdings" panose="05000000000000000000" pitchFamily="2" charset="2"/>
              <a:buChar char="ü"/>
              <a:defRPr/>
            </a:pPr>
            <a:r>
              <a:rPr lang="zh-CN" altLang="en-US" sz="2000" dirty="0">
                <a:latin typeface="+mn-ea"/>
              </a:rPr>
              <a:t>推荐算法基础要求为排序算法，可以按照用户选择的热度和评价进行排序；（</a:t>
            </a:r>
            <a:r>
              <a:rPr lang="zh-CN" altLang="en-US" sz="2000" dirty="0">
                <a:solidFill>
                  <a:srgbClr val="FF0000"/>
                </a:solidFill>
                <a:latin typeface="+mn-ea"/>
              </a:rPr>
              <a:t>核心算法为排序算法</a:t>
            </a:r>
            <a:r>
              <a:rPr lang="zh-CN" altLang="en-US" sz="2000" dirty="0">
                <a:latin typeface="+mn-ea"/>
              </a:rPr>
              <a:t>，考虑到用户通常只看前</a:t>
            </a:r>
            <a:r>
              <a:rPr lang="en-US" altLang="zh-CN" sz="2000" dirty="0">
                <a:latin typeface="+mn-ea"/>
              </a:rPr>
              <a:t>10</a:t>
            </a:r>
            <a:r>
              <a:rPr lang="zh-CN" altLang="en-US" sz="2000" dirty="0">
                <a:latin typeface="+mn-ea"/>
              </a:rPr>
              <a:t>个景点或者学校，要求不经过完全排序可以排好前</a:t>
            </a:r>
            <a:r>
              <a:rPr lang="en-US" altLang="zh-CN" sz="2000" dirty="0">
                <a:latin typeface="+mn-ea"/>
              </a:rPr>
              <a:t>10</a:t>
            </a:r>
            <a:r>
              <a:rPr lang="zh-CN" altLang="en-US" sz="2000" dirty="0">
                <a:latin typeface="+mn-ea"/>
              </a:rPr>
              <a:t>的景点或者学校，并且考虑数据动态变化）</a:t>
            </a:r>
            <a:endParaRPr lang="en-US" altLang="zh-CN" sz="2000" dirty="0">
              <a:latin typeface="+mn-ea"/>
            </a:endParaRPr>
          </a:p>
          <a:p>
            <a:pPr lvl="1" eaLnBrk="1" hangingPunct="1">
              <a:lnSpc>
                <a:spcPct val="150000"/>
              </a:lnSpc>
              <a:buFont typeface="Wingdings" panose="05000000000000000000" pitchFamily="2" charset="2"/>
              <a:buChar char="ü"/>
              <a:defRPr/>
            </a:pPr>
            <a:r>
              <a:rPr lang="zh-CN" altLang="en-US" sz="2000" dirty="0">
                <a:latin typeface="+mn-ea"/>
              </a:rPr>
              <a:t>用户可以输入景点和学校的名称、类别、关键字等进行查询，查询结果有多项时，可以对查询结果按照热度和评价进行排序。（</a:t>
            </a:r>
            <a:r>
              <a:rPr lang="zh-CN" altLang="en-US" sz="2000" dirty="0">
                <a:solidFill>
                  <a:srgbClr val="FF0000"/>
                </a:solidFill>
                <a:latin typeface="+mn-ea"/>
              </a:rPr>
              <a:t>核心算法为查找算法和排序算法</a:t>
            </a:r>
            <a:r>
              <a:rPr lang="zh-CN" altLang="en-US" sz="2000" dirty="0">
                <a:latin typeface="+mn-ea"/>
              </a:rPr>
              <a:t>）</a:t>
            </a:r>
            <a:endParaRPr lang="en-US" altLang="zh-CN" sz="2000" dirty="0">
              <a:latin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内容占位符 2"/>
          <p:cNvSpPr>
            <a:spLocks noGrp="1"/>
          </p:cNvSpPr>
          <p:nvPr>
            <p:ph idx="1" hasCustomPrompt="1"/>
          </p:nvPr>
        </p:nvSpPr>
        <p:spPr>
          <a:xfrm>
            <a:off x="184154" y="476254"/>
            <a:ext cx="8579485" cy="5691505"/>
          </a:xfrm>
        </p:spPr>
        <p:txBody>
          <a:bodyPr vert="horz" wrap="square" lIns="91440" tIns="45720" rIns="91440" bIns="45720" anchor="t" anchorCtr="0"/>
          <a:lstStyle/>
          <a:p>
            <a:pPr marL="0" indent="0" eaLnBrk="1" hangingPunct="1">
              <a:lnSpc>
                <a:spcPct val="90000"/>
              </a:lnSpc>
              <a:buNone/>
            </a:pPr>
            <a:r>
              <a:rPr lang="en-US" altLang="zh-CN" sz="4000" dirty="0">
                <a:solidFill>
                  <a:srgbClr val="990000"/>
                </a:solidFill>
                <a:latin typeface="隶书" panose="02010509060101010101" pitchFamily="49" charset="-122"/>
                <a:ea typeface="隶书" panose="02010509060101010101" pitchFamily="49" charset="-122"/>
              </a:rPr>
              <a:t>2.</a:t>
            </a:r>
            <a:r>
              <a:rPr lang="zh-CN" altLang="en-US" sz="4000" dirty="0">
                <a:solidFill>
                  <a:srgbClr val="990000"/>
                </a:solidFill>
                <a:latin typeface="隶书" panose="02010509060101010101" pitchFamily="49" charset="-122"/>
                <a:ea typeface="隶书" panose="02010509060101010101" pitchFamily="49" charset="-122"/>
              </a:rPr>
              <a:t>基本功能需求（续</a:t>
            </a:r>
            <a:r>
              <a:rPr lang="en-US" altLang="zh-CN" sz="4000" dirty="0">
                <a:solidFill>
                  <a:srgbClr val="990000"/>
                </a:solidFill>
                <a:latin typeface="隶书" panose="02010509060101010101" pitchFamily="49" charset="-122"/>
                <a:ea typeface="隶书" panose="02010509060101010101" pitchFamily="49" charset="-122"/>
              </a:rPr>
              <a:t>2</a:t>
            </a:r>
            <a:r>
              <a:rPr lang="zh-CN" altLang="en-US" sz="4000" dirty="0">
                <a:solidFill>
                  <a:srgbClr val="990000"/>
                </a:solidFill>
                <a:latin typeface="隶书" panose="02010509060101010101" pitchFamily="49" charset="-122"/>
                <a:ea typeface="隶书" panose="02010509060101010101" pitchFamily="49" charset="-122"/>
              </a:rPr>
              <a:t>）</a:t>
            </a:r>
            <a:endParaRPr lang="en-US" altLang="zh-CN" sz="4000" dirty="0">
              <a:solidFill>
                <a:srgbClr val="990000"/>
              </a:solidFill>
              <a:latin typeface="隶书" panose="02010509060101010101" pitchFamily="49" charset="-122"/>
              <a:ea typeface="隶书" panose="02010509060101010101" pitchFamily="49" charset="-122"/>
            </a:endParaRPr>
          </a:p>
          <a:p>
            <a:pPr marL="0" indent="0" eaLnBrk="1" hangingPunct="1">
              <a:lnSpc>
                <a:spcPct val="150000"/>
              </a:lnSpc>
              <a:buNone/>
            </a:pPr>
            <a:r>
              <a:rPr lang="zh-CN" altLang="en-US" sz="2400" b="1" dirty="0"/>
              <a:t>    （</a:t>
            </a:r>
            <a:r>
              <a:rPr lang="en-US" altLang="zh-CN" sz="2400" b="1" dirty="0"/>
              <a:t>2</a:t>
            </a:r>
            <a:r>
              <a:rPr lang="zh-CN" altLang="en-US" sz="2400" b="1" dirty="0"/>
              <a:t>） 旅游路线规划</a:t>
            </a:r>
            <a:endParaRPr lang="en-US" altLang="zh-CN" sz="2400" b="1" dirty="0"/>
          </a:p>
          <a:p>
            <a:pPr lvl="1" eaLnBrk="1" hangingPunct="1">
              <a:lnSpc>
                <a:spcPct val="150000"/>
              </a:lnSpc>
              <a:buFont typeface="Wingdings" panose="05000000000000000000" pitchFamily="2" charset="2"/>
              <a:buChar char="ü"/>
            </a:pPr>
            <a:r>
              <a:rPr lang="zh-CN" altLang="en-US" sz="2000" dirty="0"/>
              <a:t>当进入景区或者学校后，用户可以输入目标景点或者场所信息，系统会为用户规划从当前位置出发到达景点或者场所的最优旅游线路；（</a:t>
            </a:r>
            <a:r>
              <a:rPr lang="zh-CN" altLang="en-US" sz="2000" dirty="0">
                <a:solidFill>
                  <a:srgbClr val="FF0000"/>
                </a:solidFill>
              </a:rPr>
              <a:t>核心算法为最短路径算法</a:t>
            </a:r>
            <a:r>
              <a:rPr lang="zh-CN" altLang="en-US" sz="2000" dirty="0"/>
              <a:t>）</a:t>
            </a:r>
            <a:endParaRPr lang="en-US" altLang="zh-CN" sz="2000" dirty="0"/>
          </a:p>
          <a:p>
            <a:pPr lvl="1" eaLnBrk="1" hangingPunct="1">
              <a:lnSpc>
                <a:spcPct val="150000"/>
              </a:lnSpc>
              <a:buFont typeface="Wingdings" panose="05000000000000000000" pitchFamily="2" charset="2"/>
              <a:buChar char="ü"/>
            </a:pPr>
            <a:r>
              <a:rPr lang="zh-CN" altLang="en-US" sz="2000" dirty="0"/>
              <a:t>当进入景区或者学校后，用户可以输入多个目标景点或者场所信息，系统会为用户规划从当前位置出发，参观多个景点或者场所的最优旅游线路。（</a:t>
            </a:r>
            <a:r>
              <a:rPr lang="zh-CN" altLang="en-US" sz="2000" dirty="0">
                <a:solidFill>
                  <a:srgbClr val="FF0000"/>
                </a:solidFill>
              </a:rPr>
              <a:t>核心算法为途经多点最短路径算法，从当前位置出发，参观完返回当前位置。</a:t>
            </a:r>
            <a:r>
              <a:rPr lang="zh-CN" altLang="en-US" sz="2000" dirty="0"/>
              <a:t>）</a:t>
            </a:r>
            <a:endParaRPr lang="en-US" altLang="zh-CN" sz="2000" dirty="0"/>
          </a:p>
          <a:p>
            <a:pPr lvl="1" eaLnBrk="1" hangingPunct="1">
              <a:lnSpc>
                <a:spcPct val="150000"/>
              </a:lnSpc>
              <a:buFont typeface="Wingdings" panose="05000000000000000000" pitchFamily="2" charset="2"/>
              <a:buChar char="ü"/>
            </a:pPr>
            <a:r>
              <a:rPr lang="zh-CN" altLang="en-US" sz="2000" dirty="0">
                <a:latin typeface="+mn-ea"/>
                <a:sym typeface="Symbol" panose="05050102010706020507" pitchFamily="18" charset="2"/>
              </a:rPr>
              <a:t>设计导航功能的图形界面，包括地图展示和输出路径展示；</a:t>
            </a:r>
            <a:endParaRPr lang="en-US" altLang="zh-CN" sz="2000" dirty="0"/>
          </a:p>
          <a:p>
            <a:pPr marL="0" indent="0" eaLnBrk="1" hangingPunct="1">
              <a:lnSpc>
                <a:spcPct val="90000"/>
              </a:lnSpc>
              <a:buNone/>
            </a:pPr>
            <a:endParaRPr lang="en-US" altLang="zh-CN" sz="2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内容占位符 2"/>
          <p:cNvSpPr>
            <a:spLocks noGrp="1"/>
          </p:cNvSpPr>
          <p:nvPr>
            <p:ph idx="1" hasCustomPrompt="1"/>
          </p:nvPr>
        </p:nvSpPr>
        <p:spPr>
          <a:xfrm>
            <a:off x="184154" y="476254"/>
            <a:ext cx="8579485" cy="5691505"/>
          </a:xfrm>
        </p:spPr>
        <p:txBody>
          <a:bodyPr vert="horz" wrap="square" lIns="91440" tIns="45720" rIns="91440" bIns="45720" anchor="t" anchorCtr="0"/>
          <a:lstStyle/>
          <a:p>
            <a:pPr marL="0" indent="0" eaLnBrk="1" hangingPunct="1">
              <a:lnSpc>
                <a:spcPct val="90000"/>
              </a:lnSpc>
              <a:buNone/>
            </a:pPr>
            <a:r>
              <a:rPr lang="en-US" altLang="zh-CN" sz="4000" dirty="0">
                <a:solidFill>
                  <a:srgbClr val="990000"/>
                </a:solidFill>
                <a:latin typeface="隶书" panose="02010509060101010101" pitchFamily="49" charset="-122"/>
                <a:ea typeface="隶书" panose="02010509060101010101" pitchFamily="49" charset="-122"/>
              </a:rPr>
              <a:t>2.</a:t>
            </a:r>
            <a:r>
              <a:rPr lang="zh-CN" altLang="en-US" sz="4000" dirty="0">
                <a:solidFill>
                  <a:srgbClr val="990000"/>
                </a:solidFill>
                <a:latin typeface="隶书" panose="02010509060101010101" pitchFamily="49" charset="-122"/>
                <a:ea typeface="隶书" panose="02010509060101010101" pitchFamily="49" charset="-122"/>
              </a:rPr>
              <a:t>基本功能需求（续</a:t>
            </a:r>
            <a:r>
              <a:rPr lang="en-US" altLang="zh-CN" sz="4000" dirty="0">
                <a:solidFill>
                  <a:srgbClr val="990000"/>
                </a:solidFill>
                <a:latin typeface="隶书" panose="02010509060101010101" pitchFamily="49" charset="-122"/>
                <a:ea typeface="隶书" panose="02010509060101010101" pitchFamily="49" charset="-122"/>
              </a:rPr>
              <a:t>3</a:t>
            </a:r>
            <a:r>
              <a:rPr lang="zh-CN" altLang="en-US" sz="4000" dirty="0">
                <a:solidFill>
                  <a:srgbClr val="990000"/>
                </a:solidFill>
                <a:latin typeface="隶书" panose="02010509060101010101" pitchFamily="49" charset="-122"/>
                <a:ea typeface="隶书" panose="02010509060101010101" pitchFamily="49" charset="-122"/>
              </a:rPr>
              <a:t>）</a:t>
            </a:r>
            <a:endParaRPr lang="en-US" altLang="zh-CN" sz="4000" dirty="0">
              <a:solidFill>
                <a:srgbClr val="990000"/>
              </a:solidFill>
              <a:latin typeface="隶书" panose="02010509060101010101" pitchFamily="49" charset="-122"/>
              <a:ea typeface="隶书" panose="02010509060101010101" pitchFamily="49" charset="-122"/>
            </a:endParaRPr>
          </a:p>
          <a:p>
            <a:pPr marL="0" indent="0" eaLnBrk="1" hangingPunct="1">
              <a:lnSpc>
                <a:spcPct val="150000"/>
              </a:lnSpc>
              <a:buNone/>
            </a:pPr>
            <a:r>
              <a:rPr lang="zh-CN" altLang="en-US" sz="2400" b="1" dirty="0"/>
              <a:t>    （</a:t>
            </a:r>
            <a:r>
              <a:rPr lang="en-US" altLang="zh-CN" sz="2400" b="1" dirty="0"/>
              <a:t>2</a:t>
            </a:r>
            <a:r>
              <a:rPr lang="zh-CN" altLang="en-US" sz="2400" b="1" dirty="0"/>
              <a:t>） 旅游路线规划</a:t>
            </a:r>
            <a:endParaRPr lang="en-US" altLang="zh-CN" sz="2400" b="1" dirty="0"/>
          </a:p>
          <a:p>
            <a:pPr lvl="1" eaLnBrk="1" hangingPunct="1">
              <a:lnSpc>
                <a:spcPct val="150000"/>
              </a:lnSpc>
              <a:buFont typeface="Wingdings" panose="05000000000000000000" pitchFamily="2" charset="2"/>
              <a:buChar char="ü"/>
            </a:pPr>
            <a:r>
              <a:rPr lang="zh-CN" altLang="en-US" sz="2400" dirty="0"/>
              <a:t>关于线路规划策略的要求：</a:t>
            </a:r>
          </a:p>
          <a:p>
            <a:pPr lvl="2" eaLnBrk="1" hangingPunct="1">
              <a:lnSpc>
                <a:spcPct val="150000"/>
              </a:lnSpc>
              <a:buFont typeface="Wingdings" panose="05000000000000000000" pitchFamily="2" charset="2"/>
              <a:buChar char="Ø"/>
            </a:pPr>
            <a:r>
              <a:rPr lang="zh-CN" altLang="en-US" sz="1800" b="1" dirty="0">
                <a:solidFill>
                  <a:srgbClr val="FF0000"/>
                </a:solidFill>
              </a:rPr>
              <a:t>最短距离策略</a:t>
            </a:r>
            <a:r>
              <a:rPr lang="zh-CN" altLang="en-US" sz="1800" dirty="0"/>
              <a:t>：距离最短即可；</a:t>
            </a:r>
            <a:endParaRPr lang="en-US" altLang="zh-CN" sz="1800" dirty="0"/>
          </a:p>
          <a:p>
            <a:pPr lvl="2" eaLnBrk="1" hangingPunct="1">
              <a:lnSpc>
                <a:spcPct val="150000"/>
              </a:lnSpc>
              <a:buFont typeface="Wingdings" panose="05000000000000000000" pitchFamily="2" charset="2"/>
              <a:buChar char="Ø"/>
            </a:pPr>
            <a:r>
              <a:rPr lang="zh-CN" altLang="en-US" sz="1800" b="1" dirty="0">
                <a:solidFill>
                  <a:srgbClr val="FF0000"/>
                </a:solidFill>
              </a:rPr>
              <a:t>最短时间策略</a:t>
            </a:r>
            <a:r>
              <a:rPr lang="zh-CN" altLang="en-US" sz="1800" dirty="0"/>
              <a:t>：假设每条道路拥挤度不一样，在这种情况下时间最短即可；拥挤度为小于等于</a:t>
            </a:r>
            <a:r>
              <a:rPr lang="en-US" altLang="zh-CN" sz="1800" dirty="0"/>
              <a:t>1</a:t>
            </a:r>
            <a:r>
              <a:rPr lang="zh-CN" altLang="en-US" sz="1800" dirty="0"/>
              <a:t>的一个正数，真实速度</a:t>
            </a:r>
            <a:r>
              <a:rPr lang="en-US" altLang="zh-CN" sz="1800" dirty="0"/>
              <a:t>=</a:t>
            </a:r>
            <a:r>
              <a:rPr lang="zh-CN" altLang="en-US" sz="1800" dirty="0"/>
              <a:t>拥挤度*理想速度；每条道路的拥挤度与理想速度自拟；</a:t>
            </a:r>
          </a:p>
          <a:p>
            <a:pPr lvl="2" eaLnBrk="1" hangingPunct="1">
              <a:lnSpc>
                <a:spcPct val="150000"/>
              </a:lnSpc>
              <a:buFont typeface="Wingdings" panose="05000000000000000000" pitchFamily="2" charset="2"/>
              <a:buChar char="Ø"/>
            </a:pPr>
            <a:r>
              <a:rPr lang="zh-CN" altLang="en-US" sz="1800" b="1" dirty="0">
                <a:solidFill>
                  <a:srgbClr val="FF0000"/>
                </a:solidFill>
              </a:rPr>
              <a:t>交通工具的最短时间策略</a:t>
            </a:r>
            <a:r>
              <a:rPr lang="zh-CN" altLang="en-US" sz="1800" dirty="0"/>
              <a:t>：校区内可以选择自行车和步行，选择自行车时，只能走自行车道路，默认自行车在校区任何地点都有；景区内可以选择步行和电瓶车，选择电瓶车时只能走电瓶车路线，电瓶车路线固定，默认上车即走；不同交通工具可以选择时，考虑不同拥挤度的情况下时间最短；（时间最短的线路，可以是多种交通工具混合）</a:t>
            </a:r>
            <a:endParaRPr lang="en-US" altLang="zh-CN" sz="1800" dirty="0">
              <a:sym typeface="Symbol" panose="05050102010706020507" pitchFamily="18" charset="2"/>
            </a:endParaRPr>
          </a:p>
          <a:p>
            <a:pPr lvl="2" eaLnBrk="1" hangingPunct="1">
              <a:lnSpc>
                <a:spcPct val="150000"/>
              </a:lnSpc>
              <a:buFont typeface="Wingdings" panose="05000000000000000000" pitchFamily="2" charset="2"/>
              <a:buChar char="Ø"/>
            </a:pPr>
            <a:endParaRPr lang="en-US" altLang="zh-CN" dirty="0"/>
          </a:p>
          <a:p>
            <a:pPr marL="0" indent="0" eaLnBrk="1" hangingPunct="1">
              <a:lnSpc>
                <a:spcPct val="90000"/>
              </a:lnSpc>
              <a:buNone/>
            </a:pPr>
            <a:endParaRPr lang="en-US" altLang="zh-C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内容占位符 2"/>
          <p:cNvSpPr>
            <a:spLocks noGrp="1"/>
          </p:cNvSpPr>
          <p:nvPr>
            <p:ph idx="1" hasCustomPrompt="1"/>
          </p:nvPr>
        </p:nvSpPr>
        <p:spPr>
          <a:xfrm>
            <a:off x="184154" y="476254"/>
            <a:ext cx="8579485" cy="5691505"/>
          </a:xfrm>
        </p:spPr>
        <p:txBody>
          <a:bodyPr vert="horz" wrap="square" lIns="91440" tIns="45720" rIns="91440" bIns="45720" anchor="t" anchorCtr="0"/>
          <a:lstStyle/>
          <a:p>
            <a:pPr marL="0" indent="0" eaLnBrk="1" hangingPunct="1">
              <a:lnSpc>
                <a:spcPct val="90000"/>
              </a:lnSpc>
              <a:buNone/>
            </a:pPr>
            <a:r>
              <a:rPr lang="en-US" altLang="zh-CN" sz="4000" dirty="0">
                <a:solidFill>
                  <a:srgbClr val="990000"/>
                </a:solidFill>
                <a:latin typeface="隶书" panose="02010509060101010101" pitchFamily="49" charset="-122"/>
                <a:ea typeface="隶书" panose="02010509060101010101" pitchFamily="49" charset="-122"/>
              </a:rPr>
              <a:t>2.</a:t>
            </a:r>
            <a:r>
              <a:rPr lang="zh-CN" altLang="en-US" sz="4000" dirty="0">
                <a:solidFill>
                  <a:srgbClr val="990000"/>
                </a:solidFill>
                <a:latin typeface="隶书" panose="02010509060101010101" pitchFamily="49" charset="-122"/>
                <a:ea typeface="隶书" panose="02010509060101010101" pitchFamily="49" charset="-122"/>
              </a:rPr>
              <a:t>基本功能需求（续</a:t>
            </a:r>
            <a:r>
              <a:rPr lang="en-US" altLang="zh-CN" sz="4000" dirty="0">
                <a:solidFill>
                  <a:srgbClr val="990000"/>
                </a:solidFill>
                <a:latin typeface="隶书" panose="02010509060101010101" pitchFamily="49" charset="-122"/>
                <a:ea typeface="隶书" panose="02010509060101010101" pitchFamily="49" charset="-122"/>
              </a:rPr>
              <a:t>4</a:t>
            </a:r>
            <a:r>
              <a:rPr lang="zh-CN" altLang="en-US" sz="4000" dirty="0">
                <a:solidFill>
                  <a:srgbClr val="990000"/>
                </a:solidFill>
                <a:latin typeface="隶书" panose="02010509060101010101" pitchFamily="49" charset="-122"/>
                <a:ea typeface="隶书" panose="02010509060101010101" pitchFamily="49" charset="-122"/>
              </a:rPr>
              <a:t>）</a:t>
            </a:r>
            <a:endParaRPr lang="en-US" altLang="zh-CN" sz="4000" dirty="0">
              <a:solidFill>
                <a:srgbClr val="990000"/>
              </a:solidFill>
              <a:latin typeface="隶书" panose="02010509060101010101" pitchFamily="49" charset="-122"/>
              <a:ea typeface="隶书" panose="02010509060101010101" pitchFamily="49" charset="-122"/>
            </a:endParaRPr>
          </a:p>
          <a:p>
            <a:pPr marL="0" indent="0" eaLnBrk="1" hangingPunct="1">
              <a:lnSpc>
                <a:spcPct val="150000"/>
              </a:lnSpc>
              <a:buNone/>
            </a:pPr>
            <a:r>
              <a:rPr lang="zh-CN" altLang="en-US" sz="2400" b="1" dirty="0"/>
              <a:t>    （</a:t>
            </a:r>
            <a:r>
              <a:rPr lang="en-US" altLang="zh-CN" sz="2400" b="1" dirty="0"/>
              <a:t>2</a:t>
            </a:r>
            <a:r>
              <a:rPr lang="zh-CN" altLang="en-US" sz="2400" b="1" dirty="0"/>
              <a:t>） 旅游路线规划</a:t>
            </a:r>
            <a:endParaRPr lang="en-US" altLang="zh-CN" sz="2400" b="1" dirty="0"/>
          </a:p>
          <a:p>
            <a:pPr lvl="1" eaLnBrk="1" hangingPunct="1">
              <a:lnSpc>
                <a:spcPct val="150000"/>
              </a:lnSpc>
              <a:buFont typeface="Wingdings" panose="05000000000000000000" pitchFamily="2" charset="2"/>
              <a:buChar char="ü"/>
            </a:pPr>
            <a:r>
              <a:rPr lang="zh-CN" altLang="en-US" sz="2400" dirty="0"/>
              <a:t>关于线路规划策略的要求：</a:t>
            </a:r>
          </a:p>
          <a:p>
            <a:pPr lvl="2" eaLnBrk="1" hangingPunct="1">
              <a:lnSpc>
                <a:spcPct val="150000"/>
              </a:lnSpc>
              <a:buFont typeface="Wingdings" panose="05000000000000000000" pitchFamily="2" charset="2"/>
              <a:buChar char="Ø"/>
            </a:pPr>
            <a:r>
              <a:rPr lang="zh-CN" altLang="en-US" sz="1800" b="1" dirty="0">
                <a:solidFill>
                  <a:srgbClr val="FF0000"/>
                </a:solidFill>
              </a:rPr>
              <a:t>室内导航策略：</a:t>
            </a:r>
            <a:r>
              <a:rPr lang="zh-CN" altLang="en-US" sz="1800" dirty="0"/>
              <a:t>模拟教学楼的结构和景区内博物馆等建筑物的内部结构，进行室内导航，包括大门到电梯的导航、楼层间的电梯导航和楼层内到房间的导航；</a:t>
            </a:r>
            <a:endParaRPr lang="en-US" altLang="zh-CN" dirty="0"/>
          </a:p>
          <a:p>
            <a:pPr marL="0" indent="0" eaLnBrk="1" hangingPunct="1">
              <a:lnSpc>
                <a:spcPct val="90000"/>
              </a:lnSpc>
              <a:buNone/>
            </a:pPr>
            <a:endParaRPr lang="en-US" altLang="zh-C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内容占位符 2"/>
          <p:cNvSpPr>
            <a:spLocks noGrp="1"/>
          </p:cNvSpPr>
          <p:nvPr>
            <p:ph idx="1" hasCustomPrompt="1"/>
          </p:nvPr>
        </p:nvSpPr>
        <p:spPr>
          <a:xfrm>
            <a:off x="253048" y="476250"/>
            <a:ext cx="8280400" cy="5691188"/>
          </a:xfrm>
        </p:spPr>
        <p:txBody>
          <a:bodyPr vert="horz" wrap="square" lIns="91440" tIns="45720" rIns="91440" bIns="45720" anchor="t" anchorCtr="0"/>
          <a:lstStyle/>
          <a:p>
            <a:pPr marL="0" indent="0" eaLnBrk="1" hangingPunct="1">
              <a:lnSpc>
                <a:spcPct val="90000"/>
              </a:lnSpc>
              <a:buNone/>
            </a:pPr>
            <a:r>
              <a:rPr lang="en-US" altLang="zh-CN" sz="4000" dirty="0">
                <a:solidFill>
                  <a:srgbClr val="990000"/>
                </a:solidFill>
                <a:latin typeface="隶书" panose="02010509060101010101" pitchFamily="49" charset="-122"/>
                <a:ea typeface="隶书" panose="02010509060101010101" pitchFamily="49" charset="-122"/>
              </a:rPr>
              <a:t>2.</a:t>
            </a:r>
            <a:r>
              <a:rPr lang="zh-CN" altLang="en-US" sz="4000" dirty="0">
                <a:solidFill>
                  <a:srgbClr val="990000"/>
                </a:solidFill>
                <a:latin typeface="隶书" panose="02010509060101010101" pitchFamily="49" charset="-122"/>
                <a:ea typeface="隶书" panose="02010509060101010101" pitchFamily="49" charset="-122"/>
              </a:rPr>
              <a:t>基本功能需求（续</a:t>
            </a:r>
            <a:r>
              <a:rPr lang="en-US" altLang="zh-CN" sz="4000" dirty="0">
                <a:solidFill>
                  <a:srgbClr val="990000"/>
                </a:solidFill>
                <a:latin typeface="隶书" panose="02010509060101010101" pitchFamily="49" charset="-122"/>
                <a:ea typeface="隶书" panose="02010509060101010101" pitchFamily="49" charset="-122"/>
              </a:rPr>
              <a:t>5</a:t>
            </a:r>
            <a:r>
              <a:rPr lang="zh-CN" altLang="en-US" sz="4000" dirty="0">
                <a:solidFill>
                  <a:srgbClr val="990000"/>
                </a:solidFill>
                <a:latin typeface="隶书" panose="02010509060101010101" pitchFamily="49" charset="-122"/>
                <a:ea typeface="隶书" panose="02010509060101010101" pitchFamily="49" charset="-122"/>
              </a:rPr>
              <a:t>）</a:t>
            </a:r>
            <a:endParaRPr lang="en-US" altLang="zh-CN" sz="4000" dirty="0">
              <a:solidFill>
                <a:srgbClr val="990000"/>
              </a:solidFill>
              <a:latin typeface="隶书" panose="02010509060101010101" pitchFamily="49" charset="-122"/>
              <a:ea typeface="隶书" panose="02010509060101010101" pitchFamily="49" charset="-122"/>
            </a:endParaRPr>
          </a:p>
          <a:p>
            <a:pPr marL="0" indent="0" eaLnBrk="1" hangingPunct="1">
              <a:lnSpc>
                <a:spcPct val="150000"/>
              </a:lnSpc>
              <a:buNone/>
            </a:pPr>
            <a:r>
              <a:rPr lang="zh-CN" altLang="en-US" sz="2400" dirty="0"/>
              <a:t>  </a:t>
            </a:r>
            <a:r>
              <a:rPr lang="zh-CN" altLang="en-US" sz="2400" b="1" dirty="0"/>
              <a:t>（</a:t>
            </a:r>
            <a:r>
              <a:rPr lang="en-US" altLang="zh-CN" sz="2400" b="1" dirty="0"/>
              <a:t>3</a:t>
            </a:r>
            <a:r>
              <a:rPr lang="zh-CN" altLang="en-US" sz="2400" b="1" dirty="0"/>
              <a:t>）场所查询</a:t>
            </a:r>
            <a:endParaRPr lang="en-US" altLang="zh-CN" sz="2400" dirty="0"/>
          </a:p>
          <a:p>
            <a:pPr lvl="1" eaLnBrk="1" hangingPunct="1">
              <a:lnSpc>
                <a:spcPct val="150000"/>
              </a:lnSpc>
              <a:buFont typeface="Wingdings" panose="05000000000000000000" pitchFamily="2" charset="2"/>
              <a:buChar char="ü"/>
            </a:pPr>
            <a:r>
              <a:rPr lang="zh-CN" altLang="en-US" sz="2000" dirty="0"/>
              <a:t>在景区或者学校内部时，选中某个景点或者场所，会找出附近一定范围内的超市、卫生间等设施，并根据距离进行排序；（</a:t>
            </a:r>
            <a:r>
              <a:rPr lang="zh-CN" altLang="en-US" sz="2000" dirty="0">
                <a:solidFill>
                  <a:srgbClr val="FF0000"/>
                </a:solidFill>
              </a:rPr>
              <a:t>核心算法为排序，不能根据直线距离</a:t>
            </a:r>
            <a:r>
              <a:rPr lang="zh-CN" altLang="en-US" sz="2000" dirty="0"/>
              <a:t>）</a:t>
            </a:r>
            <a:endParaRPr lang="en-US" altLang="zh-CN" sz="2000" dirty="0"/>
          </a:p>
          <a:p>
            <a:pPr lvl="1" eaLnBrk="1" hangingPunct="1">
              <a:lnSpc>
                <a:spcPct val="150000"/>
              </a:lnSpc>
              <a:buFont typeface="Wingdings" panose="05000000000000000000" pitchFamily="2" charset="2"/>
              <a:buChar char="ü"/>
            </a:pPr>
            <a:r>
              <a:rPr lang="zh-CN" altLang="en-US" sz="2000" dirty="0"/>
              <a:t>可以通过选择类别对结果进行过滤；</a:t>
            </a:r>
            <a:endParaRPr lang="en-US" altLang="zh-CN" sz="2000" dirty="0"/>
          </a:p>
          <a:p>
            <a:pPr lvl="1" eaLnBrk="1" hangingPunct="1">
              <a:lnSpc>
                <a:spcPct val="150000"/>
              </a:lnSpc>
              <a:buFont typeface="Wingdings" panose="05000000000000000000" pitchFamily="2" charset="2"/>
              <a:buChar char="ü"/>
            </a:pPr>
            <a:r>
              <a:rPr lang="zh-CN" altLang="en-US" sz="2000" dirty="0"/>
              <a:t>可以由用户输入类别名称查找某个地点附近的服务设施，并根据距离进行排序；（</a:t>
            </a:r>
            <a:r>
              <a:rPr lang="zh-CN" altLang="en-US" sz="2000" dirty="0">
                <a:solidFill>
                  <a:srgbClr val="FF0000"/>
                </a:solidFill>
              </a:rPr>
              <a:t>核心算法为查找和排序</a:t>
            </a:r>
            <a:r>
              <a:rPr lang="zh-CN" altLang="en-US" sz="2000" dirty="0"/>
              <a:t>）</a:t>
            </a:r>
            <a:endParaRPr lang="en-US" altLang="zh-CN" sz="2000" dirty="0"/>
          </a:p>
          <a:p>
            <a:pPr marL="0" indent="0" eaLnBrk="1" hangingPunct="1">
              <a:lnSpc>
                <a:spcPct val="90000"/>
              </a:lnSpc>
              <a:buNone/>
            </a:pPr>
            <a:endParaRPr lang="en-US" altLang="zh-CN" sz="2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内容占位符 2"/>
          <p:cNvSpPr>
            <a:spLocks noGrp="1"/>
          </p:cNvSpPr>
          <p:nvPr>
            <p:ph idx="1" hasCustomPrompt="1"/>
          </p:nvPr>
        </p:nvSpPr>
        <p:spPr>
          <a:xfrm>
            <a:off x="266069" y="404499"/>
            <a:ext cx="8482965" cy="5691505"/>
          </a:xfrm>
        </p:spPr>
        <p:txBody>
          <a:bodyPr vert="horz" wrap="square" lIns="91440" tIns="45720" rIns="91440" bIns="45720" numCol="1" anchor="t" anchorCtr="0" compatLnSpc="1"/>
          <a:lstStyle/>
          <a:p>
            <a:pPr marL="0" indent="0" eaLnBrk="1" hangingPunct="1">
              <a:lnSpc>
                <a:spcPct val="90000"/>
              </a:lnSpc>
              <a:buNone/>
              <a:defRPr/>
            </a:pPr>
            <a:r>
              <a:rPr lang="en-US" altLang="zh-CN" sz="4000" dirty="0">
                <a:solidFill>
                  <a:srgbClr val="990000"/>
                </a:solidFill>
                <a:latin typeface="隶书" panose="02010509060101010101" pitchFamily="49" charset="-122"/>
                <a:ea typeface="隶书" panose="02010509060101010101" pitchFamily="49" charset="-122"/>
              </a:rPr>
              <a:t>2.</a:t>
            </a:r>
            <a:r>
              <a:rPr lang="zh-CN" altLang="en-US" sz="4000" dirty="0">
                <a:solidFill>
                  <a:srgbClr val="990000"/>
                </a:solidFill>
                <a:latin typeface="隶书" panose="02010509060101010101" pitchFamily="49" charset="-122"/>
                <a:ea typeface="隶书" panose="02010509060101010101" pitchFamily="49" charset="-122"/>
              </a:rPr>
              <a:t>基本功能需求（续</a:t>
            </a:r>
            <a:r>
              <a:rPr lang="en-US" altLang="zh-CN" sz="4000" dirty="0">
                <a:solidFill>
                  <a:srgbClr val="990000"/>
                </a:solidFill>
                <a:latin typeface="隶书" panose="02010509060101010101" pitchFamily="49" charset="-122"/>
                <a:ea typeface="隶书" panose="02010509060101010101" pitchFamily="49" charset="-122"/>
              </a:rPr>
              <a:t>6</a:t>
            </a:r>
            <a:r>
              <a:rPr lang="zh-CN" altLang="en-US" sz="4000" dirty="0">
                <a:solidFill>
                  <a:srgbClr val="990000"/>
                </a:solidFill>
                <a:latin typeface="隶书" panose="02010509060101010101" pitchFamily="49" charset="-122"/>
                <a:ea typeface="隶书" panose="02010509060101010101" pitchFamily="49" charset="-122"/>
              </a:rPr>
              <a:t>）</a:t>
            </a:r>
            <a:endParaRPr lang="en-US" altLang="zh-CN" sz="4000" dirty="0">
              <a:solidFill>
                <a:srgbClr val="990000"/>
              </a:solidFill>
              <a:latin typeface="隶书" panose="02010509060101010101" pitchFamily="49" charset="-122"/>
              <a:ea typeface="隶书" panose="02010509060101010101" pitchFamily="49" charset="-122"/>
            </a:endParaRPr>
          </a:p>
          <a:p>
            <a:pPr marL="0" indent="0" eaLnBrk="1" hangingPunct="1">
              <a:lnSpc>
                <a:spcPct val="150000"/>
              </a:lnSpc>
              <a:buNone/>
              <a:defRPr/>
            </a:pPr>
            <a:r>
              <a:rPr lang="zh-CN" altLang="en-US" sz="2800" dirty="0"/>
              <a:t>  </a:t>
            </a:r>
            <a:r>
              <a:rPr lang="zh-CN" altLang="en-US" sz="2400" b="1" dirty="0"/>
              <a:t>  （</a:t>
            </a:r>
            <a:r>
              <a:rPr lang="en-US" altLang="zh-CN" sz="2400" b="1" dirty="0"/>
              <a:t>4</a:t>
            </a:r>
            <a:r>
              <a:rPr lang="zh-CN" altLang="en-US" sz="2400" b="1" dirty="0"/>
              <a:t>）旅游日记管理</a:t>
            </a:r>
            <a:endParaRPr lang="en-US" altLang="zh-CN" sz="2800" dirty="0"/>
          </a:p>
          <a:p>
            <a:pPr lvl="1" eaLnBrk="1" hangingPunct="1">
              <a:lnSpc>
                <a:spcPct val="150000"/>
              </a:lnSpc>
              <a:buFont typeface="Wingdings" panose="05000000000000000000" pitchFamily="2" charset="2"/>
              <a:buChar char="ü"/>
              <a:defRPr/>
            </a:pPr>
            <a:r>
              <a:rPr lang="zh-CN" altLang="en-US" sz="2000" dirty="0"/>
              <a:t>用户旅游过程中或者旅游结束时可以撰写旅游日记，通过文字、图片和视频等方式记录旅游内容；</a:t>
            </a:r>
            <a:endParaRPr lang="en-US" altLang="zh-CN" sz="2000" dirty="0"/>
          </a:p>
          <a:p>
            <a:pPr lvl="1" eaLnBrk="1" hangingPunct="1">
              <a:lnSpc>
                <a:spcPct val="150000"/>
              </a:lnSpc>
              <a:buFont typeface="Wingdings" panose="05000000000000000000" pitchFamily="2" charset="2"/>
              <a:buChar char="ü"/>
              <a:defRPr/>
            </a:pPr>
            <a:r>
              <a:rPr lang="zh-CN" altLang="en-US" sz="2000" dirty="0"/>
              <a:t>需要对所有用户的旅游日记进行统一的管理；</a:t>
            </a:r>
            <a:endParaRPr lang="en-US" altLang="zh-CN" sz="2000" dirty="0"/>
          </a:p>
          <a:p>
            <a:pPr lvl="1" eaLnBrk="1" hangingPunct="1">
              <a:lnSpc>
                <a:spcPct val="150000"/>
              </a:lnSpc>
              <a:buFont typeface="Wingdings" panose="05000000000000000000" pitchFamily="2" charset="2"/>
              <a:buChar char="ü"/>
              <a:defRPr/>
            </a:pPr>
            <a:r>
              <a:rPr lang="zh-CN" altLang="en-US" sz="2000" dirty="0"/>
              <a:t>用户可以根据浏览和查询所有用户的旅游日记，旅游日记的浏览量即为该日记的热度，每位同学浏览完可以对旅游日记进行评分；</a:t>
            </a:r>
            <a:endParaRPr lang="en-US" altLang="zh-CN" sz="2000" dirty="0"/>
          </a:p>
          <a:p>
            <a:pPr lvl="1" eaLnBrk="1" hangingPunct="1">
              <a:lnSpc>
                <a:spcPct val="150000"/>
              </a:lnSpc>
              <a:buFont typeface="Wingdings" panose="05000000000000000000" pitchFamily="2" charset="2"/>
              <a:buChar char="ü"/>
              <a:defRPr/>
            </a:pPr>
            <a:r>
              <a:rPr lang="zh-CN" altLang="en-US" sz="2000" dirty="0"/>
              <a:t>用户在浏览所有旅游日记时，可以按照日记热度、评价和个人兴趣进行推荐，</a:t>
            </a:r>
            <a:r>
              <a:rPr lang="zh-CN" altLang="en-US" sz="2000" dirty="0">
                <a:latin typeface="+mn-ea"/>
              </a:rPr>
              <a:t>推荐算法基础要求为排序算法，</a:t>
            </a:r>
            <a:r>
              <a:rPr lang="zh-CN" altLang="en-US" sz="2000" dirty="0"/>
              <a:t>可以根据热度和评分进行排序；</a:t>
            </a:r>
            <a:r>
              <a:rPr lang="zh-CN" altLang="en-US" sz="2000" dirty="0">
                <a:latin typeface="+mn-ea"/>
              </a:rPr>
              <a:t>（</a:t>
            </a:r>
            <a:r>
              <a:rPr lang="zh-CN" altLang="en-US" sz="2000" dirty="0">
                <a:solidFill>
                  <a:srgbClr val="FF0000"/>
                </a:solidFill>
                <a:latin typeface="+mn-ea"/>
              </a:rPr>
              <a:t>核心算法为排序算法</a:t>
            </a:r>
            <a:r>
              <a:rPr lang="zh-CN" altLang="en-US" sz="2000" dirty="0">
                <a:latin typeface="+mn-ea"/>
              </a:rPr>
              <a:t>）</a:t>
            </a:r>
            <a:endParaRPr lang="en-US" altLang="zh-C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内容占位符 2"/>
          <p:cNvSpPr>
            <a:spLocks noGrp="1"/>
          </p:cNvSpPr>
          <p:nvPr>
            <p:ph idx="1" hasCustomPrompt="1"/>
          </p:nvPr>
        </p:nvSpPr>
        <p:spPr>
          <a:xfrm>
            <a:off x="337824" y="476254"/>
            <a:ext cx="8482965" cy="5691505"/>
          </a:xfrm>
        </p:spPr>
        <p:txBody>
          <a:bodyPr vert="horz" wrap="square" lIns="91440" tIns="45720" rIns="91440" bIns="45720" numCol="1" anchor="t" anchorCtr="0" compatLnSpc="1"/>
          <a:lstStyle/>
          <a:p>
            <a:pPr marL="0" indent="0" eaLnBrk="1" hangingPunct="1">
              <a:lnSpc>
                <a:spcPct val="90000"/>
              </a:lnSpc>
              <a:buNone/>
              <a:defRPr/>
            </a:pPr>
            <a:r>
              <a:rPr lang="en-US" altLang="zh-CN" sz="4000" dirty="0">
                <a:solidFill>
                  <a:srgbClr val="990000"/>
                </a:solidFill>
                <a:latin typeface="隶书" panose="02010509060101010101" pitchFamily="49" charset="-122"/>
                <a:ea typeface="隶书" panose="02010509060101010101" pitchFamily="49" charset="-122"/>
              </a:rPr>
              <a:t>2.</a:t>
            </a:r>
            <a:r>
              <a:rPr lang="zh-CN" altLang="en-US" sz="4000" dirty="0">
                <a:solidFill>
                  <a:srgbClr val="990000"/>
                </a:solidFill>
                <a:latin typeface="隶书" panose="02010509060101010101" pitchFamily="49" charset="-122"/>
                <a:ea typeface="隶书" panose="02010509060101010101" pitchFamily="49" charset="-122"/>
              </a:rPr>
              <a:t>基本功能需求（续</a:t>
            </a:r>
            <a:r>
              <a:rPr lang="en-US" altLang="zh-CN" sz="4000" dirty="0">
                <a:solidFill>
                  <a:srgbClr val="990000"/>
                </a:solidFill>
                <a:latin typeface="隶书" panose="02010509060101010101" pitchFamily="49" charset="-122"/>
                <a:ea typeface="隶书" panose="02010509060101010101" pitchFamily="49" charset="-122"/>
              </a:rPr>
              <a:t>7</a:t>
            </a:r>
            <a:r>
              <a:rPr lang="zh-CN" altLang="en-US" sz="4000" dirty="0">
                <a:solidFill>
                  <a:srgbClr val="990000"/>
                </a:solidFill>
                <a:latin typeface="隶书" panose="02010509060101010101" pitchFamily="49" charset="-122"/>
                <a:ea typeface="隶书" panose="02010509060101010101" pitchFamily="49" charset="-122"/>
              </a:rPr>
              <a:t>）</a:t>
            </a:r>
            <a:endParaRPr lang="en-US" altLang="zh-CN" sz="4000" dirty="0">
              <a:solidFill>
                <a:srgbClr val="990000"/>
              </a:solidFill>
              <a:latin typeface="隶书" panose="02010509060101010101" pitchFamily="49" charset="-122"/>
              <a:ea typeface="隶书" panose="02010509060101010101" pitchFamily="49" charset="-122"/>
            </a:endParaRPr>
          </a:p>
          <a:p>
            <a:pPr marL="0" indent="0" eaLnBrk="1" hangingPunct="1">
              <a:lnSpc>
                <a:spcPct val="150000"/>
              </a:lnSpc>
              <a:buNone/>
              <a:defRPr/>
            </a:pPr>
            <a:r>
              <a:rPr lang="zh-CN" altLang="en-US" sz="2800" dirty="0"/>
              <a:t>  </a:t>
            </a:r>
            <a:r>
              <a:rPr lang="zh-CN" altLang="en-US" sz="2400" b="1" dirty="0"/>
              <a:t>  （</a:t>
            </a:r>
            <a:r>
              <a:rPr lang="en-US" altLang="zh-CN" sz="2400" b="1" dirty="0"/>
              <a:t>5</a:t>
            </a:r>
            <a:r>
              <a:rPr lang="zh-CN" altLang="en-US" sz="2400" b="1" dirty="0"/>
              <a:t>）旅游日记交流</a:t>
            </a:r>
            <a:endParaRPr lang="en-US" altLang="zh-CN" sz="2800" dirty="0"/>
          </a:p>
          <a:p>
            <a:pPr lvl="1" eaLnBrk="1" hangingPunct="1">
              <a:lnSpc>
                <a:spcPct val="150000"/>
              </a:lnSpc>
              <a:buFont typeface="Wingdings" panose="05000000000000000000" pitchFamily="2" charset="2"/>
              <a:buChar char="ü"/>
              <a:defRPr/>
            </a:pPr>
            <a:r>
              <a:rPr lang="zh-CN" altLang="en-US" sz="2000" dirty="0"/>
              <a:t>用户可以输入旅游目的地，对目的地相关的旅游日记根据热度和评分进行排序；</a:t>
            </a:r>
            <a:r>
              <a:rPr lang="zh-CN" altLang="en-US" sz="2000" dirty="0">
                <a:latin typeface="+mn-ea"/>
              </a:rPr>
              <a:t>（</a:t>
            </a:r>
            <a:r>
              <a:rPr lang="zh-CN" altLang="en-US" sz="2000" dirty="0">
                <a:solidFill>
                  <a:srgbClr val="FF0000"/>
                </a:solidFill>
                <a:latin typeface="+mn-ea"/>
              </a:rPr>
              <a:t>核心算法为查找算法和排序算法</a:t>
            </a:r>
            <a:r>
              <a:rPr lang="zh-CN" altLang="en-US" sz="2000" dirty="0">
                <a:latin typeface="+mn-ea"/>
              </a:rPr>
              <a:t>）</a:t>
            </a:r>
            <a:endParaRPr lang="en-US" altLang="zh-CN" sz="2000" dirty="0">
              <a:latin typeface="+mn-ea"/>
            </a:endParaRPr>
          </a:p>
          <a:p>
            <a:pPr lvl="1" eaLnBrk="1" hangingPunct="1">
              <a:lnSpc>
                <a:spcPct val="150000"/>
              </a:lnSpc>
              <a:buFont typeface="Wingdings" panose="05000000000000000000" pitchFamily="2" charset="2"/>
              <a:buChar char="ü"/>
              <a:defRPr/>
            </a:pPr>
            <a:r>
              <a:rPr lang="zh-CN" altLang="en-US" sz="2000" dirty="0">
                <a:latin typeface="+mn-ea"/>
              </a:rPr>
              <a:t>用户可以输入旅游日记的名称进行精确查询； （</a:t>
            </a:r>
            <a:r>
              <a:rPr lang="zh-CN" altLang="en-US" sz="2000" dirty="0">
                <a:solidFill>
                  <a:srgbClr val="FF0000"/>
                </a:solidFill>
                <a:latin typeface="+mn-ea"/>
              </a:rPr>
              <a:t>核心算法为查找算法，考虑旅游日记数量较大，变化非常快的情况下进行高效查找）</a:t>
            </a:r>
          </a:p>
          <a:p>
            <a:pPr lvl="1" eaLnBrk="1" hangingPunct="1">
              <a:lnSpc>
                <a:spcPct val="150000"/>
              </a:lnSpc>
              <a:buFont typeface="Wingdings" panose="05000000000000000000" pitchFamily="2" charset="2"/>
              <a:buChar char="ü"/>
              <a:defRPr/>
            </a:pPr>
            <a:r>
              <a:rPr lang="zh-CN" altLang="en-US" sz="2000" dirty="0">
                <a:latin typeface="+mn-ea"/>
              </a:rPr>
              <a:t>可以按日记内容进行全文检索</a:t>
            </a:r>
            <a:r>
              <a:rPr lang="zh-CN" altLang="en-US" sz="2000" dirty="0">
                <a:solidFill>
                  <a:srgbClr val="FF0000"/>
                </a:solidFill>
                <a:latin typeface="+mn-ea"/>
              </a:rPr>
              <a:t>（核心算法为文本搜索）</a:t>
            </a:r>
          </a:p>
          <a:p>
            <a:pPr lvl="1" eaLnBrk="1" hangingPunct="1">
              <a:lnSpc>
                <a:spcPct val="150000"/>
              </a:lnSpc>
              <a:buFont typeface="Wingdings" panose="05000000000000000000" pitchFamily="2" charset="2"/>
              <a:buChar char="ü"/>
              <a:defRPr/>
            </a:pPr>
            <a:r>
              <a:rPr lang="en-US" altLang="zh-CN" sz="2000" dirty="0" err="1"/>
              <a:t>可以对</a:t>
            </a:r>
            <a:r>
              <a:rPr lang="zh-CN" altLang="en-US" sz="2000" dirty="0"/>
              <a:t>旅游</a:t>
            </a:r>
            <a:r>
              <a:rPr lang="en-US" altLang="zh-CN" sz="2000" dirty="0" err="1"/>
              <a:t>日记进行压缩存储（</a:t>
            </a:r>
            <a:r>
              <a:rPr lang="en-US" altLang="zh-CN" sz="2000" dirty="0" err="1">
                <a:solidFill>
                  <a:srgbClr val="FF0000"/>
                </a:solidFill>
              </a:rPr>
              <a:t>核心算法为无损压缩</a:t>
            </a:r>
            <a:r>
              <a:rPr lang="zh-CN" altLang="en-US" sz="2000" dirty="0">
                <a:latin typeface="+mn-ea"/>
              </a:rPr>
              <a:t>）</a:t>
            </a:r>
            <a:endParaRPr lang="en-US" altLang="zh-CN" sz="2000" dirty="0">
              <a:latin typeface="+mn-ea"/>
            </a:endParaRPr>
          </a:p>
          <a:p>
            <a:pPr lvl="1" eaLnBrk="1" hangingPunct="1">
              <a:lnSpc>
                <a:spcPct val="150000"/>
              </a:lnSpc>
              <a:buFont typeface="Wingdings" panose="05000000000000000000" pitchFamily="2" charset="2"/>
              <a:buChar char="ü"/>
              <a:defRPr/>
            </a:pPr>
            <a:r>
              <a:rPr lang="zh-CN" altLang="en-US" sz="2000" dirty="0">
                <a:latin typeface="+mn-ea"/>
                <a:sym typeface="Symbol" panose="05050102010706020507" pitchFamily="18" charset="2"/>
              </a:rPr>
              <a:t>使用</a:t>
            </a:r>
            <a:r>
              <a:rPr lang="en-US" altLang="zh-CN" sz="2000" dirty="0">
                <a:latin typeface="+mn-ea"/>
                <a:sym typeface="Symbol" panose="05050102010706020507" pitchFamily="18" charset="2"/>
              </a:rPr>
              <a:t>AIGC</a:t>
            </a:r>
            <a:r>
              <a:rPr lang="zh-CN" altLang="en-US" sz="2000" dirty="0">
                <a:latin typeface="+mn-ea"/>
                <a:sym typeface="Symbol" panose="05050102010706020507" pitchFamily="18" charset="2"/>
              </a:rPr>
              <a:t>算法根据拍摄的景点或者学校的照片、文字描述等信息进行旅游动画生成。</a:t>
            </a:r>
            <a:endParaRPr lang="en-US" altLang="zh-CN" sz="2000" dirty="0"/>
          </a:p>
          <a:p>
            <a:pPr marL="0" indent="0" eaLnBrk="1" hangingPunct="1">
              <a:lnSpc>
                <a:spcPct val="90000"/>
              </a:lnSpc>
              <a:buNone/>
              <a:defRPr/>
            </a:pPr>
            <a:endParaRPr lang="en-US" altLang="zh-CN"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内容占位符 2"/>
          <p:cNvSpPr>
            <a:spLocks noGrp="1"/>
          </p:cNvSpPr>
          <p:nvPr>
            <p:ph idx="1" hasCustomPrompt="1"/>
          </p:nvPr>
        </p:nvSpPr>
        <p:spPr>
          <a:xfrm>
            <a:off x="337824" y="476254"/>
            <a:ext cx="8482965" cy="5691505"/>
          </a:xfrm>
        </p:spPr>
        <p:txBody>
          <a:bodyPr vert="horz" wrap="square" lIns="91440" tIns="45720" rIns="91440" bIns="45720" numCol="1" anchor="t" anchorCtr="0" compatLnSpc="1"/>
          <a:lstStyle/>
          <a:p>
            <a:pPr marL="0" indent="0" eaLnBrk="1" hangingPunct="1">
              <a:lnSpc>
                <a:spcPct val="90000"/>
              </a:lnSpc>
              <a:buNone/>
              <a:defRPr/>
            </a:pPr>
            <a:r>
              <a:rPr lang="en-US" altLang="zh-CN" sz="4000" dirty="0">
                <a:solidFill>
                  <a:srgbClr val="990000"/>
                </a:solidFill>
                <a:latin typeface="隶书" panose="02010509060101010101" pitchFamily="49" charset="-122"/>
                <a:ea typeface="隶书" panose="02010509060101010101" pitchFamily="49" charset="-122"/>
              </a:rPr>
              <a:t>2.</a:t>
            </a:r>
            <a:r>
              <a:rPr lang="zh-CN" altLang="en-US" sz="4000" dirty="0">
                <a:solidFill>
                  <a:srgbClr val="990000"/>
                </a:solidFill>
                <a:latin typeface="隶书" panose="02010509060101010101" pitchFamily="49" charset="-122"/>
                <a:ea typeface="隶书" panose="02010509060101010101" pitchFamily="49" charset="-122"/>
              </a:rPr>
              <a:t>基本功能需求（续</a:t>
            </a:r>
            <a:r>
              <a:rPr lang="en-US" altLang="zh-CN" sz="4000" dirty="0">
                <a:solidFill>
                  <a:srgbClr val="990000"/>
                </a:solidFill>
                <a:latin typeface="隶书" panose="02010509060101010101" pitchFamily="49" charset="-122"/>
                <a:ea typeface="隶书" panose="02010509060101010101" pitchFamily="49" charset="-122"/>
              </a:rPr>
              <a:t>8</a:t>
            </a:r>
            <a:r>
              <a:rPr lang="zh-CN" altLang="en-US" sz="4000" dirty="0">
                <a:solidFill>
                  <a:srgbClr val="990000"/>
                </a:solidFill>
                <a:latin typeface="隶书" panose="02010509060101010101" pitchFamily="49" charset="-122"/>
                <a:ea typeface="隶书" panose="02010509060101010101" pitchFamily="49" charset="-122"/>
              </a:rPr>
              <a:t>）</a:t>
            </a:r>
            <a:endParaRPr lang="en-US" altLang="zh-CN" sz="4000" dirty="0">
              <a:solidFill>
                <a:srgbClr val="990000"/>
              </a:solidFill>
              <a:latin typeface="隶书" panose="02010509060101010101" pitchFamily="49" charset="-122"/>
              <a:ea typeface="隶书" panose="02010509060101010101" pitchFamily="49" charset="-122"/>
            </a:endParaRPr>
          </a:p>
          <a:p>
            <a:pPr marL="0" indent="0" eaLnBrk="1" hangingPunct="1">
              <a:lnSpc>
                <a:spcPct val="150000"/>
              </a:lnSpc>
              <a:buNone/>
              <a:defRPr/>
            </a:pPr>
            <a:r>
              <a:rPr lang="zh-CN" altLang="en-US" sz="2800" dirty="0"/>
              <a:t>  </a:t>
            </a:r>
            <a:r>
              <a:rPr lang="zh-CN" altLang="en-US" sz="2400" b="1" dirty="0"/>
              <a:t>  （</a:t>
            </a:r>
            <a:r>
              <a:rPr lang="en-US" altLang="zh-CN" sz="2400" b="1" dirty="0"/>
              <a:t>6</a:t>
            </a:r>
            <a:r>
              <a:rPr lang="zh-CN" altLang="en-US" sz="2400" b="1" dirty="0"/>
              <a:t>）美食推荐</a:t>
            </a:r>
            <a:endParaRPr lang="en-US" altLang="zh-CN" sz="2800" dirty="0"/>
          </a:p>
          <a:p>
            <a:pPr lvl="1" eaLnBrk="1" hangingPunct="1">
              <a:lnSpc>
                <a:spcPct val="150000"/>
              </a:lnSpc>
              <a:buFont typeface="Wingdings" panose="05000000000000000000" pitchFamily="2" charset="2"/>
              <a:buChar char="ü"/>
              <a:defRPr/>
            </a:pPr>
            <a:r>
              <a:rPr lang="zh-CN" altLang="en-US" sz="2000" dirty="0"/>
              <a:t>在选中游览景点和学校后，可以按照用户选择的热度、评价和距离进行排序，并根据菜系进行过滤；（核心算法为排序算法，考虑到用户通常只看前</a:t>
            </a:r>
            <a:r>
              <a:rPr lang="en-US" altLang="zh-CN" sz="2000" dirty="0"/>
              <a:t>10</a:t>
            </a:r>
            <a:r>
              <a:rPr lang="zh-CN" altLang="en-US" sz="2000" dirty="0"/>
              <a:t>个美食，要求不经过完全排序可以排好前</a:t>
            </a:r>
            <a:r>
              <a:rPr lang="en-US" altLang="zh-CN" sz="2000" dirty="0"/>
              <a:t>10</a:t>
            </a:r>
            <a:r>
              <a:rPr lang="zh-CN" altLang="en-US" sz="2000" dirty="0"/>
              <a:t>的美食）；可以输入美食名称、菜系、饭店或窗口名称等进行基于内容的模糊查询，查询结果有多项时，可以对查询结果按照热度、评价和距离进行排序。（</a:t>
            </a:r>
            <a:r>
              <a:rPr lang="zh-CN" altLang="en-US" sz="2000" dirty="0">
                <a:solidFill>
                  <a:srgbClr val="FF0000"/>
                </a:solidFill>
              </a:rPr>
              <a:t>核心算法为模糊查找算法和排序算法</a:t>
            </a:r>
            <a:r>
              <a:rPr lang="zh-CN" altLang="en-US" sz="2000" dirty="0"/>
              <a:t>）</a:t>
            </a:r>
          </a:p>
          <a:p>
            <a:pPr marL="0" indent="0" eaLnBrk="1" hangingPunct="1">
              <a:lnSpc>
                <a:spcPct val="90000"/>
              </a:lnSpc>
              <a:buNone/>
              <a:defRPr/>
            </a:pPr>
            <a:endParaRPr lang="en-US" altLang="zh-CN"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a:xfrm>
            <a:off x="468313" y="228283"/>
            <a:ext cx="7772400" cy="1143000"/>
          </a:xfrm>
        </p:spPr>
        <p:txBody>
          <a:bodyPr vert="horz" wrap="square" lIns="91440" tIns="45720" rIns="91440" bIns="45720" anchor="ctr" anchorCtr="0"/>
          <a:lstStyle/>
          <a:p>
            <a:r>
              <a:rPr lang="zh-CN" altLang="en-US" sz="4000" b="1" dirty="0">
                <a:solidFill>
                  <a:schemeClr val="accent2"/>
                </a:solidFill>
                <a:ea typeface="楷体_GB2312" pitchFamily="49" charset="-122"/>
              </a:rPr>
              <a:t>进度要求和安排</a:t>
            </a:r>
          </a:p>
        </p:txBody>
      </p:sp>
      <p:sp>
        <p:nvSpPr>
          <p:cNvPr id="25603" name="内容占位符 2"/>
          <p:cNvSpPr>
            <a:spLocks noGrp="1"/>
          </p:cNvSpPr>
          <p:nvPr>
            <p:ph idx="1" hasCustomPrompt="1"/>
          </p:nvPr>
        </p:nvSpPr>
        <p:spPr>
          <a:xfrm>
            <a:off x="683895" y="1124585"/>
            <a:ext cx="8212455" cy="5616575"/>
          </a:xfrm>
        </p:spPr>
        <p:txBody>
          <a:bodyPr vert="horz" wrap="square" lIns="91440" tIns="45720" rIns="91440" bIns="45720" anchor="t" anchorCtr="0"/>
          <a:lstStyle/>
          <a:p>
            <a:pPr>
              <a:lnSpc>
                <a:spcPct val="150000"/>
              </a:lnSpc>
            </a:pPr>
            <a:r>
              <a:rPr lang="zh-CN" altLang="en-US" sz="1800" dirty="0"/>
              <a:t>第</a:t>
            </a:r>
            <a:r>
              <a:rPr lang="en-US" altLang="zh-CN" sz="1800" dirty="0"/>
              <a:t>1</a:t>
            </a:r>
            <a:r>
              <a:rPr lang="zh-CN" altLang="en-US" sz="1800" dirty="0"/>
              <a:t>周         布置题目（课堂</a:t>
            </a:r>
            <a:r>
              <a:rPr lang="en-US" altLang="zh-CN" sz="1800" dirty="0"/>
              <a:t>-</a:t>
            </a:r>
            <a:r>
              <a:rPr lang="en-US" altLang="zh-CN" sz="1800" dirty="0">
                <a:sym typeface="+mn-ea"/>
              </a:rPr>
              <a:t>3</a:t>
            </a:r>
            <a:r>
              <a:rPr lang="zh-CN" altLang="en-US" sz="1800" dirty="0">
                <a:sym typeface="+mn-ea"/>
              </a:rPr>
              <a:t>月</a:t>
            </a:r>
            <a:r>
              <a:rPr lang="en-US" altLang="zh-CN" sz="1800" dirty="0">
                <a:sym typeface="+mn-ea"/>
              </a:rPr>
              <a:t>3</a:t>
            </a:r>
            <a:r>
              <a:rPr lang="zh-CN" altLang="en-US" sz="1800" dirty="0">
                <a:sym typeface="+mn-ea"/>
              </a:rPr>
              <a:t>日周二</a:t>
            </a:r>
            <a:r>
              <a:rPr lang="en-US" altLang="zh-CN" sz="1800" dirty="0">
                <a:sym typeface="+mn-ea"/>
              </a:rPr>
              <a:t>13-14</a:t>
            </a:r>
            <a:r>
              <a:rPr lang="zh-CN" altLang="en-US" sz="1800" dirty="0">
                <a:sym typeface="+mn-ea"/>
              </a:rPr>
              <a:t>节</a:t>
            </a:r>
            <a:r>
              <a:rPr lang="en-US" altLang="zh-CN" sz="1800" dirty="0">
                <a:sym typeface="+mn-ea"/>
              </a:rPr>
              <a:t>S112</a:t>
            </a:r>
            <a:r>
              <a:rPr lang="zh-CN" altLang="en-US" sz="1800" dirty="0"/>
              <a:t>）</a:t>
            </a:r>
            <a:endParaRPr lang="en-US" altLang="zh-CN" sz="1800" dirty="0"/>
          </a:p>
          <a:p>
            <a:pPr>
              <a:lnSpc>
                <a:spcPct val="150000"/>
              </a:lnSpc>
            </a:pPr>
            <a:r>
              <a:rPr lang="zh-CN" altLang="en-US" sz="1800" dirty="0"/>
              <a:t>第</a:t>
            </a:r>
            <a:r>
              <a:rPr lang="en-US" altLang="zh-CN" sz="1800" dirty="0"/>
              <a:t>2</a:t>
            </a:r>
            <a:r>
              <a:rPr lang="zh-CN" altLang="en-US" sz="1800" dirty="0"/>
              <a:t>周         提交分组信息（</a:t>
            </a:r>
            <a:r>
              <a:rPr lang="zh-CN" altLang="en-US" sz="1800" b="1" dirty="0">
                <a:solidFill>
                  <a:srgbClr val="FF0000"/>
                </a:solidFill>
                <a:sym typeface="+mn-ea"/>
                <a:hlinkClick r:id="rId3" action="ppaction://hlinkfile"/>
              </a:rPr>
              <a:t>腾讯文档</a:t>
            </a:r>
            <a:r>
              <a:rPr lang="zh-CN" altLang="en-US" sz="1800" dirty="0"/>
              <a:t>）</a:t>
            </a:r>
            <a:endParaRPr lang="en-US" altLang="zh-CN" sz="1800" dirty="0"/>
          </a:p>
          <a:p>
            <a:pPr>
              <a:lnSpc>
                <a:spcPct val="150000"/>
              </a:lnSpc>
            </a:pPr>
            <a:r>
              <a:rPr lang="zh-CN" altLang="en-US" sz="1800" dirty="0"/>
              <a:t>第</a:t>
            </a:r>
            <a:r>
              <a:rPr lang="en-US" altLang="zh-CN" sz="1800" dirty="0"/>
              <a:t>3</a:t>
            </a:r>
            <a:r>
              <a:rPr lang="zh-CN" altLang="en-US" sz="1800" dirty="0"/>
              <a:t>周         答疑（课堂</a:t>
            </a:r>
            <a:r>
              <a:rPr lang="en-US" altLang="zh-CN" sz="1800" dirty="0"/>
              <a:t>-3</a:t>
            </a:r>
            <a:r>
              <a:rPr lang="zh-CN" altLang="en-US" sz="1800" dirty="0"/>
              <a:t>月</a:t>
            </a:r>
            <a:r>
              <a:rPr lang="en-US" altLang="zh-CN" sz="1800" dirty="0"/>
              <a:t>17</a:t>
            </a:r>
            <a:r>
              <a:rPr lang="zh-CN" altLang="en-US" sz="1800" dirty="0"/>
              <a:t>日周二</a:t>
            </a:r>
            <a:r>
              <a:rPr lang="en-US" altLang="zh-CN" sz="1800" dirty="0"/>
              <a:t>13-14</a:t>
            </a:r>
            <a:r>
              <a:rPr lang="zh-CN" altLang="en-US" sz="1800" dirty="0"/>
              <a:t>节</a:t>
            </a:r>
            <a:r>
              <a:rPr lang="en-US" altLang="zh-CN" sz="1800" dirty="0"/>
              <a:t>S112</a:t>
            </a:r>
            <a:r>
              <a:rPr lang="zh-CN" altLang="en-US" sz="1800" dirty="0"/>
              <a:t>）</a:t>
            </a:r>
            <a:endParaRPr lang="en-US" altLang="zh-CN" sz="1800" dirty="0"/>
          </a:p>
          <a:p>
            <a:pPr>
              <a:lnSpc>
                <a:spcPct val="150000"/>
              </a:lnSpc>
            </a:pPr>
            <a:r>
              <a:rPr lang="zh-CN" altLang="en-US" sz="1800" dirty="0"/>
              <a:t>第</a:t>
            </a:r>
            <a:r>
              <a:rPr lang="en-US" altLang="zh-CN" sz="1800" dirty="0"/>
              <a:t>4</a:t>
            </a:r>
            <a:r>
              <a:rPr lang="zh-CN" altLang="en-US" sz="1800" dirty="0"/>
              <a:t>周         各组提交项目计划（教学云平台）</a:t>
            </a:r>
            <a:endParaRPr lang="en-US" altLang="zh-CN" sz="1800" dirty="0"/>
          </a:p>
          <a:p>
            <a:pPr>
              <a:lnSpc>
                <a:spcPct val="150000"/>
              </a:lnSpc>
            </a:pPr>
            <a:r>
              <a:rPr lang="zh-CN" altLang="en-US" sz="1800" dirty="0"/>
              <a:t>第</a:t>
            </a:r>
            <a:r>
              <a:rPr lang="en-US" altLang="zh-CN" sz="1800" dirty="0"/>
              <a:t>5</a:t>
            </a:r>
            <a:r>
              <a:rPr lang="zh-CN" altLang="en-US" sz="1800" dirty="0"/>
              <a:t>周         各小组讲解设计方案（课堂</a:t>
            </a:r>
            <a:r>
              <a:rPr lang="en-US" altLang="zh-CN" sz="1800" dirty="0"/>
              <a:t>-4</a:t>
            </a:r>
            <a:r>
              <a:rPr lang="zh-CN" altLang="en-US" sz="1800" dirty="0"/>
              <a:t>月</a:t>
            </a:r>
            <a:r>
              <a:rPr lang="en-US" altLang="zh-CN" sz="1800" dirty="0"/>
              <a:t>5</a:t>
            </a:r>
            <a:r>
              <a:rPr lang="zh-CN" altLang="en-US" sz="1800" dirty="0"/>
              <a:t>日周日</a:t>
            </a:r>
            <a:r>
              <a:rPr lang="en-US" altLang="zh-CN" sz="1800" dirty="0"/>
              <a:t>6-10</a:t>
            </a:r>
            <a:r>
              <a:rPr lang="zh-CN" altLang="en-US" sz="1800" dirty="0"/>
              <a:t>节</a:t>
            </a:r>
            <a:r>
              <a:rPr lang="en-US" altLang="zh-CN" sz="1800" dirty="0"/>
              <a:t> S114</a:t>
            </a:r>
            <a:r>
              <a:rPr lang="zh-CN" altLang="en-US" sz="1800" dirty="0"/>
              <a:t>）</a:t>
            </a:r>
            <a:endParaRPr lang="en-US" altLang="zh-CN" sz="1800" dirty="0"/>
          </a:p>
          <a:p>
            <a:pPr>
              <a:lnSpc>
                <a:spcPct val="150000"/>
              </a:lnSpc>
            </a:pPr>
            <a:r>
              <a:rPr lang="zh-CN" altLang="en-US" sz="1800" dirty="0"/>
              <a:t>第</a:t>
            </a:r>
            <a:r>
              <a:rPr lang="en-US" altLang="zh-CN" sz="1800" dirty="0"/>
              <a:t>9</a:t>
            </a:r>
            <a:r>
              <a:rPr lang="zh-CN" altLang="en-US" sz="1800" dirty="0"/>
              <a:t>周         中期检查（课堂</a:t>
            </a:r>
            <a:r>
              <a:rPr lang="en-US" altLang="zh-CN" sz="1800" dirty="0"/>
              <a:t>-5</a:t>
            </a:r>
            <a:r>
              <a:rPr lang="zh-CN" altLang="en-US" sz="1800" dirty="0"/>
              <a:t>月</a:t>
            </a:r>
            <a:r>
              <a:rPr lang="en-US" altLang="zh-CN" sz="1800" dirty="0"/>
              <a:t>3</a:t>
            </a:r>
            <a:r>
              <a:rPr lang="zh-CN" altLang="en-US" sz="1800" dirty="0"/>
              <a:t>日周日</a:t>
            </a:r>
            <a:r>
              <a:rPr lang="en-US" altLang="zh-CN" sz="1800" dirty="0"/>
              <a:t>3-10</a:t>
            </a:r>
            <a:r>
              <a:rPr lang="zh-CN" altLang="en-US" sz="1800" dirty="0"/>
              <a:t>节</a:t>
            </a:r>
            <a:r>
              <a:rPr lang="en-US" altLang="zh-CN" sz="1800" dirty="0"/>
              <a:t>S114</a:t>
            </a:r>
            <a:r>
              <a:rPr lang="zh-CN" altLang="en-US" sz="1800" dirty="0"/>
              <a:t>）</a:t>
            </a:r>
            <a:endParaRPr lang="en-US" altLang="zh-CN" sz="1800" dirty="0"/>
          </a:p>
          <a:p>
            <a:pPr>
              <a:lnSpc>
                <a:spcPct val="150000"/>
              </a:lnSpc>
            </a:pPr>
            <a:r>
              <a:rPr lang="zh-CN" altLang="en-US" sz="1800" dirty="0"/>
              <a:t>第</a:t>
            </a:r>
            <a:r>
              <a:rPr lang="en-US" altLang="zh-CN" sz="1800" dirty="0"/>
              <a:t>11</a:t>
            </a:r>
            <a:r>
              <a:rPr lang="zh-CN" altLang="en-US" sz="1800" dirty="0"/>
              <a:t>周        答疑（课堂</a:t>
            </a:r>
            <a:r>
              <a:rPr lang="en-US" altLang="zh-CN" sz="1800" dirty="0"/>
              <a:t>-5</a:t>
            </a:r>
            <a:r>
              <a:rPr lang="zh-CN" altLang="en-US" sz="1800" dirty="0"/>
              <a:t>月</a:t>
            </a:r>
            <a:r>
              <a:rPr lang="en-US" altLang="zh-CN" sz="1800" dirty="0"/>
              <a:t>12</a:t>
            </a:r>
            <a:r>
              <a:rPr lang="zh-CN" altLang="en-US" sz="1800" dirty="0"/>
              <a:t>日周二</a:t>
            </a:r>
            <a:r>
              <a:rPr lang="en-US" altLang="zh-CN" sz="1800" dirty="0"/>
              <a:t>13-14</a:t>
            </a:r>
            <a:r>
              <a:rPr lang="zh-CN" altLang="en-US" sz="1800" dirty="0"/>
              <a:t>节</a:t>
            </a:r>
            <a:r>
              <a:rPr lang="en-US" altLang="zh-CN" sz="1800" dirty="0"/>
              <a:t>S112</a:t>
            </a:r>
            <a:r>
              <a:rPr lang="zh-CN" altLang="en-US" sz="1800" dirty="0"/>
              <a:t>）</a:t>
            </a:r>
            <a:endParaRPr lang="en-US" altLang="zh-CN" sz="1800" dirty="0"/>
          </a:p>
          <a:p>
            <a:pPr>
              <a:lnSpc>
                <a:spcPct val="150000"/>
              </a:lnSpc>
            </a:pPr>
            <a:r>
              <a:rPr lang="zh-CN" altLang="en-US" sz="1800" dirty="0"/>
              <a:t>第</a:t>
            </a:r>
            <a:r>
              <a:rPr lang="en-US" altLang="zh-CN" sz="1800" dirty="0"/>
              <a:t>14</a:t>
            </a:r>
            <a:r>
              <a:rPr lang="zh-CN" altLang="en-US" sz="1800" dirty="0"/>
              <a:t>周       </a:t>
            </a:r>
            <a:r>
              <a:rPr lang="zh-CN" altLang="en-US" sz="1800" dirty="0">
                <a:sym typeface="+mn-ea"/>
              </a:rPr>
              <a:t>答疑</a:t>
            </a:r>
            <a:r>
              <a:rPr lang="zh-CN" altLang="en-US" sz="1800" dirty="0"/>
              <a:t>（课堂</a:t>
            </a:r>
            <a:r>
              <a:rPr lang="en-US" altLang="zh-CN" sz="1800" dirty="0"/>
              <a:t>-</a:t>
            </a:r>
            <a:r>
              <a:rPr lang="en-US" altLang="zh-CN" sz="1800" dirty="0">
                <a:sym typeface="+mn-ea"/>
              </a:rPr>
              <a:t>6</a:t>
            </a:r>
            <a:r>
              <a:rPr lang="zh-CN" altLang="en-US" sz="1800" dirty="0">
                <a:sym typeface="+mn-ea"/>
              </a:rPr>
              <a:t>月</a:t>
            </a:r>
            <a:r>
              <a:rPr lang="en-US" altLang="zh-CN" sz="1800" dirty="0">
                <a:sym typeface="+mn-ea"/>
              </a:rPr>
              <a:t>2</a:t>
            </a:r>
            <a:r>
              <a:rPr lang="zh-CN" altLang="en-US" sz="1800" dirty="0">
                <a:sym typeface="+mn-ea"/>
              </a:rPr>
              <a:t>日周二</a:t>
            </a:r>
            <a:r>
              <a:rPr lang="en-US" altLang="zh-CN" sz="1800" dirty="0">
                <a:sym typeface="+mn-ea"/>
              </a:rPr>
              <a:t>13-14</a:t>
            </a:r>
            <a:r>
              <a:rPr lang="zh-CN" altLang="en-US" sz="1800" dirty="0">
                <a:sym typeface="+mn-ea"/>
              </a:rPr>
              <a:t>节</a:t>
            </a:r>
            <a:r>
              <a:rPr lang="en-US" altLang="zh-CN" sz="1800" dirty="0">
                <a:sym typeface="+mn-ea"/>
              </a:rPr>
              <a:t>S112</a:t>
            </a:r>
            <a:r>
              <a:rPr lang="zh-CN" altLang="en-US" sz="1800" dirty="0"/>
              <a:t>）</a:t>
            </a:r>
            <a:endParaRPr lang="en-US" altLang="zh-CN" sz="1800" dirty="0"/>
          </a:p>
          <a:p>
            <a:pPr>
              <a:lnSpc>
                <a:spcPct val="150000"/>
              </a:lnSpc>
            </a:pPr>
            <a:r>
              <a:rPr lang="zh-CN" altLang="en-US" sz="1800" dirty="0">
                <a:solidFill>
                  <a:srgbClr val="FF0000"/>
                </a:solidFill>
              </a:rPr>
              <a:t>第</a:t>
            </a:r>
            <a:r>
              <a:rPr lang="en-US" altLang="zh-CN" sz="1800" dirty="0">
                <a:solidFill>
                  <a:srgbClr val="FF0000"/>
                </a:solidFill>
              </a:rPr>
              <a:t>15</a:t>
            </a:r>
            <a:r>
              <a:rPr lang="zh-CN" altLang="en-US" sz="1800" dirty="0">
                <a:solidFill>
                  <a:srgbClr val="FF0000"/>
                </a:solidFill>
              </a:rPr>
              <a:t>周       验收</a:t>
            </a:r>
            <a:r>
              <a:rPr lang="zh-CN" altLang="en-US" sz="1800" dirty="0"/>
              <a:t>（课堂</a:t>
            </a:r>
            <a:r>
              <a:rPr lang="en-US" altLang="zh-CN" sz="1800" dirty="0"/>
              <a:t>-</a:t>
            </a:r>
            <a:r>
              <a:rPr lang="en-US" altLang="zh-CN" sz="1800" dirty="0">
                <a:sym typeface="+mn-ea"/>
              </a:rPr>
              <a:t>6</a:t>
            </a:r>
            <a:r>
              <a:rPr lang="zh-CN" altLang="en-US" sz="1800" dirty="0">
                <a:sym typeface="+mn-ea"/>
              </a:rPr>
              <a:t>月</a:t>
            </a:r>
            <a:r>
              <a:rPr lang="en-US" altLang="zh-CN" sz="1800" dirty="0">
                <a:sym typeface="+mn-ea"/>
              </a:rPr>
              <a:t>14</a:t>
            </a:r>
            <a:r>
              <a:rPr lang="zh-CN" altLang="en-US" sz="1800" dirty="0">
                <a:sym typeface="+mn-ea"/>
              </a:rPr>
              <a:t>日周日</a:t>
            </a:r>
            <a:r>
              <a:rPr lang="en-US" altLang="zh-CN" sz="1800" dirty="0">
                <a:sym typeface="+mn-ea"/>
              </a:rPr>
              <a:t>3-10</a:t>
            </a:r>
            <a:r>
              <a:rPr lang="zh-CN" altLang="en-US" sz="1800" dirty="0">
                <a:sym typeface="+mn-ea"/>
              </a:rPr>
              <a:t>节</a:t>
            </a:r>
            <a:r>
              <a:rPr lang="en-US" altLang="zh-CN" sz="1800" dirty="0">
                <a:sym typeface="+mn-ea"/>
              </a:rPr>
              <a:t>S114</a:t>
            </a:r>
            <a:r>
              <a:rPr lang="zh-CN" altLang="en-US" sz="1800" dirty="0"/>
              <a:t>）</a:t>
            </a:r>
            <a:endParaRPr lang="en-US" altLang="zh-CN" sz="1800" dirty="0">
              <a:solidFill>
                <a:srgbClr val="FF0000"/>
              </a:solidFill>
            </a:endParaRPr>
          </a:p>
          <a:p>
            <a:pPr>
              <a:lnSpc>
                <a:spcPct val="150000"/>
              </a:lnSpc>
            </a:pPr>
            <a:r>
              <a:rPr lang="zh-CN" altLang="en-US" sz="1800" dirty="0">
                <a:solidFill>
                  <a:srgbClr val="FF0000"/>
                </a:solidFill>
              </a:rPr>
              <a:t>第</a:t>
            </a:r>
            <a:r>
              <a:rPr lang="en-US" altLang="zh-CN" sz="1800" dirty="0">
                <a:solidFill>
                  <a:srgbClr val="FF0000"/>
                </a:solidFill>
              </a:rPr>
              <a:t>16</a:t>
            </a:r>
            <a:r>
              <a:rPr lang="zh-CN" altLang="en-US" sz="1800" dirty="0">
                <a:solidFill>
                  <a:srgbClr val="FF0000"/>
                </a:solidFill>
              </a:rPr>
              <a:t>周       补验（云平台提交所有文档，格式参见</a:t>
            </a:r>
            <a:r>
              <a:rPr lang="en-US" altLang="zh-CN" sz="1800" dirty="0">
                <a:solidFill>
                  <a:srgbClr val="FF0000"/>
                </a:solidFill>
              </a:rPr>
              <a:t>PPT</a:t>
            </a:r>
            <a:r>
              <a:rPr lang="zh-CN" altLang="en-US" sz="1800" dirty="0">
                <a:solidFill>
                  <a:srgbClr val="FF0000"/>
                </a:solidFill>
              </a:rPr>
              <a:t>第</a:t>
            </a:r>
            <a:r>
              <a:rPr lang="en-US" altLang="zh-CN" sz="1800" dirty="0">
                <a:solidFill>
                  <a:srgbClr val="FF0000"/>
                </a:solidFill>
              </a:rPr>
              <a:t>8</a:t>
            </a:r>
            <a:r>
              <a:rPr lang="zh-CN" altLang="en-US" sz="1800" dirty="0">
                <a:solidFill>
                  <a:srgbClr val="FF0000"/>
                </a:solidFill>
              </a:rPr>
              <a:t>页，每组只需一份，标明组号）</a:t>
            </a:r>
            <a:r>
              <a:rPr lang="zh-CN" altLang="en-US" sz="1800" dirty="0"/>
              <a:t>（课堂</a:t>
            </a:r>
            <a:r>
              <a:rPr lang="en-US" altLang="zh-CN" sz="1800" dirty="0">
                <a:sym typeface="+mn-ea"/>
              </a:rPr>
              <a:t>-6</a:t>
            </a:r>
            <a:r>
              <a:rPr lang="zh-CN" altLang="en-US" sz="1800" dirty="0">
                <a:sym typeface="+mn-ea"/>
              </a:rPr>
              <a:t>月</a:t>
            </a:r>
            <a:r>
              <a:rPr lang="en-US" altLang="zh-CN" sz="1800" dirty="0">
                <a:sym typeface="+mn-ea"/>
              </a:rPr>
              <a:t>21</a:t>
            </a:r>
            <a:r>
              <a:rPr lang="zh-CN" altLang="en-US" sz="1800" dirty="0">
                <a:sym typeface="+mn-ea"/>
              </a:rPr>
              <a:t>日周日</a:t>
            </a:r>
            <a:r>
              <a:rPr lang="en-US" altLang="zh-CN" sz="1800" dirty="0">
                <a:sym typeface="+mn-ea"/>
              </a:rPr>
              <a:t>6-10</a:t>
            </a:r>
            <a:r>
              <a:rPr lang="zh-CN" altLang="en-US" sz="1800" dirty="0">
                <a:sym typeface="+mn-ea"/>
              </a:rPr>
              <a:t>节</a:t>
            </a:r>
            <a:r>
              <a:rPr lang="en-US" altLang="zh-CN" sz="1800" dirty="0">
                <a:sym typeface="+mn-ea"/>
              </a:rPr>
              <a:t>S114</a:t>
            </a:r>
            <a:r>
              <a:rPr lang="zh-CN" altLang="en-US" sz="1800" dirty="0"/>
              <a:t>）</a:t>
            </a:r>
            <a:endParaRPr lang="en-US" altLang="zh-CN" sz="1800" dirty="0">
              <a:solidFill>
                <a:srgbClr val="FF0000"/>
              </a:solidFill>
            </a:endParaRPr>
          </a:p>
          <a:p>
            <a:pPr>
              <a:lnSpc>
                <a:spcPct val="150000"/>
              </a:lnSpc>
            </a:pPr>
            <a:r>
              <a:rPr lang="zh-CN" altLang="en-US" sz="1800" dirty="0"/>
              <a:t>每周提交周报到教学云平台上（第</a:t>
            </a:r>
            <a:r>
              <a:rPr lang="en-US" altLang="zh-CN" sz="1800" dirty="0"/>
              <a:t>5-14</a:t>
            </a:r>
            <a:r>
              <a:rPr lang="zh-CN" altLang="en-US" sz="1800" dirty="0"/>
              <a:t>周提交，</a:t>
            </a:r>
            <a:r>
              <a:rPr lang="zh-CN" altLang="en-US" sz="1800" dirty="0">
                <a:solidFill>
                  <a:srgbClr val="FF0000"/>
                </a:solidFill>
                <a:sym typeface="+mn-ea"/>
              </a:rPr>
              <a:t>每组一份，标明组号</a:t>
            </a:r>
            <a:r>
              <a:rPr lang="zh-CN" altLang="en-US" sz="1800" dirty="0"/>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xfrm>
            <a:off x="683260" y="332423"/>
            <a:ext cx="7772400" cy="1143000"/>
          </a:xfrm>
        </p:spPr>
        <p:txBody>
          <a:bodyPr vert="horz" wrap="square" lIns="91440" tIns="45720" rIns="91440" bIns="45720" anchor="ctr" anchorCtr="0"/>
          <a:lstStyle/>
          <a:p>
            <a:r>
              <a:rPr lang="zh-CN" altLang="en-US" sz="4000" b="1" dirty="0">
                <a:solidFill>
                  <a:schemeClr val="accent2"/>
                </a:solidFill>
                <a:ea typeface="楷体_GB2312" pitchFamily="49" charset="-122"/>
              </a:rPr>
              <a:t>特别提醒</a:t>
            </a:r>
          </a:p>
        </p:txBody>
      </p:sp>
      <p:sp>
        <p:nvSpPr>
          <p:cNvPr id="23555" name="内容占位符 2"/>
          <p:cNvSpPr>
            <a:spLocks noGrp="1"/>
          </p:cNvSpPr>
          <p:nvPr>
            <p:ph idx="1" hasCustomPrompt="1"/>
          </p:nvPr>
        </p:nvSpPr>
        <p:spPr>
          <a:xfrm>
            <a:off x="611505" y="1207135"/>
            <a:ext cx="7772400" cy="5626100"/>
          </a:xfrm>
        </p:spPr>
        <p:txBody>
          <a:bodyPr vert="horz" wrap="square" lIns="91440" tIns="45720" rIns="91440" bIns="45720" anchor="t" anchorCtr="0"/>
          <a:lstStyle/>
          <a:p>
            <a:pPr>
              <a:lnSpc>
                <a:spcPct val="150000"/>
              </a:lnSpc>
            </a:pPr>
            <a:r>
              <a:rPr lang="zh-CN" altLang="en-US" sz="2000" b="1" dirty="0"/>
              <a:t>请务必于第</a:t>
            </a:r>
            <a:r>
              <a:rPr lang="en-US" altLang="zh-CN" sz="2000" b="1" dirty="0"/>
              <a:t>2</a:t>
            </a:r>
            <a:r>
              <a:rPr lang="zh-CN" altLang="en-US" sz="2000" b="1" dirty="0"/>
              <a:t>周结束前每组由一位同学将本组的成员信息（姓名、学号、联系方式）提交到在线表格，请</a:t>
            </a:r>
            <a:r>
              <a:rPr lang="zh-CN" altLang="en-US" sz="2000" b="1" dirty="0">
                <a:solidFill>
                  <a:srgbClr val="FF0000"/>
                </a:solidFill>
              </a:rPr>
              <a:t>牢记本组组号</a:t>
            </a:r>
            <a:endParaRPr lang="zh-CN" altLang="en-US" sz="2000" b="1" dirty="0"/>
          </a:p>
          <a:p>
            <a:pPr lvl="1">
              <a:lnSpc>
                <a:spcPct val="150000"/>
              </a:lnSpc>
            </a:pPr>
            <a:r>
              <a:rPr lang="zh-CN" altLang="en-US" sz="2000" b="1" dirty="0">
                <a:solidFill>
                  <a:srgbClr val="FF0000"/>
                </a:solidFill>
              </a:rPr>
              <a:t>【腾讯文档】数据结构课程设计分组表</a:t>
            </a:r>
            <a:r>
              <a:rPr lang="en-US" altLang="zh-CN" sz="2000" b="1" dirty="0">
                <a:solidFill>
                  <a:srgbClr val="FF0000"/>
                </a:solidFill>
              </a:rPr>
              <a:t>https://docs.qq.com/sheet/DUWx3bnFMdkNtZ2Ro?tab=000001</a:t>
            </a:r>
            <a:r>
              <a:rPr lang="zh-CN" altLang="en-US" sz="2000" b="1" dirty="0">
                <a:solidFill>
                  <a:srgbClr val="FF0000"/>
                </a:solidFill>
              </a:rPr>
              <a:t>；</a:t>
            </a:r>
            <a:endParaRPr lang="en-US" altLang="zh-CN" sz="2000" b="1" dirty="0">
              <a:solidFill>
                <a:srgbClr val="FF0000"/>
              </a:solidFill>
            </a:endParaRPr>
          </a:p>
          <a:p>
            <a:pPr>
              <a:lnSpc>
                <a:spcPct val="150000"/>
              </a:lnSpc>
            </a:pPr>
            <a:r>
              <a:rPr lang="zh-CN" altLang="en-US" sz="2000" b="1" dirty="0"/>
              <a:t>在课程设计进行过程中，将不定期地抽查各组的进展情况；</a:t>
            </a:r>
            <a:endParaRPr lang="en-US" altLang="zh-CN" sz="2000" b="1" dirty="0"/>
          </a:p>
          <a:p>
            <a:pPr>
              <a:lnSpc>
                <a:spcPct val="150000"/>
              </a:lnSpc>
            </a:pPr>
            <a:r>
              <a:rPr lang="zh-CN" altLang="en-US" sz="2000" b="1" dirty="0">
                <a:solidFill>
                  <a:srgbClr val="FF0000"/>
                </a:solidFill>
              </a:rPr>
              <a:t>第</a:t>
            </a:r>
            <a:r>
              <a:rPr lang="en-US" altLang="zh-CN" sz="2000" b="1" dirty="0">
                <a:solidFill>
                  <a:srgbClr val="FF0000"/>
                </a:solidFill>
              </a:rPr>
              <a:t>5-14</a:t>
            </a:r>
            <a:r>
              <a:rPr lang="zh-CN" altLang="en-US" sz="2000" b="1" dirty="0">
                <a:solidFill>
                  <a:srgbClr val="FF0000"/>
                </a:solidFill>
              </a:rPr>
              <a:t>周每组每周需要提交周报阐述一周的工作进展和下一周的计划安排，每组一份标明组号，注明</a:t>
            </a:r>
            <a:r>
              <a:rPr lang="en-US" altLang="zh-CN" sz="2000" b="1" dirty="0">
                <a:solidFill>
                  <a:srgbClr val="FF0000"/>
                </a:solidFill>
              </a:rPr>
              <a:t>:“</a:t>
            </a:r>
            <a:r>
              <a:rPr lang="zh-CN" altLang="en-US" sz="2000" b="1" dirty="0">
                <a:solidFill>
                  <a:srgbClr val="FF0000"/>
                </a:solidFill>
              </a:rPr>
              <a:t>第</a:t>
            </a:r>
            <a:r>
              <a:rPr lang="en-US" altLang="zh-CN" sz="2000" b="1" dirty="0">
                <a:solidFill>
                  <a:srgbClr val="FF0000"/>
                </a:solidFill>
              </a:rPr>
              <a:t>X</a:t>
            </a:r>
            <a:r>
              <a:rPr lang="zh-CN" altLang="en-US" sz="2000" b="1" dirty="0">
                <a:solidFill>
                  <a:srgbClr val="FF0000"/>
                </a:solidFill>
              </a:rPr>
              <a:t>组第</a:t>
            </a:r>
            <a:r>
              <a:rPr lang="en-US" altLang="zh-CN" sz="2000" b="1" dirty="0">
                <a:solidFill>
                  <a:srgbClr val="FF0000"/>
                </a:solidFill>
              </a:rPr>
              <a:t>Y</a:t>
            </a:r>
            <a:r>
              <a:rPr lang="zh-CN" altLang="en-US" sz="2000" b="1" dirty="0">
                <a:solidFill>
                  <a:srgbClr val="FF0000"/>
                </a:solidFill>
              </a:rPr>
              <a:t>周周报</a:t>
            </a:r>
            <a:r>
              <a:rPr lang="en-US" altLang="zh-CN" sz="2000" b="1" dirty="0">
                <a:solidFill>
                  <a:srgbClr val="FF0000"/>
                </a:solidFill>
              </a:rPr>
              <a:t>”</a:t>
            </a:r>
            <a:r>
              <a:rPr lang="zh-CN" altLang="en-US" sz="2000" b="1" dirty="0">
                <a:solidFill>
                  <a:srgbClr val="FF0000"/>
                </a:solidFill>
              </a:rPr>
              <a:t>，无需重复提交，最迟当周周日</a:t>
            </a:r>
            <a:r>
              <a:rPr lang="zh-CN" altLang="en-US" sz="2000" b="1" dirty="0"/>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b="1" dirty="0">
                <a:solidFill>
                  <a:schemeClr val="accent2"/>
                </a:solidFill>
                <a:ea typeface="楷体_GB2312" pitchFamily="49" charset="-122"/>
              </a:rPr>
              <a:t>成绩比例</a:t>
            </a:r>
          </a:p>
        </p:txBody>
      </p:sp>
      <p:sp>
        <p:nvSpPr>
          <p:cNvPr id="3" name="内容占位符 2"/>
          <p:cNvSpPr>
            <a:spLocks noGrp="1"/>
          </p:cNvSpPr>
          <p:nvPr>
            <p:ph idx="1"/>
          </p:nvPr>
        </p:nvSpPr>
        <p:spPr/>
        <p:txBody>
          <a:bodyPr/>
          <a:lstStyle/>
          <a:p>
            <a:r>
              <a:rPr lang="zh-CN" altLang="en-US" dirty="0"/>
              <a:t>期中</a:t>
            </a:r>
            <a:r>
              <a:rPr lang="en-US" altLang="zh-CN" dirty="0"/>
              <a:t>30%</a:t>
            </a:r>
          </a:p>
          <a:p>
            <a:pPr lvl="1"/>
            <a:r>
              <a:rPr lang="zh-CN" altLang="en-US" dirty="0"/>
              <a:t>包括：智能体（</a:t>
            </a:r>
            <a:r>
              <a:rPr lang="en-US" altLang="zh-CN" dirty="0"/>
              <a:t>10%</a:t>
            </a:r>
            <a:r>
              <a:rPr lang="zh-CN" altLang="en-US" dirty="0"/>
              <a:t>）、方案讲解（</a:t>
            </a:r>
            <a:r>
              <a:rPr lang="en-US" altLang="zh-CN" dirty="0"/>
              <a:t>10%</a:t>
            </a:r>
            <a:r>
              <a:rPr lang="zh-CN" altLang="en-US" dirty="0"/>
              <a:t>）和期中检查（</a:t>
            </a:r>
            <a:r>
              <a:rPr lang="en-US" altLang="zh-CN" dirty="0"/>
              <a:t>10%</a:t>
            </a:r>
            <a:r>
              <a:rPr lang="zh-CN" altLang="en-US" dirty="0"/>
              <a:t>）</a:t>
            </a:r>
            <a:endParaRPr lang="en-US" altLang="zh-CN" dirty="0"/>
          </a:p>
          <a:p>
            <a:r>
              <a:rPr lang="zh-CN" altLang="en-US" dirty="0"/>
              <a:t>期末</a:t>
            </a:r>
            <a:r>
              <a:rPr lang="en-US" altLang="zh-CN" dirty="0"/>
              <a:t>70%</a:t>
            </a:r>
          </a:p>
          <a:p>
            <a:pPr lvl="1"/>
            <a:r>
              <a:rPr lang="zh-CN" altLang="en-US" dirty="0"/>
              <a:t>包括：系统设计开发（系统和验收</a:t>
            </a:r>
            <a:r>
              <a:rPr lang="en-US" altLang="zh-CN" dirty="0"/>
              <a:t>50%</a:t>
            </a:r>
            <a:r>
              <a:rPr lang="zh-CN" altLang="en-US" dirty="0"/>
              <a:t>）、报告</a:t>
            </a:r>
            <a:r>
              <a:rPr lang="en-US" altLang="zh-CN" dirty="0"/>
              <a:t>+</a:t>
            </a:r>
            <a:r>
              <a:rPr lang="zh-CN" altLang="en-US" dirty="0"/>
              <a:t>文档材料（</a:t>
            </a:r>
            <a:r>
              <a:rPr lang="en-US" altLang="zh-CN" dirty="0"/>
              <a:t>20%</a:t>
            </a:r>
            <a:r>
              <a:rPr lang="zh-CN" altLang="en-US" dirty="0"/>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a:lstStyle/>
          <a:p>
            <a:r>
              <a:rPr lang="zh-CN" altLang="en-US"/>
              <a:t>团队协作</a:t>
            </a:r>
          </a:p>
        </p:txBody>
      </p:sp>
      <p:sp>
        <p:nvSpPr>
          <p:cNvPr id="43011" name="内容占位符 2"/>
          <p:cNvSpPr>
            <a:spLocks noGrp="1"/>
          </p:cNvSpPr>
          <p:nvPr>
            <p:ph idx="1"/>
          </p:nvPr>
        </p:nvSpPr>
        <p:spPr/>
        <p:txBody>
          <a:bodyPr/>
          <a:lstStyle/>
          <a:p>
            <a:r>
              <a:rPr lang="zh-CN" altLang="en-US"/>
              <a:t>目标一致</a:t>
            </a:r>
            <a:endParaRPr lang="en-US" altLang="zh-CN"/>
          </a:p>
          <a:p>
            <a:r>
              <a:rPr lang="zh-CN" altLang="en-US"/>
              <a:t>明确协作方式（线上线下）和分工</a:t>
            </a:r>
            <a:endParaRPr lang="en-US" altLang="zh-CN"/>
          </a:p>
          <a:p>
            <a:r>
              <a:rPr lang="zh-CN" altLang="en-US"/>
              <a:t>有明确的进度安排</a:t>
            </a:r>
            <a:endParaRPr lang="en-US" altLang="zh-CN"/>
          </a:p>
          <a:p>
            <a:r>
              <a:rPr lang="zh-CN" altLang="en-US"/>
              <a:t>组长负责督促进度（责任感）</a:t>
            </a:r>
            <a:endParaRPr lang="en-US" altLang="zh-CN"/>
          </a:p>
          <a:p>
            <a:r>
              <a:rPr lang="zh-CN" altLang="en-US"/>
              <a:t>需要权衡好项目的时间和开发目标（经常审视）</a:t>
            </a:r>
            <a:endParaRPr lang="en-US" altLang="zh-CN"/>
          </a:p>
          <a:p>
            <a:r>
              <a:rPr lang="zh-CN" altLang="en-US"/>
              <a:t>每个人不仅完成自己的任务还需要考虑团队的需求（团队利益和个人利益）</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p:txBody>
          <a:bodyPr/>
          <a:lstStyle/>
          <a:p>
            <a:r>
              <a:rPr lang="zh-CN" altLang="en-US" dirty="0"/>
              <a:t>要求</a:t>
            </a:r>
          </a:p>
        </p:txBody>
      </p:sp>
      <p:sp>
        <p:nvSpPr>
          <p:cNvPr id="44035" name="内容占位符 2"/>
          <p:cNvSpPr>
            <a:spLocks noGrp="1"/>
          </p:cNvSpPr>
          <p:nvPr>
            <p:ph idx="1"/>
          </p:nvPr>
        </p:nvSpPr>
        <p:spPr/>
        <p:txBody>
          <a:bodyPr/>
          <a:lstStyle/>
          <a:p>
            <a:r>
              <a:rPr lang="zh-CN" altLang="en-US" sz="2800" dirty="0"/>
              <a:t>分析</a:t>
            </a:r>
            <a:r>
              <a:rPr lang="en-US" altLang="zh-CN" sz="2800" dirty="0"/>
              <a:t>AI</a:t>
            </a:r>
            <a:r>
              <a:rPr lang="zh-CN" altLang="en-US" sz="2800" dirty="0"/>
              <a:t>的设计和开发能力；</a:t>
            </a:r>
            <a:endParaRPr lang="en-US" altLang="zh-CN" sz="2800" dirty="0"/>
          </a:p>
          <a:p>
            <a:r>
              <a:rPr lang="zh-CN" altLang="en-US" sz="2800" dirty="0"/>
              <a:t>你需要具备什么能力才能使用</a:t>
            </a:r>
            <a:r>
              <a:rPr lang="en-US" altLang="zh-CN" sz="2800" dirty="0"/>
              <a:t>AI</a:t>
            </a:r>
            <a:r>
              <a:rPr lang="zh-CN" altLang="en-US" sz="2800" dirty="0"/>
              <a:t>完成系统的开发；</a:t>
            </a:r>
            <a:endParaRPr lang="en-US" altLang="zh-CN" sz="2800" dirty="0"/>
          </a:p>
          <a:p>
            <a:r>
              <a:rPr lang="zh-CN" altLang="en-US" sz="2800" dirty="0"/>
              <a:t>还有哪些工作是</a:t>
            </a:r>
            <a:r>
              <a:rPr lang="en-US" altLang="zh-CN" sz="2800" dirty="0"/>
              <a:t>AI</a:t>
            </a:r>
            <a:r>
              <a:rPr lang="zh-CN" altLang="en-US" sz="2800" dirty="0"/>
              <a:t>完成不了，需要你来完成的；</a:t>
            </a:r>
            <a:endParaRPr lang="en-US" altLang="zh-CN" sz="2800" dirty="0"/>
          </a:p>
          <a:p>
            <a:r>
              <a:rPr lang="zh-CN" altLang="en-US" sz="2800" dirty="0"/>
              <a:t>核心是算法的思想、算法的分析和对比；</a:t>
            </a:r>
            <a:endParaRPr lang="en-US" altLang="zh-CN" sz="2800" dirty="0"/>
          </a:p>
          <a:p>
            <a:r>
              <a:rPr lang="zh-CN" altLang="en-US" sz="2800" dirty="0"/>
              <a:t>系统的在完成基本功能之外的可用性、友好性；</a:t>
            </a:r>
            <a:endParaRPr lang="en-US" altLang="zh-CN" sz="2800" dirty="0"/>
          </a:p>
          <a:p>
            <a:r>
              <a:rPr lang="zh-CN" altLang="en-US" sz="2800" dirty="0"/>
              <a:t>可以参考软件工程的各种规范文档；</a:t>
            </a:r>
            <a:endParaRPr lang="en-US" altLang="zh-CN" sz="2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第五周每组讲解自己的设计方案和使用大模型的心得；</a:t>
            </a:r>
            <a:endParaRPr lang="en-US" altLang="zh-CN" dirty="0"/>
          </a:p>
          <a:p>
            <a:r>
              <a:rPr lang="zh-CN" altLang="en-US" dirty="0"/>
              <a:t>讲解算平时成绩占总成绩的</a:t>
            </a:r>
            <a:r>
              <a:rPr lang="en-US" altLang="zh-CN" dirty="0"/>
              <a:t>5</a:t>
            </a:r>
            <a:r>
              <a:rPr lang="zh-CN" altLang="en-US" dirty="0"/>
              <a:t>分；</a:t>
            </a:r>
            <a:endParaRPr lang="en-US" altLang="zh-CN" dirty="0"/>
          </a:p>
          <a:p>
            <a:r>
              <a:rPr lang="zh-CN" altLang="en-US" dirty="0"/>
              <a:t>讲的差的</a:t>
            </a:r>
            <a:r>
              <a:rPr lang="en-US" altLang="zh-CN" dirty="0"/>
              <a:t>3</a:t>
            </a:r>
            <a:r>
              <a:rPr lang="zh-CN" altLang="en-US" dirty="0"/>
              <a:t>分、中等的</a:t>
            </a:r>
            <a:r>
              <a:rPr lang="en-US" altLang="zh-CN" dirty="0"/>
              <a:t>4</a:t>
            </a:r>
            <a:r>
              <a:rPr lang="zh-CN" altLang="en-US" dirty="0"/>
              <a:t>分，好的</a:t>
            </a:r>
            <a:r>
              <a:rPr lang="en-US" altLang="zh-CN" dirty="0"/>
              <a:t>5</a:t>
            </a:r>
            <a:r>
              <a:rPr lang="zh-CN" altLang="en-US" dirty="0"/>
              <a:t>分；</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默认设计模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591</TotalTime>
  <Words>3889</Words>
  <Application>Microsoft Office PowerPoint</Application>
  <PresentationFormat>全屏显示(4:3)</PresentationFormat>
  <Paragraphs>269</Paragraphs>
  <Slides>38</Slides>
  <Notes>12</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38</vt:i4>
      </vt:variant>
    </vt:vector>
  </HeadingPairs>
  <TitlesOfParts>
    <vt:vector size="49" baseType="lpstr">
      <vt:lpstr>楷体_GB2312</vt:lpstr>
      <vt:lpstr>隶书</vt:lpstr>
      <vt:lpstr>宋体</vt:lpstr>
      <vt:lpstr>Arial</vt:lpstr>
      <vt:lpstr>Calibri</vt:lpstr>
      <vt:lpstr>Garamond</vt:lpstr>
      <vt:lpstr>Symbol</vt:lpstr>
      <vt:lpstr>Times New Roman</vt:lpstr>
      <vt:lpstr>Wingdings</vt:lpstr>
      <vt:lpstr>默认设计模板</vt:lpstr>
      <vt:lpstr>1_默认设计模板</vt:lpstr>
      <vt:lpstr>数据结构课程设计 基于智能体的个性化旅游系统的设计和开发 </vt:lpstr>
      <vt:lpstr>PowerPoint 演示文稿</vt:lpstr>
      <vt:lpstr>PowerPoint 演示文稿</vt:lpstr>
      <vt:lpstr>PowerPoint 演示文稿</vt:lpstr>
      <vt:lpstr>PowerPoint 演示文稿</vt:lpstr>
      <vt:lpstr>PowerPoint 演示文稿</vt:lpstr>
      <vt:lpstr>AI辅助全栈开发路线图</vt:lpstr>
      <vt:lpstr>AI辅助全栈开发路线图</vt:lpstr>
      <vt:lpstr>AI辅助全栈开发路线图</vt:lpstr>
      <vt:lpstr>AI辅助全栈开发路线图</vt:lpstr>
      <vt:lpstr>AI辅助全栈开发路线图</vt:lpstr>
      <vt:lpstr>AI辅助全栈开发路线图</vt:lpstr>
      <vt:lpstr>AI辅助全栈开发路线图</vt:lpstr>
      <vt:lpstr>一、课程设计的目的</vt:lpstr>
      <vt:lpstr>二、开发软件的基本知识</vt:lpstr>
      <vt:lpstr>二、开发软件的基本知识</vt:lpstr>
      <vt:lpstr>二、开发软件的基本知识（续）</vt:lpstr>
      <vt:lpstr>三、安排与要求</vt:lpstr>
      <vt:lpstr>四、应完成的文档资料</vt:lpstr>
      <vt:lpstr>智能体开发</vt:lpstr>
      <vt:lpstr>PowerPoint 演示文稿</vt:lpstr>
      <vt:lpstr> 五、课程设计题目    ——个性化旅游系统的设计与实现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进度要求和安排</vt:lpstr>
      <vt:lpstr>特别提醒</vt:lpstr>
      <vt:lpstr>成绩比例</vt:lpstr>
      <vt:lpstr>团队协作</vt:lpstr>
      <vt:lpstr>要求</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数据结构课程设计</dc:title>
  <dc:creator>zhhy_</dc:creator>
  <cp:lastModifiedBy>Yuchen An</cp:lastModifiedBy>
  <cp:revision>360</cp:revision>
  <cp:lastPrinted>2024-02-27T23:53:00Z</cp:lastPrinted>
  <dcterms:created xsi:type="dcterms:W3CDTF">2024-02-27T23:53:00Z</dcterms:created>
  <dcterms:modified xsi:type="dcterms:W3CDTF">2026-03-09T11:53:23Z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C462F62B40A5F003F3DDDD652D8E15EB_43</vt:lpwstr>
  </property>
  <property fmtid="{D5CDD505-2E9C-101B-9397-08002B2CF9AE}" pid="3" name="KSOProductBuildVer">
    <vt:lpwstr>2052-12.1.0.23542</vt:lpwstr>
  </property>
</Properties>
</file>